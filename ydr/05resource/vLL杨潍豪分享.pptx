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89" r:id="rId4"/>
    <p:sldId id="292" r:id="rId5"/>
    <p:sldId id="290" r:id="rId6"/>
    <p:sldId id="291" r:id="rId7"/>
    <p:sldId id="293" r:id="rId8"/>
    <p:sldId id="294" r:id="rId9"/>
    <p:sldId id="295" r:id="rId10"/>
    <p:sldId id="296" r:id="rId11"/>
    <p:sldId id="297" r:id="rId12"/>
    <p:sldId id="299" r:id="rId13"/>
    <p:sldId id="298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288" r:id="rId45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1" d="100"/>
          <a:sy n="91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</a:rPr>
              <a:t>请在设计</a:t>
            </a:r>
            <a:r>
              <a:rPr lang="en-US" altLang="zh-CN" sz="1400" dirty="0">
                <a:solidFill>
                  <a:schemeClr val="bg2"/>
                </a:solidFill>
              </a:rPr>
              <a:t>/</a:t>
            </a:r>
            <a:r>
              <a:rPr lang="zh-CN" altLang="en-US" sz="1400" dirty="0">
                <a:solidFill>
                  <a:schemeClr val="bg2"/>
                </a:solidFill>
              </a:rPr>
              <a:t>颜色，命令下更改配色方案，默认已经配好橘红跟绿色两种颜色供选择，一建点选即可更换。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592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</a:rPr>
              <a:t>请在设计</a:t>
            </a:r>
            <a:r>
              <a:rPr lang="en-US" altLang="zh-CN" sz="1400" dirty="0">
                <a:solidFill>
                  <a:schemeClr val="bg2"/>
                </a:solidFill>
              </a:rPr>
              <a:t>/</a:t>
            </a:r>
            <a:r>
              <a:rPr lang="zh-CN" altLang="en-US" sz="1400" dirty="0">
                <a:solidFill>
                  <a:schemeClr val="bg2"/>
                </a:solidFill>
              </a:rPr>
              <a:t>颜色，命令下更改配色方案，默认已经配好橘红跟绿色两种颜色供选择，一建点选即可更换。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8C15853-6D4D-4285-9BAE-B3F9C5535A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872916" y="2284100"/>
            <a:ext cx="8446167" cy="207220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Efficient Memory Management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for Large Language Model Serving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with 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PagedAttention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 </a:t>
            </a:r>
          </a:p>
          <a:p>
            <a:pPr algn="ctr"/>
            <a:r>
              <a:rPr lang="en-US" altLang="zh-CN" dirty="0" err="1"/>
              <a:t>Woosuk</a:t>
            </a:r>
            <a:r>
              <a:rPr lang="en-US" altLang="zh-CN" dirty="0"/>
              <a:t> Kwon</a:t>
            </a:r>
            <a:r>
              <a:rPr lang="en-US" altLang="zh-CN" i="1" dirty="0"/>
              <a:t>,</a:t>
            </a:r>
            <a:r>
              <a:rPr lang="en-US" altLang="zh-CN" dirty="0"/>
              <a:t> </a:t>
            </a:r>
            <a:r>
              <a:rPr lang="en-US" altLang="zh-CN" dirty="0" err="1"/>
              <a:t>Zhuohan</a:t>
            </a:r>
            <a:r>
              <a:rPr lang="en-US" altLang="zh-CN" dirty="0"/>
              <a:t> Li</a:t>
            </a:r>
            <a:r>
              <a:rPr lang="en-US" altLang="zh-CN" i="1" dirty="0"/>
              <a:t>,</a:t>
            </a:r>
            <a:r>
              <a:rPr lang="en-US" altLang="zh-CN" dirty="0"/>
              <a:t> </a:t>
            </a:r>
            <a:r>
              <a:rPr lang="en-US" altLang="zh-CN" dirty="0" err="1"/>
              <a:t>Siyuan</a:t>
            </a:r>
            <a:r>
              <a:rPr lang="en-US" altLang="zh-CN" dirty="0"/>
              <a:t> Zhuang, Ying Sheng, </a:t>
            </a:r>
            <a:r>
              <a:rPr lang="en-US" altLang="zh-CN" dirty="0" err="1"/>
              <a:t>Lianmin</a:t>
            </a:r>
            <a:r>
              <a:rPr lang="en-US" altLang="zh-CN" dirty="0"/>
              <a:t> Zheng, Cody Hao Yu, </a:t>
            </a:r>
            <a:endParaRPr lang="en-US" altLang="zh-CN" sz="2400" dirty="0"/>
          </a:p>
          <a:p>
            <a:pPr algn="ctr"/>
            <a:r>
              <a:rPr lang="en-US" altLang="zh-CN" dirty="0"/>
              <a:t>Joseph E. Gonzalez, Hao Zhang, Ion </a:t>
            </a:r>
            <a:r>
              <a:rPr lang="en-US" altLang="zh-CN" dirty="0" err="1"/>
              <a:t>Stoica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90115" y="6004226"/>
            <a:ext cx="7811770" cy="47437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汇报人：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  <a:sym typeface="Century Gothic" panose="020B0502020202020204" pitchFamily="34" charset="0"/>
              </a:rPr>
              <a:t>杨潍豪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2925" y="616585"/>
            <a:ext cx="309435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98358" y="476435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2975" y="1556006"/>
            <a:ext cx="8459428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  <a:sym typeface="Century Gothic" panose="020B0502020202020204" pitchFamily="34" charset="0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  <a:sym typeface="Century Gothic" panose="020B0502020202020204" pitchFamily="34" charset="0"/>
              </a:rPr>
              <a:t>、背景介绍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2</a:t>
            </a:r>
            <a:r>
              <a:rPr lang="zh-CN" altLang="en-US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、动机</a:t>
            </a:r>
            <a:endParaRPr lang="en-US" altLang="zh-CN" sz="2800" dirty="0">
              <a:solidFill>
                <a:prstClr val="black"/>
              </a:solidFill>
              <a:latin typeface="Arial" panose="020B0604020202020204"/>
              <a:ea typeface="宋体" panose="02010600030101010101" pitchFamily="2" charset="-122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3</a:t>
            </a:r>
            <a:r>
              <a:rPr lang="zh-CN" altLang="en-US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、设计与实现</a:t>
            </a:r>
            <a:endParaRPr lang="en-US" altLang="zh-CN" sz="2800" dirty="0">
              <a:solidFill>
                <a:prstClr val="black"/>
              </a:solidFill>
              <a:latin typeface="Arial" panose="020B0604020202020204"/>
              <a:ea typeface="宋体" panose="02010600030101010101" pitchFamily="2" charset="-122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4</a:t>
            </a:r>
            <a:r>
              <a:rPr lang="zh-CN" altLang="en-US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、评估</a:t>
            </a:r>
            <a:endParaRPr lang="en-US" altLang="zh-CN" sz="2800" dirty="0">
              <a:solidFill>
                <a:prstClr val="black"/>
              </a:solidFill>
              <a:latin typeface="Arial" panose="020B0604020202020204"/>
              <a:ea typeface="宋体" panose="02010600030101010101" pitchFamily="2" charset="-122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  <a:sym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5</a:t>
            </a:r>
            <a:r>
              <a:rPr lang="zh-CN" altLang="en-US" sz="280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  <a:sym typeface="Century Gothic" panose="020B0502020202020204" pitchFamily="34" charset="0"/>
              </a:rPr>
              <a:t>、总结与思考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648385" cy="659706"/>
            <a:chOff x="563566" y="288855"/>
            <a:chExt cx="2648385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877437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背景介绍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</a:t>
              </a:r>
              <a:r>
                <a:rPr lang="en-US" altLang="en-US" sz="20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  <a:cs typeface="Nirmala UI" panose="020B0502040204020203" pitchFamily="34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566312" y="1152975"/>
            <a:ext cx="85063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背景：</a:t>
            </a:r>
            <a:r>
              <a:rPr lang="zh-CN" altLang="en-US" sz="2400" dirty="0"/>
              <a:t>当前大模型提供服务的方式，主要是由云厂商进行部署并提供接口，在接收用户请求之后，进行模型推理并返回结果。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问题：</a:t>
            </a:r>
            <a:r>
              <a:rPr lang="zh-CN" altLang="en-US" sz="2400" dirty="0"/>
              <a:t>提供</a:t>
            </a:r>
            <a:r>
              <a:rPr lang="zh-CN" altLang="en-US" sz="2400" dirty="0">
                <a:solidFill>
                  <a:srgbClr val="FF0000"/>
                </a:solidFill>
              </a:rPr>
              <a:t>大模型服务成本太高</a:t>
            </a:r>
            <a:r>
              <a:rPr lang="zh-CN" altLang="en-US" sz="2400" dirty="0"/>
              <a:t>，需要昂贵的硬件支持</a:t>
            </a:r>
            <a:r>
              <a:rPr lang="en-US" altLang="zh-CN" sz="2400" dirty="0"/>
              <a:t>(</a:t>
            </a:r>
            <a:r>
              <a:rPr lang="zh-CN" altLang="en-US" sz="2400" dirty="0"/>
              <a:t>如</a:t>
            </a:r>
            <a:r>
              <a:rPr lang="en-US" altLang="zh-CN" sz="2400" dirty="0"/>
              <a:t>GPU</a:t>
            </a:r>
            <a:r>
              <a:rPr lang="zh-CN" altLang="en-US" sz="2400" dirty="0"/>
              <a:t>等</a:t>
            </a:r>
            <a:r>
              <a:rPr lang="en-US" altLang="zh-CN" sz="2400" dirty="0"/>
              <a:t>)</a:t>
            </a:r>
            <a:r>
              <a:rPr lang="zh-CN" altLang="en-US" sz="2400" dirty="0"/>
              <a:t>。有调查显示</a:t>
            </a:r>
            <a:r>
              <a:rPr lang="en-US" altLang="zh-CN" sz="2400" dirty="0"/>
              <a:t>[1]</a:t>
            </a:r>
            <a:r>
              <a:rPr lang="zh-CN" altLang="en-US" sz="2400" dirty="0"/>
              <a:t>，相比于传统的服务模式，大模型处理用户请求至少会造成</a:t>
            </a:r>
            <a:r>
              <a:rPr lang="en-US" altLang="zh-CN" sz="2400" dirty="0"/>
              <a:t>10x</a:t>
            </a:r>
            <a:r>
              <a:rPr lang="zh-CN" altLang="en-US" sz="2400" dirty="0"/>
              <a:t>以上的成本开销，且随着模型规模扩大而增加。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目标：</a:t>
            </a:r>
            <a:r>
              <a:rPr lang="zh-CN" altLang="en-US" sz="2400" dirty="0"/>
              <a:t>构建</a:t>
            </a:r>
            <a:r>
              <a:rPr lang="zh-CN" altLang="en-US" sz="2400" dirty="0">
                <a:solidFill>
                  <a:srgbClr val="FF0000"/>
                </a:solidFill>
              </a:rPr>
              <a:t>高吞吐，低成本</a:t>
            </a:r>
            <a:r>
              <a:rPr lang="zh-CN" altLang="en-US" sz="2400" dirty="0"/>
              <a:t>的高效大模型服务系统。</a:t>
            </a:r>
            <a:endParaRPr lang="en-US" altLang="zh-CN" sz="2400" dirty="0"/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8" name="矩形 7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6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8" name="直接连接符 27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箭头: 下 28"/>
          <p:cNvSpPr/>
          <p:nvPr/>
        </p:nvSpPr>
        <p:spPr>
          <a:xfrm>
            <a:off x="4386549" y="4570426"/>
            <a:ext cx="457200" cy="5331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下 29"/>
          <p:cNvSpPr/>
          <p:nvPr/>
        </p:nvSpPr>
        <p:spPr>
          <a:xfrm>
            <a:off x="5638800" y="4570426"/>
            <a:ext cx="457200" cy="5331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827281" y="5148023"/>
            <a:ext cx="1575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单位时间响应更多用户请求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403017" y="5150285"/>
            <a:ext cx="1194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存储开销尽可能小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231952" y="6165630"/>
            <a:ext cx="8944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[1]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LinBiolinumT"/>
              </a:rPr>
              <a:t>https://www.reuters.com/technology/tech-giants-ai</a:t>
            </a:r>
            <a:r>
              <a:rPr lang="en-US" altLang="zh-CN" sz="1400" dirty="0"/>
              <a:t>-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LinBiolinumT"/>
              </a:rPr>
              <a:t>like-bing-bard-poses-billion-dollar-search-problem-2023-02-22/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648385" cy="659706"/>
            <a:chOff x="563566" y="288855"/>
            <a:chExt cx="2648385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877437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存储挑战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765" y="1476692"/>
            <a:ext cx="3251284" cy="3017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38264" y="4536380"/>
            <a:ext cx="339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13B</a:t>
            </a:r>
            <a:r>
              <a:rPr lang="zh-CN" altLang="en-US" dirty="0"/>
              <a:t>大小模型部署在</a:t>
            </a:r>
            <a:r>
              <a:rPr lang="en-US" altLang="zh-CN" dirty="0"/>
              <a:t>A100</a:t>
            </a:r>
            <a:r>
              <a:rPr lang="zh-CN" altLang="en-US" dirty="0"/>
              <a:t>上，且只有一个用户请求时的存储占用情况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39659" y="1852930"/>
            <a:ext cx="5211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模型参数存储占用                 </a:t>
            </a:r>
            <a:r>
              <a:rPr lang="zh-CN" altLang="en-US" sz="2400" dirty="0">
                <a:solidFill>
                  <a:srgbClr val="FF0000"/>
                </a:solidFill>
              </a:rPr>
              <a:t>静态问题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72620" y="2906072"/>
            <a:ext cx="5145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KVCache</a:t>
            </a:r>
            <a:r>
              <a:rPr lang="zh-CN" altLang="en-US" sz="2400" dirty="0"/>
              <a:t>存储占用                   </a:t>
            </a:r>
            <a:r>
              <a:rPr lang="zh-CN" altLang="en-US" sz="2400" dirty="0">
                <a:solidFill>
                  <a:srgbClr val="FF0000"/>
                </a:solidFill>
              </a:rPr>
              <a:t>动态问题</a:t>
            </a:r>
          </a:p>
        </p:txBody>
      </p:sp>
      <p:sp>
        <p:nvSpPr>
          <p:cNvPr id="10" name="箭头: 右 9"/>
          <p:cNvSpPr/>
          <p:nvPr/>
        </p:nvSpPr>
        <p:spPr>
          <a:xfrm>
            <a:off x="9137984" y="1797065"/>
            <a:ext cx="692567" cy="5733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/>
          <p:cNvSpPr/>
          <p:nvPr/>
        </p:nvSpPr>
        <p:spPr>
          <a:xfrm>
            <a:off x="9137983" y="2850209"/>
            <a:ext cx="692567" cy="5733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06900" y="4444046"/>
            <a:ext cx="4444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、用户请求长度具有不确定性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、用户请求内容具有不确定性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、用户请求时间具有不确定性</a:t>
            </a:r>
            <a:endParaRPr lang="en-US" altLang="zh-CN" sz="2400" dirty="0"/>
          </a:p>
        </p:txBody>
      </p:sp>
      <p:cxnSp>
        <p:nvCxnSpPr>
          <p:cNvPr id="23" name="连接符: 肘形 22"/>
          <p:cNvCxnSpPr>
            <a:stCxn id="9" idx="3"/>
            <a:endCxn id="20" idx="0"/>
          </p:cNvCxnSpPr>
          <p:nvPr/>
        </p:nvCxnSpPr>
        <p:spPr>
          <a:xfrm flipH="1">
            <a:off x="9328995" y="3136905"/>
            <a:ext cx="2189132" cy="1307141"/>
          </a:xfrm>
          <a:prstGeom prst="bentConnector4">
            <a:avLst>
              <a:gd name="adj1" fmla="val -10442"/>
              <a:gd name="adj2" fmla="val 5883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539307" y="3632809"/>
            <a:ext cx="812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紧密相关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6" name="矩形 35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4" name="Picture 2" descr="ACM SIGOP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6" name="直接连接符 45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4211053" y="1566197"/>
            <a:ext cx="1521996" cy="20666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648385" cy="659706"/>
            <a:chOff x="563566" y="288855"/>
            <a:chExt cx="2648385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877437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模型结构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</a:t>
              </a:r>
              <a:r>
                <a:rPr lang="en-US" altLang="en-US" sz="20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  <a:cs typeface="Nirmala UI" panose="020B0502040204020203" pitchFamily="34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54799" y="5917830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5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7" name="直接连接符 26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909501" y="1177818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Attention</a:t>
            </a:r>
            <a:endParaRPr lang="zh-CN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6180318" y="1177818"/>
            <a:ext cx="1203158" cy="1414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FFN</a:t>
            </a:r>
            <a:endParaRPr lang="zh-CN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3579393" y="952870"/>
            <a:ext cx="4120815" cy="19407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/>
          <p:cNvSpPr/>
          <p:nvPr/>
        </p:nvSpPr>
        <p:spPr>
          <a:xfrm>
            <a:off x="3102595" y="1651334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2312137" y="1679063"/>
            <a:ext cx="80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</a:t>
            </a:r>
          </a:p>
        </p:txBody>
      </p:sp>
      <p:sp>
        <p:nvSpPr>
          <p:cNvPr id="35" name="箭头: 右 34"/>
          <p:cNvSpPr/>
          <p:nvPr/>
        </p:nvSpPr>
        <p:spPr>
          <a:xfrm>
            <a:off x="5385678" y="1673577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/>
          <p:cNvSpPr/>
          <p:nvPr/>
        </p:nvSpPr>
        <p:spPr>
          <a:xfrm>
            <a:off x="7456221" y="1651334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250861" y="1634592"/>
            <a:ext cx="80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772953" y="722037"/>
            <a:ext cx="2670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Transformer Block</a:t>
            </a: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3741819" y="1082842"/>
            <a:ext cx="1702468" cy="16362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左大括号 39"/>
          <p:cNvSpPr/>
          <p:nvPr/>
        </p:nvSpPr>
        <p:spPr>
          <a:xfrm rot="5400000">
            <a:off x="4635689" y="1231537"/>
            <a:ext cx="615555" cy="3624907"/>
          </a:xfrm>
          <a:prstGeom prst="leftBrac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882362" y="3456921"/>
            <a:ext cx="1040732" cy="10242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/>
              <a:t>Wq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4419638" y="3456921"/>
            <a:ext cx="1040732" cy="10242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/>
              <a:t>Wk</a:t>
            </a: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5960647" y="3444112"/>
            <a:ext cx="1040732" cy="10242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Wv</a:t>
            </a:r>
            <a:endParaRPr lang="zh-CN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2882362" y="5024755"/>
            <a:ext cx="1040732" cy="30836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923" y="3999471"/>
            <a:ext cx="4471992" cy="707886"/>
          </a:xfrm>
          <a:prstGeom prst="rect">
            <a:avLst/>
          </a:prstGeom>
        </p:spPr>
      </p:pic>
      <p:sp>
        <p:nvSpPr>
          <p:cNvPr id="47" name="流程图: 汇总连接 46"/>
          <p:cNvSpPr/>
          <p:nvPr/>
        </p:nvSpPr>
        <p:spPr>
          <a:xfrm>
            <a:off x="3219766" y="4583609"/>
            <a:ext cx="322220" cy="338692"/>
          </a:xfrm>
          <a:prstGeom prst="flowChartSummingJunc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430433" y="5026756"/>
            <a:ext cx="1040732" cy="3083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流程图: 汇总连接 49"/>
          <p:cNvSpPr/>
          <p:nvPr/>
        </p:nvSpPr>
        <p:spPr>
          <a:xfrm>
            <a:off x="4767837" y="4585610"/>
            <a:ext cx="322220" cy="338692"/>
          </a:xfrm>
          <a:prstGeom prst="flowChartSummingJunc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5984514" y="5028763"/>
            <a:ext cx="1040732" cy="3083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流程图: 汇总连接 51"/>
          <p:cNvSpPr/>
          <p:nvPr/>
        </p:nvSpPr>
        <p:spPr>
          <a:xfrm>
            <a:off x="6321918" y="4587617"/>
            <a:ext cx="322220" cy="338692"/>
          </a:xfrm>
          <a:prstGeom prst="flowChartSummingJunc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2727168" y="4958103"/>
            <a:ext cx="4403558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2149605" y="4773436"/>
            <a:ext cx="659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</a:t>
            </a:r>
          </a:p>
        </p:txBody>
      </p:sp>
      <p:sp>
        <p:nvSpPr>
          <p:cNvPr id="55" name="箭头: 下 54"/>
          <p:cNvSpPr/>
          <p:nvPr/>
        </p:nvSpPr>
        <p:spPr>
          <a:xfrm>
            <a:off x="3209551" y="5477309"/>
            <a:ext cx="371663" cy="4616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下 55"/>
          <p:cNvSpPr/>
          <p:nvPr/>
        </p:nvSpPr>
        <p:spPr>
          <a:xfrm>
            <a:off x="4788075" y="5498545"/>
            <a:ext cx="371663" cy="4616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下 56"/>
          <p:cNvSpPr/>
          <p:nvPr/>
        </p:nvSpPr>
        <p:spPr>
          <a:xfrm>
            <a:off x="6321918" y="5498545"/>
            <a:ext cx="371663" cy="4616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2882362" y="6032002"/>
            <a:ext cx="1040732" cy="3083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47219" y="6031231"/>
            <a:ext cx="1040732" cy="3083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024904" y="6033715"/>
            <a:ext cx="1040732" cy="3083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2" name="弧形 61"/>
          <p:cNvSpPr/>
          <p:nvPr/>
        </p:nvSpPr>
        <p:spPr>
          <a:xfrm rot="9331257">
            <a:off x="3366216" y="5226458"/>
            <a:ext cx="2359869" cy="1196394"/>
          </a:xfrm>
          <a:prstGeom prst="arc">
            <a:avLst>
              <a:gd name="adj1" fmla="val 15887099"/>
              <a:gd name="adj2" fmla="val 21459019"/>
            </a:avLst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弧形 62"/>
          <p:cNvSpPr/>
          <p:nvPr/>
        </p:nvSpPr>
        <p:spPr>
          <a:xfrm rot="10367129">
            <a:off x="3532581" y="5547863"/>
            <a:ext cx="3801979" cy="1033345"/>
          </a:xfrm>
          <a:prstGeom prst="arc">
            <a:avLst>
              <a:gd name="adj1" fmla="val 12106788"/>
              <a:gd name="adj2" fmla="val 20753071"/>
            </a:avLst>
          </a:prstGeom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5046477" cy="659706"/>
            <a:chOff x="563566" y="288855"/>
            <a:chExt cx="5046477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4275529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模型推理模式</a:t>
              </a:r>
              <a:r>
                <a:rPr kumimoji="0" lang="en-US" altLang="zh-CN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(</a:t>
              </a: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自回归</a:t>
              </a:r>
              <a:r>
                <a:rPr kumimoji="0" lang="en-US" altLang="zh-CN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)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</a:t>
              </a:r>
              <a:r>
                <a:rPr lang="en-US" altLang="en-US" sz="20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  <a:cs typeface="Nirmala UI" panose="020B0502040204020203" pitchFamily="34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4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08571" y="1486695"/>
            <a:ext cx="79596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Token</a:t>
            </a:r>
            <a:r>
              <a:rPr lang="zh-CN" altLang="en-US" sz="2400" dirty="0"/>
              <a:t>：词元</a:t>
            </a:r>
            <a:r>
              <a:rPr lang="en-US" altLang="zh-CN" sz="2400" dirty="0"/>
              <a:t>(</a:t>
            </a:r>
            <a:r>
              <a:rPr lang="zh-CN" altLang="en-US" sz="2400" dirty="0"/>
              <a:t>单词，字，符号等</a:t>
            </a:r>
            <a:r>
              <a:rPr lang="en-US" altLang="zh-CN" sz="2400" dirty="0"/>
              <a:t>)</a:t>
            </a:r>
            <a:r>
              <a:rPr lang="zh-CN" altLang="en-US" sz="2400" dirty="0"/>
              <a:t>，表示为一个向量。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用户请求：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r>
              <a:rPr lang="en-US" altLang="zh-CN" sz="2400" dirty="0"/>
              <a:t>(</a:t>
            </a:r>
            <a:r>
              <a:rPr lang="zh-CN" altLang="en-US" sz="2400" dirty="0"/>
              <a:t>数据矩阵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b="1" dirty="0"/>
          </a:p>
          <a:p>
            <a:r>
              <a:rPr lang="zh-CN" altLang="en-US" sz="2400" b="1" dirty="0"/>
              <a:t>推理原理</a:t>
            </a:r>
            <a:r>
              <a:rPr lang="zh-CN" altLang="en-US" sz="2400" dirty="0"/>
              <a:t>：对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r>
              <a:rPr lang="en-US" altLang="zh-CN" sz="2400" dirty="0"/>
              <a:t>(x1, x2, …… </a:t>
            </a:r>
            <a:r>
              <a:rPr lang="en-US" altLang="zh-CN" sz="2400" dirty="0" err="1"/>
              <a:t>xn</a:t>
            </a:r>
            <a:r>
              <a:rPr lang="en-US" altLang="zh-CN" sz="2400" dirty="0"/>
              <a:t>)</a:t>
            </a:r>
            <a:r>
              <a:rPr lang="zh-CN" altLang="en-US" sz="2400" dirty="0"/>
              <a:t>进行概率建模，并预测出下一个位置出现概率最大的</a:t>
            </a:r>
            <a:r>
              <a:rPr lang="en-US" altLang="zh-CN" sz="2400" dirty="0"/>
              <a:t>token</a:t>
            </a:r>
            <a:r>
              <a:rPr lang="zh-CN" altLang="en-US" sz="2400" dirty="0"/>
              <a:t>。（对</a:t>
            </a:r>
            <a:r>
              <a:rPr lang="en-US" altLang="zh-CN" sz="2400" dirty="0"/>
              <a:t>token</a:t>
            </a:r>
            <a:r>
              <a:rPr lang="zh-CN" altLang="en-US" sz="2400" dirty="0"/>
              <a:t>采样）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推理阶段划分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         </a:t>
            </a:r>
            <a:r>
              <a:rPr lang="zh-CN" altLang="en-US" sz="2400" dirty="0"/>
              <a:t>根据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序列中</a:t>
            </a:r>
            <a:r>
              <a:rPr lang="en-US" altLang="zh-CN" sz="2400" dirty="0"/>
              <a:t>token</a:t>
            </a:r>
            <a:r>
              <a:rPr lang="zh-CN" altLang="en-US" sz="2400" dirty="0"/>
              <a:t>的来源，可以将整个推理阶段分为两个阶段：提示词阶段和生成阶段。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453" y="3869980"/>
            <a:ext cx="2824535" cy="43528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648385" cy="659706"/>
            <a:chOff x="563566" y="288855"/>
            <a:chExt cx="2648385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877437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推理阶段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5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677554" y="1464917"/>
            <a:ext cx="795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推理阶段一</a:t>
            </a:r>
            <a:r>
              <a:rPr lang="zh-CN" altLang="en-US" sz="2400" dirty="0"/>
              <a:t>：提示词阶段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580514" y="2721506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15" name="箭头: 右 14"/>
          <p:cNvSpPr/>
          <p:nvPr/>
        </p:nvSpPr>
        <p:spPr>
          <a:xfrm>
            <a:off x="5669870" y="3201030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8129590" y="3185761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293784" y="2949241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34" name="矩形 33"/>
          <p:cNvSpPr/>
          <p:nvPr/>
        </p:nvSpPr>
        <p:spPr>
          <a:xfrm>
            <a:off x="4293784" y="3290271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5" name="矩形 34"/>
          <p:cNvSpPr/>
          <p:nvPr/>
        </p:nvSpPr>
        <p:spPr>
          <a:xfrm>
            <a:off x="4297113" y="363931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302488" y="3169611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37" name="矩形 36"/>
          <p:cNvSpPr/>
          <p:nvPr/>
        </p:nvSpPr>
        <p:spPr>
          <a:xfrm>
            <a:off x="9074806" y="3256797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116178" y="4635711"/>
            <a:ext cx="7224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提示词阶段：接收用户请求之后，将</a:t>
            </a:r>
            <a:r>
              <a:rPr lang="en-US" altLang="zh-CN" sz="2400" dirty="0">
                <a:solidFill>
                  <a:srgbClr val="FF0000"/>
                </a:solidFill>
              </a:rPr>
              <a:t>token</a:t>
            </a:r>
            <a:r>
              <a:rPr lang="zh-CN" altLang="en-US" sz="2400" dirty="0">
                <a:solidFill>
                  <a:srgbClr val="FF0000"/>
                </a:solidFill>
              </a:rPr>
              <a:t>序列整体输入模型</a:t>
            </a:r>
            <a:r>
              <a:rPr lang="zh-CN" altLang="en-US" sz="2400" dirty="0"/>
              <a:t>，计算得到第一个生成的</a:t>
            </a:r>
            <a:r>
              <a:rPr lang="en-US" altLang="zh-CN" sz="2400" dirty="0"/>
              <a:t>token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648385" cy="659706"/>
            <a:chOff x="563566" y="288855"/>
            <a:chExt cx="2648385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877437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推理阶段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6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60445" y="926706"/>
            <a:ext cx="795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推理阶段二</a:t>
            </a:r>
            <a:r>
              <a:rPr lang="zh-CN" altLang="en-US" sz="2400" dirty="0"/>
              <a:t>：生成阶段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89768" y="5473672"/>
            <a:ext cx="8130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生成阶段：将</a:t>
            </a:r>
            <a:r>
              <a:rPr lang="zh-CN" altLang="en-US" sz="2400" dirty="0">
                <a:solidFill>
                  <a:srgbClr val="FF0000"/>
                </a:solidFill>
              </a:rPr>
              <a:t>用户请求</a:t>
            </a:r>
            <a:r>
              <a:rPr lang="zh-CN" altLang="en-US" sz="2400" dirty="0"/>
              <a:t>和之前所有轮</a:t>
            </a:r>
            <a:r>
              <a:rPr lang="zh-CN" altLang="en-US" sz="2400" dirty="0">
                <a:solidFill>
                  <a:srgbClr val="FF0000"/>
                </a:solidFill>
              </a:rPr>
              <a:t>生成的</a:t>
            </a:r>
            <a:r>
              <a:rPr lang="en-US" altLang="zh-CN" sz="2400" dirty="0">
                <a:solidFill>
                  <a:srgbClr val="FF0000"/>
                </a:solidFill>
              </a:rPr>
              <a:t>token</a:t>
            </a:r>
            <a:r>
              <a:rPr lang="zh-CN" altLang="en-US" sz="2400" dirty="0">
                <a:solidFill>
                  <a:srgbClr val="FF0000"/>
                </a:solidFill>
              </a:rPr>
              <a:t>输入模型</a:t>
            </a:r>
            <a:r>
              <a:rPr lang="zh-CN" altLang="en-US" sz="2400" dirty="0"/>
              <a:t>，计算得到下一个生成的</a:t>
            </a:r>
            <a:r>
              <a:rPr lang="en-US" altLang="zh-CN" sz="2400" dirty="0"/>
              <a:t>token</a:t>
            </a:r>
            <a:r>
              <a:rPr lang="zh-CN" altLang="en-US" sz="2400" dirty="0"/>
              <a:t>，循环直到生成终止符结束。</a:t>
            </a:r>
          </a:p>
        </p:txBody>
      </p:sp>
      <p:sp>
        <p:nvSpPr>
          <p:cNvPr id="7" name="矩形 6"/>
          <p:cNvSpPr/>
          <p:nvPr/>
        </p:nvSpPr>
        <p:spPr>
          <a:xfrm>
            <a:off x="6490276" y="1440137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13" name="箭头: 右 12"/>
          <p:cNvSpPr/>
          <p:nvPr/>
        </p:nvSpPr>
        <p:spPr>
          <a:xfrm>
            <a:off x="5579632" y="1919661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/>
          <p:cNvSpPr/>
          <p:nvPr/>
        </p:nvSpPr>
        <p:spPr>
          <a:xfrm>
            <a:off x="8039352" y="1904392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263706" y="1469348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6" name="矩形 15"/>
          <p:cNvSpPr/>
          <p:nvPr/>
        </p:nvSpPr>
        <p:spPr>
          <a:xfrm>
            <a:off x="4263706" y="1810378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8" name="矩形 17"/>
          <p:cNvSpPr/>
          <p:nvPr/>
        </p:nvSpPr>
        <p:spPr>
          <a:xfrm>
            <a:off x="4267035" y="215942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908605" y="1691461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24" name="矩形 23"/>
          <p:cNvSpPr/>
          <p:nvPr/>
        </p:nvSpPr>
        <p:spPr>
          <a:xfrm>
            <a:off x="4263706" y="2495812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495328" y="2495812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第一个生成词</a:t>
            </a:r>
          </a:p>
        </p:txBody>
      </p:sp>
      <p:sp>
        <p:nvSpPr>
          <p:cNvPr id="33" name="矩形 32"/>
          <p:cNvSpPr/>
          <p:nvPr/>
        </p:nvSpPr>
        <p:spPr>
          <a:xfrm>
            <a:off x="8950004" y="1975428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34" name="矩形 33"/>
          <p:cNvSpPr/>
          <p:nvPr/>
        </p:nvSpPr>
        <p:spPr>
          <a:xfrm>
            <a:off x="6498295" y="3403301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35" name="箭头: 右 34"/>
          <p:cNvSpPr/>
          <p:nvPr/>
        </p:nvSpPr>
        <p:spPr>
          <a:xfrm>
            <a:off x="5587651" y="3882825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/>
          <p:cNvSpPr/>
          <p:nvPr/>
        </p:nvSpPr>
        <p:spPr>
          <a:xfrm>
            <a:off x="8047371" y="3867556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271725" y="3270087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38" name="矩形 37"/>
          <p:cNvSpPr/>
          <p:nvPr/>
        </p:nvSpPr>
        <p:spPr>
          <a:xfrm>
            <a:off x="4271725" y="3611117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9" name="矩形 38"/>
          <p:cNvSpPr/>
          <p:nvPr/>
        </p:nvSpPr>
        <p:spPr>
          <a:xfrm>
            <a:off x="4275054" y="3960159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916624" y="3492200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41" name="矩形 40"/>
          <p:cNvSpPr/>
          <p:nvPr/>
        </p:nvSpPr>
        <p:spPr>
          <a:xfrm>
            <a:off x="4271725" y="4296551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2503347" y="4296551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第一个生成词</a:t>
            </a:r>
          </a:p>
        </p:txBody>
      </p:sp>
      <p:sp>
        <p:nvSpPr>
          <p:cNvPr id="43" name="矩形 42"/>
          <p:cNvSpPr/>
          <p:nvPr/>
        </p:nvSpPr>
        <p:spPr>
          <a:xfrm>
            <a:off x="8958023" y="3938592"/>
            <a:ext cx="1124440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终止符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271725" y="4632943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503347" y="4612903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第二个生成词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648385" cy="659706"/>
            <a:chOff x="563566" y="288855"/>
            <a:chExt cx="2648385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877437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重复计算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7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42397" y="751716"/>
            <a:ext cx="7959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每一轮计算执行时，都会重复计算上一轮部分已经计算过的结果，极大降低了计算效率。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767002" y="3154644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13" name="箭头: 右 12"/>
          <p:cNvSpPr/>
          <p:nvPr/>
        </p:nvSpPr>
        <p:spPr>
          <a:xfrm>
            <a:off x="5856358" y="3634168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/>
          <p:cNvSpPr/>
          <p:nvPr/>
        </p:nvSpPr>
        <p:spPr>
          <a:xfrm>
            <a:off x="8316078" y="3618899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540432" y="3183855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6" name="矩形 15"/>
          <p:cNvSpPr/>
          <p:nvPr/>
        </p:nvSpPr>
        <p:spPr>
          <a:xfrm>
            <a:off x="4540432" y="3524885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8" name="矩形 17"/>
          <p:cNvSpPr/>
          <p:nvPr/>
        </p:nvSpPr>
        <p:spPr>
          <a:xfrm>
            <a:off x="4543761" y="3873927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85331" y="3405968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24" name="矩形 23"/>
          <p:cNvSpPr/>
          <p:nvPr/>
        </p:nvSpPr>
        <p:spPr>
          <a:xfrm>
            <a:off x="4540432" y="4210319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772054" y="4210319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第一个生成词</a:t>
            </a:r>
          </a:p>
        </p:txBody>
      </p:sp>
      <p:sp>
        <p:nvSpPr>
          <p:cNvPr id="33" name="矩形 32"/>
          <p:cNvSpPr/>
          <p:nvPr/>
        </p:nvSpPr>
        <p:spPr>
          <a:xfrm>
            <a:off x="9226730" y="3689935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34" name="矩形 33"/>
          <p:cNvSpPr/>
          <p:nvPr/>
        </p:nvSpPr>
        <p:spPr>
          <a:xfrm>
            <a:off x="6775021" y="5117808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35" name="箭头: 右 34"/>
          <p:cNvSpPr/>
          <p:nvPr/>
        </p:nvSpPr>
        <p:spPr>
          <a:xfrm>
            <a:off x="5864377" y="5597332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/>
          <p:cNvSpPr/>
          <p:nvPr/>
        </p:nvSpPr>
        <p:spPr>
          <a:xfrm>
            <a:off x="8324097" y="5582063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548451" y="498459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38" name="矩形 37"/>
          <p:cNvSpPr/>
          <p:nvPr/>
        </p:nvSpPr>
        <p:spPr>
          <a:xfrm>
            <a:off x="4548451" y="532562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9" name="矩形 38"/>
          <p:cNvSpPr/>
          <p:nvPr/>
        </p:nvSpPr>
        <p:spPr>
          <a:xfrm>
            <a:off x="4551780" y="5674666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193350" y="5206707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41" name="矩形 40"/>
          <p:cNvSpPr/>
          <p:nvPr/>
        </p:nvSpPr>
        <p:spPr>
          <a:xfrm>
            <a:off x="4548451" y="6011058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2780073" y="6011058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第一个生成词</a:t>
            </a:r>
          </a:p>
        </p:txBody>
      </p:sp>
      <p:sp>
        <p:nvSpPr>
          <p:cNvPr id="43" name="矩形 42"/>
          <p:cNvSpPr/>
          <p:nvPr/>
        </p:nvSpPr>
        <p:spPr>
          <a:xfrm>
            <a:off x="9234749" y="5653099"/>
            <a:ext cx="1124440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终止符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48451" y="6347450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780073" y="6327410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第二个生成词</a:t>
            </a:r>
          </a:p>
        </p:txBody>
      </p:sp>
      <p:sp>
        <p:nvSpPr>
          <p:cNvPr id="46" name="矩形 45"/>
          <p:cNvSpPr/>
          <p:nvPr/>
        </p:nvSpPr>
        <p:spPr>
          <a:xfrm>
            <a:off x="6760990" y="1596551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47" name="箭头: 右 46"/>
          <p:cNvSpPr/>
          <p:nvPr/>
        </p:nvSpPr>
        <p:spPr>
          <a:xfrm>
            <a:off x="5850346" y="2076075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右 47"/>
          <p:cNvSpPr/>
          <p:nvPr/>
        </p:nvSpPr>
        <p:spPr>
          <a:xfrm>
            <a:off x="8310066" y="2060806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528404" y="1824286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50" name="矩形 49"/>
          <p:cNvSpPr/>
          <p:nvPr/>
        </p:nvSpPr>
        <p:spPr>
          <a:xfrm>
            <a:off x="4528404" y="2165316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51" name="矩形 50"/>
          <p:cNvSpPr/>
          <p:nvPr/>
        </p:nvSpPr>
        <p:spPr>
          <a:xfrm>
            <a:off x="4531733" y="2514358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3185330" y="2023605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53" name="矩形 52"/>
          <p:cNvSpPr/>
          <p:nvPr/>
        </p:nvSpPr>
        <p:spPr>
          <a:xfrm>
            <a:off x="9255282" y="2131842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54" name="矩形: 圆角 53"/>
          <p:cNvSpPr/>
          <p:nvPr/>
        </p:nvSpPr>
        <p:spPr>
          <a:xfrm>
            <a:off x="4434788" y="1747421"/>
            <a:ext cx="1252023" cy="12115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4434788" y="3093581"/>
            <a:ext cx="1252023" cy="12115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/>
          <p:cNvSpPr/>
          <p:nvPr/>
        </p:nvSpPr>
        <p:spPr>
          <a:xfrm>
            <a:off x="4246031" y="3045806"/>
            <a:ext cx="1604315" cy="1619092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/>
          <p:cNvSpPr/>
          <p:nvPr/>
        </p:nvSpPr>
        <p:spPr>
          <a:xfrm>
            <a:off x="4251056" y="4822918"/>
            <a:ext cx="1604315" cy="1619092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579858" cy="659706"/>
            <a:chOff x="563566" y="288855"/>
            <a:chExt cx="357985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280891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KVC</a:t>
              </a:r>
              <a:r>
                <a:rPr kumimoji="0" lang="en-US" altLang="zh-CN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ache</a:t>
              </a: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加速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.7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8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499456" y="735741"/>
            <a:ext cx="8446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核心思想</a:t>
            </a:r>
            <a:r>
              <a:rPr lang="zh-CN" altLang="en-US" sz="2400" dirty="0"/>
              <a:t>：通过</a:t>
            </a:r>
            <a:r>
              <a:rPr lang="zh-CN" altLang="en-US" sz="2400" dirty="0">
                <a:solidFill>
                  <a:srgbClr val="FF0000"/>
                </a:solidFill>
              </a:rPr>
              <a:t>空间换时间</a:t>
            </a:r>
            <a:r>
              <a:rPr lang="zh-CN" altLang="en-US" sz="2400" dirty="0"/>
              <a:t>的思想，保存</a:t>
            </a:r>
            <a:r>
              <a:rPr lang="en-US" altLang="zh-CN" sz="2400" dirty="0"/>
              <a:t>Attention</a:t>
            </a:r>
            <a:r>
              <a:rPr lang="zh-CN" altLang="en-US" sz="2400" dirty="0"/>
              <a:t>计算中</a:t>
            </a:r>
            <a:r>
              <a:rPr lang="zh-CN" altLang="en-US" sz="2400" dirty="0">
                <a:solidFill>
                  <a:srgbClr val="FF0000"/>
                </a:solidFill>
              </a:rPr>
              <a:t>可复用</a:t>
            </a:r>
            <a:r>
              <a:rPr lang="zh-CN" altLang="en-US" sz="2400" dirty="0"/>
              <a:t>的计算结果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2499456" y="1742314"/>
            <a:ext cx="8446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大模型</a:t>
            </a:r>
            <a:r>
              <a:rPr lang="en-US" altLang="zh-CN" sz="2400" dirty="0"/>
              <a:t>Decoder</a:t>
            </a:r>
            <a:r>
              <a:rPr lang="zh-CN" altLang="en-US" sz="2400" dirty="0"/>
              <a:t>架构：每个</a:t>
            </a:r>
            <a:r>
              <a:rPr lang="en-US" altLang="zh-CN" sz="2400" dirty="0"/>
              <a:t>token</a:t>
            </a:r>
            <a:r>
              <a:rPr lang="zh-CN" altLang="en-US" sz="2400" dirty="0"/>
              <a:t>只能看见自己之前的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序列，即过去所有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序列的</a:t>
            </a:r>
            <a:r>
              <a:rPr lang="en-US" altLang="zh-CN" sz="2400" dirty="0"/>
              <a:t>Q</a:t>
            </a:r>
            <a:r>
              <a:rPr lang="zh-CN" altLang="en-US" sz="2400" dirty="0"/>
              <a:t>不会与后面</a:t>
            </a:r>
            <a:r>
              <a:rPr lang="en-US" altLang="zh-CN" sz="2400" dirty="0"/>
              <a:t>token</a:t>
            </a:r>
            <a:r>
              <a:rPr lang="zh-CN" altLang="en-US" sz="2400" dirty="0"/>
              <a:t>的</a:t>
            </a:r>
            <a:r>
              <a:rPr lang="en-US" altLang="zh-CN" sz="2400" dirty="0"/>
              <a:t>K,V</a:t>
            </a:r>
            <a:r>
              <a:rPr lang="zh-CN" altLang="en-US" sz="2400" dirty="0"/>
              <a:t>计算，但是后面</a:t>
            </a:r>
            <a:r>
              <a:rPr lang="en-US" altLang="zh-CN" sz="2400" dirty="0"/>
              <a:t>token</a:t>
            </a:r>
            <a:r>
              <a:rPr lang="zh-CN" altLang="en-US" sz="2400" dirty="0"/>
              <a:t>的</a:t>
            </a:r>
            <a:r>
              <a:rPr lang="en-US" altLang="zh-CN" sz="2400" dirty="0"/>
              <a:t>Q</a:t>
            </a:r>
            <a:r>
              <a:rPr lang="zh-CN" altLang="en-US" sz="2400" dirty="0"/>
              <a:t>会与前面所有</a:t>
            </a:r>
            <a:r>
              <a:rPr lang="en-US" altLang="zh-CN" sz="2400" dirty="0"/>
              <a:t>token</a:t>
            </a:r>
            <a:r>
              <a:rPr lang="zh-CN" altLang="en-US" sz="2400" dirty="0"/>
              <a:t>的</a:t>
            </a:r>
            <a:r>
              <a:rPr lang="en-US" altLang="zh-CN" sz="2400" dirty="0"/>
              <a:t>K,V</a:t>
            </a:r>
            <a:r>
              <a:rPr lang="zh-CN" altLang="en-US" sz="2400" dirty="0"/>
              <a:t>做计算。</a:t>
            </a:r>
            <a:endParaRPr lang="en-US" altLang="zh-CN" sz="2400" dirty="0"/>
          </a:p>
        </p:txBody>
      </p:sp>
      <p:sp>
        <p:nvSpPr>
          <p:cNvPr id="79" name="矩形 78"/>
          <p:cNvSpPr/>
          <p:nvPr/>
        </p:nvSpPr>
        <p:spPr>
          <a:xfrm>
            <a:off x="2789837" y="308797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80" name="矩形 79"/>
          <p:cNvSpPr/>
          <p:nvPr/>
        </p:nvSpPr>
        <p:spPr>
          <a:xfrm>
            <a:off x="2789837" y="342900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81" name="矩形 80"/>
          <p:cNvSpPr/>
          <p:nvPr/>
        </p:nvSpPr>
        <p:spPr>
          <a:xfrm>
            <a:off x="2793166" y="3778042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82" name="矩形 81"/>
          <p:cNvSpPr/>
          <p:nvPr/>
        </p:nvSpPr>
        <p:spPr>
          <a:xfrm>
            <a:off x="4344302" y="3035293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85" name="矩形 84"/>
          <p:cNvSpPr/>
          <p:nvPr/>
        </p:nvSpPr>
        <p:spPr>
          <a:xfrm>
            <a:off x="4754147" y="3035293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86" name="矩形 85"/>
          <p:cNvSpPr/>
          <p:nvPr/>
        </p:nvSpPr>
        <p:spPr>
          <a:xfrm>
            <a:off x="5163992" y="3035293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87" name="流程图: 汇总连接 86"/>
          <p:cNvSpPr/>
          <p:nvPr/>
        </p:nvSpPr>
        <p:spPr>
          <a:xfrm>
            <a:off x="3952118" y="3477126"/>
            <a:ext cx="291369" cy="296278"/>
          </a:xfrm>
          <a:prstGeom prst="flowChartSummingJunct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左中括号 87"/>
          <p:cNvSpPr/>
          <p:nvPr/>
        </p:nvSpPr>
        <p:spPr>
          <a:xfrm>
            <a:off x="2499456" y="3035293"/>
            <a:ext cx="135460" cy="1200329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右中括号 88"/>
          <p:cNvSpPr/>
          <p:nvPr/>
        </p:nvSpPr>
        <p:spPr>
          <a:xfrm>
            <a:off x="5688975" y="3010770"/>
            <a:ext cx="135460" cy="1257476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6376293" y="3084596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91" name="矩形 90"/>
          <p:cNvSpPr/>
          <p:nvPr/>
        </p:nvSpPr>
        <p:spPr>
          <a:xfrm>
            <a:off x="6376293" y="3425626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92" name="矩形 91"/>
          <p:cNvSpPr/>
          <p:nvPr/>
        </p:nvSpPr>
        <p:spPr>
          <a:xfrm>
            <a:off x="6379622" y="3774668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93" name="流程图: 汇总连接 92"/>
          <p:cNvSpPr/>
          <p:nvPr/>
        </p:nvSpPr>
        <p:spPr>
          <a:xfrm>
            <a:off x="5933895" y="3487318"/>
            <a:ext cx="291369" cy="296278"/>
          </a:xfrm>
          <a:prstGeom prst="flowChartSummingJunct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2789836" y="5510988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95" name="左中括号 94"/>
          <p:cNvSpPr/>
          <p:nvPr/>
        </p:nvSpPr>
        <p:spPr>
          <a:xfrm>
            <a:off x="2498582" y="5083025"/>
            <a:ext cx="135460" cy="1200329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右中括号 95"/>
          <p:cNvSpPr/>
          <p:nvPr/>
        </p:nvSpPr>
        <p:spPr>
          <a:xfrm>
            <a:off x="6182830" y="5105689"/>
            <a:ext cx="135460" cy="1257476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流程图: 汇总连接 96"/>
          <p:cNvSpPr/>
          <p:nvPr/>
        </p:nvSpPr>
        <p:spPr>
          <a:xfrm>
            <a:off x="3936324" y="5522513"/>
            <a:ext cx="291369" cy="296278"/>
          </a:xfrm>
          <a:prstGeom prst="flowChartSummingJunct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流程图: 汇总连接 97"/>
          <p:cNvSpPr/>
          <p:nvPr/>
        </p:nvSpPr>
        <p:spPr>
          <a:xfrm>
            <a:off x="6514472" y="5510988"/>
            <a:ext cx="291369" cy="296278"/>
          </a:xfrm>
          <a:prstGeom prst="flowChartSummingJunct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5551419" y="5168518"/>
            <a:ext cx="415024" cy="1131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06" name="矩形 105"/>
          <p:cNvSpPr/>
          <p:nvPr/>
        </p:nvSpPr>
        <p:spPr>
          <a:xfrm>
            <a:off x="4315231" y="5168518"/>
            <a:ext cx="415024" cy="1131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7" name="矩形 106"/>
          <p:cNvSpPr/>
          <p:nvPr/>
        </p:nvSpPr>
        <p:spPr>
          <a:xfrm>
            <a:off x="4725076" y="5168518"/>
            <a:ext cx="415024" cy="1131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08" name="矩形 107"/>
          <p:cNvSpPr/>
          <p:nvPr/>
        </p:nvSpPr>
        <p:spPr>
          <a:xfrm>
            <a:off x="5134921" y="5168518"/>
            <a:ext cx="415024" cy="1131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09" name="矩形 108"/>
          <p:cNvSpPr/>
          <p:nvPr/>
        </p:nvSpPr>
        <p:spPr>
          <a:xfrm>
            <a:off x="7066933" y="6084293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10" name="矩形 109"/>
          <p:cNvSpPr/>
          <p:nvPr/>
        </p:nvSpPr>
        <p:spPr>
          <a:xfrm>
            <a:off x="7065268" y="5084704"/>
            <a:ext cx="1064795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11" name="矩形 110"/>
          <p:cNvSpPr/>
          <p:nvPr/>
        </p:nvSpPr>
        <p:spPr>
          <a:xfrm>
            <a:off x="7065268" y="5425734"/>
            <a:ext cx="1064795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12" name="矩形 111"/>
          <p:cNvSpPr/>
          <p:nvPr/>
        </p:nvSpPr>
        <p:spPr>
          <a:xfrm>
            <a:off x="7068597" y="5774776"/>
            <a:ext cx="1064795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13" name="矩形: 圆角 112"/>
          <p:cNvSpPr/>
          <p:nvPr/>
        </p:nvSpPr>
        <p:spPr>
          <a:xfrm>
            <a:off x="4082008" y="4445900"/>
            <a:ext cx="4048055" cy="3511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>
                <a:solidFill>
                  <a:schemeClr val="tx1"/>
                </a:solidFill>
              </a:rPr>
              <a:t>KVCache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4" name="箭头: 下 113"/>
          <p:cNvSpPr/>
          <p:nvPr/>
        </p:nvSpPr>
        <p:spPr>
          <a:xfrm>
            <a:off x="4653084" y="4192285"/>
            <a:ext cx="617149" cy="23725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箭头: 下 114"/>
          <p:cNvSpPr/>
          <p:nvPr/>
        </p:nvSpPr>
        <p:spPr>
          <a:xfrm>
            <a:off x="6600115" y="4181644"/>
            <a:ext cx="617149" cy="23725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箭头: 下 115"/>
          <p:cNvSpPr/>
          <p:nvPr/>
        </p:nvSpPr>
        <p:spPr>
          <a:xfrm>
            <a:off x="4638503" y="4856111"/>
            <a:ext cx="617149" cy="23725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箭头: 下 116"/>
          <p:cNvSpPr/>
          <p:nvPr/>
        </p:nvSpPr>
        <p:spPr>
          <a:xfrm>
            <a:off x="7289090" y="4818511"/>
            <a:ext cx="617149" cy="23725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/>
          <p:cNvSpPr/>
          <p:nvPr/>
        </p:nvSpPr>
        <p:spPr>
          <a:xfrm>
            <a:off x="9953680" y="2698786"/>
            <a:ext cx="6382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19" name="矩形 118"/>
          <p:cNvSpPr/>
          <p:nvPr/>
        </p:nvSpPr>
        <p:spPr>
          <a:xfrm>
            <a:off x="8901813" y="3430078"/>
            <a:ext cx="415024" cy="4852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20" name="矩形 119"/>
          <p:cNvSpPr/>
          <p:nvPr/>
        </p:nvSpPr>
        <p:spPr>
          <a:xfrm>
            <a:off x="9311658" y="3430078"/>
            <a:ext cx="415024" cy="4852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21" name="矩形 120"/>
          <p:cNvSpPr/>
          <p:nvPr/>
        </p:nvSpPr>
        <p:spPr>
          <a:xfrm>
            <a:off x="9721503" y="3430078"/>
            <a:ext cx="415024" cy="4852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22" name="矩形 121"/>
          <p:cNvSpPr/>
          <p:nvPr/>
        </p:nvSpPr>
        <p:spPr>
          <a:xfrm>
            <a:off x="10553179" y="3425626"/>
            <a:ext cx="663966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23" name="矩形 122"/>
          <p:cNvSpPr/>
          <p:nvPr/>
        </p:nvSpPr>
        <p:spPr>
          <a:xfrm>
            <a:off x="10553179" y="3766656"/>
            <a:ext cx="663966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24" name="矩形 123"/>
          <p:cNvSpPr/>
          <p:nvPr/>
        </p:nvSpPr>
        <p:spPr>
          <a:xfrm>
            <a:off x="10553179" y="4115698"/>
            <a:ext cx="6672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25" name="左大括号 124"/>
          <p:cNvSpPr/>
          <p:nvPr/>
        </p:nvSpPr>
        <p:spPr>
          <a:xfrm rot="5400000">
            <a:off x="10106802" y="2690555"/>
            <a:ext cx="357959" cy="108251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/>
          <p:cNvSpPr/>
          <p:nvPr/>
        </p:nvSpPr>
        <p:spPr>
          <a:xfrm>
            <a:off x="9296859" y="5105689"/>
            <a:ext cx="6672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27" name="矩形 126"/>
          <p:cNvSpPr/>
          <p:nvPr/>
        </p:nvSpPr>
        <p:spPr>
          <a:xfrm>
            <a:off x="9296859" y="5446719"/>
            <a:ext cx="6672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28" name="矩形 127"/>
          <p:cNvSpPr/>
          <p:nvPr/>
        </p:nvSpPr>
        <p:spPr>
          <a:xfrm>
            <a:off x="9296859" y="5795761"/>
            <a:ext cx="670624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Q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30" name="左大括号 129"/>
          <p:cNvSpPr/>
          <p:nvPr/>
        </p:nvSpPr>
        <p:spPr>
          <a:xfrm>
            <a:off x="9977156" y="5085393"/>
            <a:ext cx="357959" cy="108251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10344788" y="4849532"/>
            <a:ext cx="415024" cy="55132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32" name="矩形 131"/>
          <p:cNvSpPr/>
          <p:nvPr/>
        </p:nvSpPr>
        <p:spPr>
          <a:xfrm>
            <a:off x="10359675" y="6031936"/>
            <a:ext cx="670624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33" name="乘号 132"/>
          <p:cNvSpPr/>
          <p:nvPr/>
        </p:nvSpPr>
        <p:spPr>
          <a:xfrm>
            <a:off x="10769485" y="5332238"/>
            <a:ext cx="538326" cy="6996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: 圆角 133"/>
          <p:cNvSpPr/>
          <p:nvPr/>
        </p:nvSpPr>
        <p:spPr>
          <a:xfrm>
            <a:off x="4201236" y="6491290"/>
            <a:ext cx="4048055" cy="3511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>
                <a:solidFill>
                  <a:schemeClr val="tx1"/>
                </a:solidFill>
              </a:rPr>
              <a:t>KVCache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36" name="直接箭头连接符 135"/>
          <p:cNvCxnSpPr>
            <a:stCxn id="105" idx="2"/>
          </p:cNvCxnSpPr>
          <p:nvPr/>
        </p:nvCxnSpPr>
        <p:spPr>
          <a:xfrm flipH="1">
            <a:off x="5756705" y="6300336"/>
            <a:ext cx="2226" cy="1909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/>
          <p:cNvCxnSpPr>
            <a:stCxn id="109" idx="3"/>
            <a:endCxn id="134" idx="3"/>
          </p:cNvCxnSpPr>
          <p:nvPr/>
        </p:nvCxnSpPr>
        <p:spPr>
          <a:xfrm>
            <a:off x="8131728" y="6256495"/>
            <a:ext cx="117563" cy="410387"/>
          </a:xfrm>
          <a:prstGeom prst="bentConnector3">
            <a:avLst>
              <a:gd name="adj1" fmla="val 29444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8499365" y="6248536"/>
            <a:ext cx="940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更新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579858" cy="659706"/>
            <a:chOff x="563566" y="288855"/>
            <a:chExt cx="357985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280891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KVC</a:t>
              </a:r>
              <a:r>
                <a:rPr kumimoji="0" lang="en-US" altLang="zh-CN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ache</a:t>
              </a: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加速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.7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9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677554" y="983651"/>
            <a:ext cx="3831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推理阶段一</a:t>
            </a:r>
            <a:r>
              <a:rPr lang="zh-CN" altLang="en-US" sz="2400" dirty="0"/>
              <a:t>：提示词阶段</a:t>
            </a:r>
            <a:endParaRPr lang="en-US" altLang="zh-CN" sz="2400" dirty="0"/>
          </a:p>
        </p:txBody>
      </p:sp>
      <p:sp>
        <p:nvSpPr>
          <p:cNvPr id="7" name="矩形 6"/>
          <p:cNvSpPr/>
          <p:nvPr/>
        </p:nvSpPr>
        <p:spPr>
          <a:xfrm>
            <a:off x="6580514" y="1584517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13" name="箭头: 右 12"/>
          <p:cNvSpPr/>
          <p:nvPr/>
        </p:nvSpPr>
        <p:spPr>
          <a:xfrm>
            <a:off x="5669870" y="2064041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/>
          <p:cNvSpPr/>
          <p:nvPr/>
        </p:nvSpPr>
        <p:spPr>
          <a:xfrm>
            <a:off x="8129590" y="2048772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293784" y="1812252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6" name="矩形 15"/>
          <p:cNvSpPr/>
          <p:nvPr/>
        </p:nvSpPr>
        <p:spPr>
          <a:xfrm>
            <a:off x="4293784" y="2153282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8" name="矩形 17"/>
          <p:cNvSpPr/>
          <p:nvPr/>
        </p:nvSpPr>
        <p:spPr>
          <a:xfrm>
            <a:off x="4297113" y="250232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302488" y="2032622"/>
            <a:ext cx="7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24" name="矩形 23"/>
          <p:cNvSpPr/>
          <p:nvPr/>
        </p:nvSpPr>
        <p:spPr>
          <a:xfrm>
            <a:off x="9074806" y="2119808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677554" y="3067913"/>
            <a:ext cx="3542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推理阶段二</a:t>
            </a:r>
            <a:r>
              <a:rPr lang="zh-CN" altLang="en-US" sz="2400" dirty="0"/>
              <a:t>：生成阶段</a:t>
            </a:r>
            <a:endParaRPr lang="en-US" altLang="zh-CN" sz="2400" dirty="0"/>
          </a:p>
        </p:txBody>
      </p:sp>
      <p:sp>
        <p:nvSpPr>
          <p:cNvPr id="33" name="矩形 32"/>
          <p:cNvSpPr/>
          <p:nvPr/>
        </p:nvSpPr>
        <p:spPr>
          <a:xfrm>
            <a:off x="6556449" y="3569731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34" name="箭头: 右 33"/>
          <p:cNvSpPr/>
          <p:nvPr/>
        </p:nvSpPr>
        <p:spPr>
          <a:xfrm>
            <a:off x="5645805" y="4049255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/>
          <p:cNvSpPr/>
          <p:nvPr/>
        </p:nvSpPr>
        <p:spPr>
          <a:xfrm>
            <a:off x="8105525" y="4033986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4350159" y="4126708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723927" y="4107811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第一个生成词</a:t>
            </a:r>
          </a:p>
        </p:txBody>
      </p:sp>
      <p:sp>
        <p:nvSpPr>
          <p:cNvPr id="42" name="矩形 41"/>
          <p:cNvSpPr/>
          <p:nvPr/>
        </p:nvSpPr>
        <p:spPr>
          <a:xfrm>
            <a:off x="9016177" y="4105022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43" name="矩形 42"/>
          <p:cNvSpPr/>
          <p:nvPr/>
        </p:nvSpPr>
        <p:spPr>
          <a:xfrm>
            <a:off x="6576500" y="5298277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Model</a:t>
            </a:r>
            <a:endParaRPr lang="zh-CN" altLang="en-US" sz="2400" dirty="0"/>
          </a:p>
        </p:txBody>
      </p:sp>
      <p:sp>
        <p:nvSpPr>
          <p:cNvPr id="44" name="箭头: 右 43"/>
          <p:cNvSpPr/>
          <p:nvPr/>
        </p:nvSpPr>
        <p:spPr>
          <a:xfrm>
            <a:off x="5665856" y="5777801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/>
          <p:cNvSpPr/>
          <p:nvPr/>
        </p:nvSpPr>
        <p:spPr>
          <a:xfrm>
            <a:off x="8125576" y="5762532"/>
            <a:ext cx="721895" cy="499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9036228" y="5833568"/>
            <a:ext cx="1124440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终止符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362190" y="5805684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2735959" y="5780756"/>
            <a:ext cx="171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第二个生成词</a:t>
            </a:r>
          </a:p>
        </p:txBody>
      </p:sp>
      <p:sp>
        <p:nvSpPr>
          <p:cNvPr id="55" name="箭头: 右弧形 54"/>
          <p:cNvSpPr/>
          <p:nvPr/>
        </p:nvSpPr>
        <p:spPr>
          <a:xfrm>
            <a:off x="8105525" y="2905626"/>
            <a:ext cx="497054" cy="87169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827420" y="2824015"/>
            <a:ext cx="815891" cy="7911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Cache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箭头: 右弧形 56"/>
          <p:cNvSpPr/>
          <p:nvPr/>
        </p:nvSpPr>
        <p:spPr>
          <a:xfrm>
            <a:off x="8105525" y="4702218"/>
            <a:ext cx="497054" cy="87169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827420" y="4633588"/>
            <a:ext cx="815891" cy="1045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Cache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769641" y="4846193"/>
            <a:ext cx="138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大小与序列长度呈正比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4426244" cy="659706"/>
            <a:chOff x="563566" y="288855"/>
            <a:chExt cx="4426244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3655296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KVC</a:t>
              </a:r>
              <a:r>
                <a:rPr kumimoji="0" lang="en-US" altLang="zh-CN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ache</a:t>
              </a: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存储</a:t>
              </a: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挑战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.8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10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149536" y="920407"/>
            <a:ext cx="5145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KVCache</a:t>
            </a:r>
            <a:r>
              <a:rPr lang="zh-CN" altLang="en-US" sz="2400" dirty="0"/>
              <a:t>存储占用                   </a:t>
            </a:r>
            <a:r>
              <a:rPr lang="zh-CN" altLang="en-US" sz="2400" dirty="0">
                <a:solidFill>
                  <a:srgbClr val="FF0000"/>
                </a:solidFill>
              </a:rPr>
              <a:t>动态问题</a:t>
            </a:r>
          </a:p>
        </p:txBody>
      </p:sp>
      <p:sp>
        <p:nvSpPr>
          <p:cNvPr id="38" name="箭头: 右 37"/>
          <p:cNvSpPr/>
          <p:nvPr/>
        </p:nvSpPr>
        <p:spPr>
          <a:xfrm>
            <a:off x="4954014" y="864542"/>
            <a:ext cx="692567" cy="5733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283106" y="1579609"/>
            <a:ext cx="71977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、用户请求长度具有不确定性        </a:t>
            </a:r>
            <a:r>
              <a:rPr lang="zh-CN" altLang="en-US" sz="2400" dirty="0">
                <a:solidFill>
                  <a:srgbClr val="FF0000"/>
                </a:solidFill>
              </a:rPr>
              <a:t>如何分配空间            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、用户请求内容具有不确定性        </a:t>
            </a:r>
            <a:r>
              <a:rPr lang="zh-CN" altLang="en-US" sz="2400" dirty="0">
                <a:solidFill>
                  <a:srgbClr val="FF0000"/>
                </a:solidFill>
              </a:rPr>
              <a:t>如何共享空间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、用户请求时间具有不确定性</a:t>
            </a:r>
            <a:endParaRPr lang="en-US" altLang="zh-CN" sz="2400" dirty="0"/>
          </a:p>
        </p:txBody>
      </p:sp>
      <p:sp>
        <p:nvSpPr>
          <p:cNvPr id="50" name="箭头: 下 49"/>
          <p:cNvSpPr/>
          <p:nvPr/>
        </p:nvSpPr>
        <p:spPr>
          <a:xfrm>
            <a:off x="4207324" y="3904054"/>
            <a:ext cx="481262" cy="6737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149536" y="2891627"/>
            <a:ext cx="4596838" cy="673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2087078" y="4958841"/>
            <a:ext cx="52642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Batching</a:t>
            </a:r>
            <a:r>
              <a:rPr lang="zh-CN" altLang="en-US" sz="2400" dirty="0"/>
              <a:t>策略：收集一小段时间内的多个用户请求或达到预设的最大用户请求数，并作为一个批交付模型处理。</a:t>
            </a:r>
            <a:endParaRPr lang="en-US" altLang="zh-CN" sz="2400" dirty="0"/>
          </a:p>
          <a:p>
            <a:endParaRPr lang="zh-CN" altLang="en-US" dirty="0"/>
          </a:p>
        </p:txBody>
      </p:sp>
      <p:cxnSp>
        <p:nvCxnSpPr>
          <p:cNvPr id="61" name="连接符: 肘形 60"/>
          <p:cNvCxnSpPr/>
          <p:nvPr/>
        </p:nvCxnSpPr>
        <p:spPr>
          <a:xfrm rot="5400000" flipH="1" flipV="1">
            <a:off x="6404916" y="3045890"/>
            <a:ext cx="2067214" cy="1582152"/>
          </a:xfrm>
          <a:prstGeom prst="bentConnector3">
            <a:avLst>
              <a:gd name="adj1" fmla="val 5029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7658100" y="5179595"/>
            <a:ext cx="211154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9769642" y="1786689"/>
            <a:ext cx="0" cy="339290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flipH="1">
            <a:off x="9053763" y="1798721"/>
            <a:ext cx="7158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6906127" y="3977398"/>
            <a:ext cx="11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请求内容更多样化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9960012" y="3242230"/>
            <a:ext cx="1121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请求长度更长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1801999" cy="659706"/>
            <a:chOff x="563566" y="288855"/>
            <a:chExt cx="1801999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031051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小结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</a:t>
              </a:r>
              <a:r>
                <a:rPr lang="en-US" altLang="en-US" sz="20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9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  <a:cs typeface="Nirmala UI" panose="020B0502040204020203" pitchFamily="34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5926592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094517" y="1148417"/>
            <a:ext cx="7364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大模型服务高吞吐，低成本的关键在于降低</a:t>
            </a:r>
            <a:r>
              <a:rPr lang="zh-CN" altLang="en-US" sz="2400" dirty="0">
                <a:solidFill>
                  <a:srgbClr val="FF0000"/>
                </a:solidFill>
              </a:rPr>
              <a:t>存储开销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0" name="矩形 9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28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箭头: 下 5"/>
          <p:cNvSpPr/>
          <p:nvPr/>
        </p:nvSpPr>
        <p:spPr>
          <a:xfrm>
            <a:off x="6496850" y="1742314"/>
            <a:ext cx="559469" cy="7000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42898" y="2572350"/>
            <a:ext cx="6467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存储问题本质在于大模型的</a:t>
            </a:r>
            <a:r>
              <a:rPr lang="zh-CN" altLang="en-US" sz="2400" dirty="0">
                <a:solidFill>
                  <a:srgbClr val="FF0000"/>
                </a:solidFill>
              </a:rPr>
              <a:t>自回归</a:t>
            </a:r>
            <a:r>
              <a:rPr lang="zh-CN" altLang="en-US" sz="2400" dirty="0"/>
              <a:t>推理模式，外在表现是</a:t>
            </a:r>
            <a:r>
              <a:rPr lang="zh-CN" altLang="en-US" sz="2400" dirty="0">
                <a:solidFill>
                  <a:srgbClr val="FF0000"/>
                </a:solidFill>
              </a:rPr>
              <a:t>两阶段推理</a:t>
            </a:r>
            <a:r>
              <a:rPr lang="zh-CN" altLang="en-US" sz="2400" dirty="0"/>
              <a:t>，优化手段用</a:t>
            </a:r>
            <a:r>
              <a:rPr lang="en-US" altLang="zh-CN" sz="2400" dirty="0" err="1">
                <a:solidFill>
                  <a:srgbClr val="FF0000"/>
                </a:solidFill>
              </a:rPr>
              <a:t>KVCache</a:t>
            </a:r>
            <a:endParaRPr lang="zh-CN" altLang="en-US" sz="2400" dirty="0"/>
          </a:p>
        </p:txBody>
      </p:sp>
      <p:sp>
        <p:nvSpPr>
          <p:cNvPr id="14" name="箭头: 下 13"/>
          <p:cNvSpPr/>
          <p:nvPr/>
        </p:nvSpPr>
        <p:spPr>
          <a:xfrm>
            <a:off x="6496849" y="3621851"/>
            <a:ext cx="559469" cy="7000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318704" y="4523835"/>
            <a:ext cx="6915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KVCache</a:t>
            </a:r>
            <a:r>
              <a:rPr lang="zh-CN" altLang="en-US" sz="2400" dirty="0"/>
              <a:t>与数据高度相关，具有</a:t>
            </a:r>
            <a:r>
              <a:rPr lang="zh-CN" altLang="en-US" sz="2400" dirty="0">
                <a:solidFill>
                  <a:srgbClr val="FF0000"/>
                </a:solidFill>
              </a:rPr>
              <a:t>极强的动态性</a:t>
            </a:r>
            <a:r>
              <a:rPr lang="zh-CN" altLang="en-US" sz="2400" dirty="0"/>
              <a:t>，核心挑战为如何</a:t>
            </a:r>
            <a:r>
              <a:rPr lang="zh-CN" altLang="en-US" sz="2400" dirty="0">
                <a:solidFill>
                  <a:srgbClr val="FF0000"/>
                </a:solidFill>
              </a:rPr>
              <a:t>分配存储空间</a:t>
            </a:r>
            <a:r>
              <a:rPr lang="zh-CN" altLang="en-US" sz="2400" dirty="0"/>
              <a:t>以及如何</a:t>
            </a:r>
            <a:r>
              <a:rPr lang="zh-CN" altLang="en-US" sz="2400" dirty="0">
                <a:solidFill>
                  <a:srgbClr val="FF0000"/>
                </a:solidFill>
              </a:rPr>
              <a:t>共享存储空间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494771" cy="659706"/>
            <a:chOff x="563566" y="288855"/>
            <a:chExt cx="349477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272382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现有系统缺点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2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80018" y="2090172"/>
            <a:ext cx="77810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现有系统根据主流的深度学习流程和特点，将权重、梯度等</a:t>
            </a:r>
            <a:r>
              <a:rPr lang="en-US" altLang="zh-CN" sz="2400" dirty="0"/>
              <a:t>(</a:t>
            </a:r>
            <a:r>
              <a:rPr lang="zh-CN" altLang="en-US" sz="2400" dirty="0"/>
              <a:t>张量</a:t>
            </a:r>
            <a:r>
              <a:rPr lang="en-US" altLang="zh-CN" sz="2400" dirty="0"/>
              <a:t>)</a:t>
            </a:r>
            <a:r>
              <a:rPr lang="zh-CN" altLang="en-US" sz="2400" dirty="0"/>
              <a:t>按照</a:t>
            </a:r>
            <a:r>
              <a:rPr lang="zh-CN" altLang="en-US" sz="2400" dirty="0">
                <a:solidFill>
                  <a:srgbClr val="FF0000"/>
                </a:solidFill>
              </a:rPr>
              <a:t>连续空间</a:t>
            </a:r>
            <a:r>
              <a:rPr lang="zh-CN" altLang="en-US" sz="2400" dirty="0"/>
              <a:t>进行存储，可认为是静态问题。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然而由于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极强的动态性，连续空间进行存储的方案会带来两个方面的问题：</a:t>
            </a:r>
            <a:r>
              <a:rPr lang="zh-CN" altLang="en-US" sz="2400" dirty="0">
                <a:solidFill>
                  <a:srgbClr val="FF0000"/>
                </a:solidFill>
              </a:rPr>
              <a:t>产生大量内部碎片与外部碎片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无法进行空间共享</a:t>
            </a:r>
            <a:r>
              <a:rPr lang="zh-CN" altLang="en-US" sz="2400" dirty="0"/>
              <a:t>。这些问题会带来大量的存储资源浪费。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" y="2402658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8" name="矩形 17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7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9" name="直接连接符 38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5610734" cy="659706"/>
            <a:chOff x="563566" y="288855"/>
            <a:chExt cx="5610734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4839786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大量内部碎片与外部碎片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2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19860" y="1025611"/>
            <a:ext cx="74190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现有系统为了在连续空间中存储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，需要规定</a:t>
            </a:r>
            <a:r>
              <a:rPr lang="zh-CN" altLang="en-US" sz="2400" dirty="0">
                <a:solidFill>
                  <a:srgbClr val="FF0000"/>
                </a:solidFill>
              </a:rPr>
              <a:t>最大用户请求长度</a:t>
            </a:r>
            <a:r>
              <a:rPr lang="zh-CN" altLang="en-US" sz="2400" dirty="0"/>
              <a:t>，并使用最大用户请求长度</a:t>
            </a:r>
            <a:r>
              <a:rPr lang="zh-CN" altLang="en-US" sz="2400" dirty="0">
                <a:solidFill>
                  <a:srgbClr val="FF0000"/>
                </a:solidFill>
              </a:rPr>
              <a:t>预分配</a:t>
            </a:r>
            <a:r>
              <a:rPr lang="zh-CN" altLang="en-US" sz="2400" dirty="0"/>
              <a:t>一块连续的存储空间。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然而实际用户请求长度可能远小于最大用户请求长度，造成大量</a:t>
            </a:r>
            <a:r>
              <a:rPr lang="zh-CN" altLang="en-US" sz="2400" dirty="0">
                <a:solidFill>
                  <a:srgbClr val="FF0000"/>
                </a:solidFill>
              </a:rPr>
              <a:t>内部碎片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在这种分配机制下，很大概率会出</a:t>
            </a:r>
            <a:endParaRPr lang="en-US" altLang="zh-CN" sz="2400" dirty="0"/>
          </a:p>
          <a:p>
            <a:r>
              <a:rPr lang="zh-CN" altLang="en-US" sz="2400" dirty="0"/>
              <a:t>现在多个已分配存储块之间，存在</a:t>
            </a:r>
            <a:endParaRPr lang="en-US" altLang="zh-CN" sz="2400" dirty="0"/>
          </a:p>
          <a:p>
            <a:r>
              <a:rPr lang="zh-CN" altLang="en-US" sz="2400" dirty="0"/>
              <a:t>大量小型存储区域，无法分配给新</a:t>
            </a:r>
            <a:endParaRPr lang="en-US" altLang="zh-CN" sz="2400" dirty="0"/>
          </a:p>
          <a:p>
            <a:r>
              <a:rPr lang="zh-CN" altLang="en-US" sz="2400" dirty="0"/>
              <a:t>的用户请求，形成大量</a:t>
            </a:r>
            <a:r>
              <a:rPr lang="zh-CN" altLang="en-US" sz="2400" dirty="0">
                <a:solidFill>
                  <a:srgbClr val="FF0000"/>
                </a:solidFill>
              </a:rPr>
              <a:t>外部碎片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" y="2402658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8" name="矩形 17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7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9" name="直接连接符 38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959768" y="3526357"/>
            <a:ext cx="7279106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959768" y="3526357"/>
            <a:ext cx="1010653" cy="3669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71318" y="3371284"/>
            <a:ext cx="757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用户请求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378782" y="3386672"/>
            <a:ext cx="902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预分配存储块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367" y="4090737"/>
            <a:ext cx="4059175" cy="2740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4341156" cy="659706"/>
            <a:chOff x="563566" y="288855"/>
            <a:chExt cx="4341156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3570208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存储空间难以共享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2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.3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14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37907" y="1207730"/>
            <a:ext cx="77810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大模型进行推理服务的时候，常常使用各式各样复杂的采样算法，用来生成输出的</a:t>
            </a:r>
            <a:r>
              <a:rPr lang="en-US" altLang="zh-CN" sz="2400" dirty="0"/>
              <a:t>token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尽管如此，仍然有很多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的内容可以在不同的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序列之间进行共享。然而按照现有系统的分配方案，</a:t>
            </a:r>
            <a:r>
              <a:rPr lang="zh-CN" altLang="en-US" sz="2400" dirty="0">
                <a:solidFill>
                  <a:srgbClr val="FF0000"/>
                </a:solidFill>
              </a:rPr>
              <a:t>不同的</a:t>
            </a:r>
            <a:r>
              <a:rPr lang="en-US" altLang="zh-CN" sz="2400" dirty="0" err="1">
                <a:solidFill>
                  <a:srgbClr val="FF0000"/>
                </a:solidFill>
              </a:rPr>
              <a:t>KVCache</a:t>
            </a:r>
            <a:r>
              <a:rPr lang="zh-CN" altLang="en-US" sz="2400" dirty="0">
                <a:solidFill>
                  <a:srgbClr val="FF0000"/>
                </a:solidFill>
              </a:rPr>
              <a:t>会存储在不同的、独立的连续空间中</a:t>
            </a:r>
            <a:r>
              <a:rPr lang="zh-CN" altLang="en-US" sz="2400" dirty="0"/>
              <a:t>，无法实现共享。</a:t>
            </a:r>
            <a:endParaRPr lang="en-US" altLang="zh-CN" sz="2400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" y="2402658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8" name="矩形 17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7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9" name="直接连接符 38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824553" y="436600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8" name="矩形 7"/>
          <p:cNvSpPr/>
          <p:nvPr/>
        </p:nvSpPr>
        <p:spPr>
          <a:xfrm>
            <a:off x="4889348" y="436600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9" name="矩形 8"/>
          <p:cNvSpPr/>
          <p:nvPr/>
        </p:nvSpPr>
        <p:spPr>
          <a:xfrm>
            <a:off x="5954143" y="436600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0" name="矩形 9"/>
          <p:cNvSpPr/>
          <p:nvPr/>
        </p:nvSpPr>
        <p:spPr>
          <a:xfrm>
            <a:off x="7005180" y="436600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sp>
        <p:nvSpPr>
          <p:cNvPr id="13" name="矩形 12"/>
          <p:cNvSpPr/>
          <p:nvPr/>
        </p:nvSpPr>
        <p:spPr>
          <a:xfrm>
            <a:off x="8056217" y="436600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国</a:t>
            </a:r>
          </a:p>
        </p:txBody>
      </p:sp>
      <p:sp>
        <p:nvSpPr>
          <p:cNvPr id="14" name="矩形 13"/>
          <p:cNvSpPr/>
          <p:nvPr/>
        </p:nvSpPr>
        <p:spPr>
          <a:xfrm>
            <a:off x="3824553" y="508338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5" name="矩形 14"/>
          <p:cNvSpPr/>
          <p:nvPr/>
        </p:nvSpPr>
        <p:spPr>
          <a:xfrm>
            <a:off x="4889348" y="508338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7" name="矩形 16"/>
          <p:cNvSpPr/>
          <p:nvPr/>
        </p:nvSpPr>
        <p:spPr>
          <a:xfrm>
            <a:off x="5954143" y="508338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0" name="矩形 19"/>
          <p:cNvSpPr/>
          <p:nvPr/>
        </p:nvSpPr>
        <p:spPr>
          <a:xfrm>
            <a:off x="7005180" y="508338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22" name="矩形 21"/>
          <p:cNvSpPr/>
          <p:nvPr/>
        </p:nvSpPr>
        <p:spPr>
          <a:xfrm>
            <a:off x="8056217" y="508338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23" name="矩形 22"/>
          <p:cNvSpPr/>
          <p:nvPr/>
        </p:nvSpPr>
        <p:spPr>
          <a:xfrm>
            <a:off x="3838311" y="590457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5" name="矩形 24"/>
          <p:cNvSpPr/>
          <p:nvPr/>
        </p:nvSpPr>
        <p:spPr>
          <a:xfrm>
            <a:off x="4903106" y="590457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6" name="矩形 25"/>
          <p:cNvSpPr/>
          <p:nvPr/>
        </p:nvSpPr>
        <p:spPr>
          <a:xfrm>
            <a:off x="5967901" y="590457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7" name="矩形 26"/>
          <p:cNvSpPr/>
          <p:nvPr/>
        </p:nvSpPr>
        <p:spPr>
          <a:xfrm>
            <a:off x="7018938" y="590457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运</a:t>
            </a:r>
          </a:p>
        </p:txBody>
      </p:sp>
      <p:sp>
        <p:nvSpPr>
          <p:cNvPr id="28" name="矩形 27"/>
          <p:cNvSpPr/>
          <p:nvPr/>
        </p:nvSpPr>
        <p:spPr>
          <a:xfrm>
            <a:off x="8069975" y="590457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动</a:t>
            </a:r>
          </a:p>
        </p:txBody>
      </p:sp>
      <p:sp>
        <p:nvSpPr>
          <p:cNvPr id="29" name="矩形 28"/>
          <p:cNvSpPr/>
          <p:nvPr/>
        </p:nvSpPr>
        <p:spPr>
          <a:xfrm>
            <a:off x="3603458" y="4168183"/>
            <a:ext cx="3552116" cy="22807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1801999" cy="659706"/>
            <a:chOff x="563566" y="288855"/>
            <a:chExt cx="1801999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031051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概述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15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863180" y="1255459"/>
            <a:ext cx="506425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PagedAttention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vLLM</a:t>
            </a:r>
            <a:r>
              <a:rPr lang="zh-CN" altLang="en-US" sz="2400" dirty="0"/>
              <a:t>系统设计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  <a:r>
              <a:rPr lang="zh-CN" altLang="en-US" sz="2400" dirty="0"/>
              <a:t>整体架构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         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管理器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</a:p>
          <a:p>
            <a:r>
              <a:rPr lang="en-US" altLang="zh-CN" sz="2400" dirty="0"/>
              <a:t>          </a:t>
            </a:r>
            <a:r>
              <a:rPr lang="zh-CN" altLang="en-US" sz="2400" dirty="0"/>
              <a:t>复杂推理模式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</a:p>
          <a:p>
            <a:r>
              <a:rPr lang="en-US" altLang="zh-CN" sz="2400" dirty="0"/>
              <a:t>          </a:t>
            </a:r>
          </a:p>
          <a:p>
            <a:r>
              <a:rPr lang="en-US" altLang="zh-CN" sz="2400" dirty="0"/>
              <a:t>          </a:t>
            </a:r>
            <a:r>
              <a:rPr lang="zh-CN" altLang="en-US" sz="2400" dirty="0"/>
              <a:t>调度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</a:p>
          <a:p>
            <a:r>
              <a:rPr lang="en-US" altLang="zh-CN" sz="2400" dirty="0"/>
              <a:t>          </a:t>
            </a:r>
            <a:r>
              <a:rPr lang="zh-CN" altLang="en-US" sz="2400" dirty="0"/>
              <a:t>分布式扩展</a:t>
            </a:r>
            <a:endParaRPr lang="en-US" altLang="zh-CN" sz="2400" dirty="0"/>
          </a:p>
        </p:txBody>
      </p: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号 51"/>
          <p:cNvSpPr/>
          <p:nvPr/>
        </p:nvSpPr>
        <p:spPr>
          <a:xfrm>
            <a:off x="6665496" y="3284620"/>
            <a:ext cx="411079" cy="138363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329803" y="3053273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基本模式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7329803" y="3409869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并行采样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7347265" y="3763482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集束搜索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7347265" y="4117095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共享前缀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329803" y="4476674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混合模式</a:t>
            </a:r>
          </a:p>
        </p:txBody>
      </p:sp>
      <p:sp>
        <p:nvSpPr>
          <p:cNvPr id="59" name="左大括号 58"/>
          <p:cNvSpPr/>
          <p:nvPr/>
        </p:nvSpPr>
        <p:spPr>
          <a:xfrm>
            <a:off x="6415966" y="4905559"/>
            <a:ext cx="163889" cy="51138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665496" y="4746988"/>
            <a:ext cx="187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接收用户请求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665495" y="5174147"/>
            <a:ext cx="163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存储资源耗尽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4121417" cy="659706"/>
            <a:chOff x="563566" y="288855"/>
            <a:chExt cx="4121417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3350469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300" dirty="0" err="1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PagedAttention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16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677553" y="776810"/>
            <a:ext cx="690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核心思想</a:t>
            </a:r>
            <a:r>
              <a:rPr lang="zh-CN" altLang="en-US" sz="2400" dirty="0"/>
              <a:t>：将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划分为</a:t>
            </a:r>
            <a:r>
              <a:rPr lang="zh-CN" altLang="en-US" sz="2400" dirty="0">
                <a:solidFill>
                  <a:srgbClr val="FF0000"/>
                </a:solidFill>
              </a:rPr>
              <a:t>块</a:t>
            </a:r>
            <a:r>
              <a:rPr lang="en-US" altLang="zh-CN" sz="2400" dirty="0">
                <a:solidFill>
                  <a:srgbClr val="FF0000"/>
                </a:solidFill>
              </a:rPr>
              <a:t>(block)</a:t>
            </a:r>
            <a:r>
              <a:rPr lang="zh-CN" altLang="en-US" sz="2400" dirty="0"/>
              <a:t>，每个块中包含一定数量的</a:t>
            </a:r>
            <a:r>
              <a:rPr lang="en-US" altLang="zh-CN" sz="2400" dirty="0"/>
              <a:t>K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137039" y="191643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7" name="矩形 6"/>
          <p:cNvSpPr/>
          <p:nvPr/>
        </p:nvSpPr>
        <p:spPr>
          <a:xfrm>
            <a:off x="5137039" y="225746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8" name="矩形 7"/>
          <p:cNvSpPr/>
          <p:nvPr/>
        </p:nvSpPr>
        <p:spPr>
          <a:xfrm>
            <a:off x="5137038" y="349887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4" name="矩形 13"/>
          <p:cNvSpPr/>
          <p:nvPr/>
        </p:nvSpPr>
        <p:spPr>
          <a:xfrm>
            <a:off x="3947259" y="1794435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5" name="矩形 14"/>
          <p:cNvSpPr/>
          <p:nvPr/>
        </p:nvSpPr>
        <p:spPr>
          <a:xfrm>
            <a:off x="4357104" y="1794435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6" name="矩形 15"/>
          <p:cNvSpPr/>
          <p:nvPr/>
        </p:nvSpPr>
        <p:spPr>
          <a:xfrm>
            <a:off x="3947259" y="3352476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2" name="矩形 21"/>
          <p:cNvSpPr/>
          <p:nvPr/>
        </p:nvSpPr>
        <p:spPr>
          <a:xfrm>
            <a:off x="3675646" y="1703623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675646" y="3265005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419995" y="3678801"/>
            <a:ext cx="1091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block2</a:t>
            </a:r>
            <a:endParaRPr lang="zh-CN" altLang="en-US" sz="2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446389" y="2129511"/>
            <a:ext cx="1091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block1</a:t>
            </a:r>
            <a:endParaRPr lang="zh-CN" altLang="en-US" sz="2400" dirty="0"/>
          </a:p>
        </p:txBody>
      </p:sp>
      <p:sp>
        <p:nvSpPr>
          <p:cNvPr id="26" name="矩形 25"/>
          <p:cNvSpPr/>
          <p:nvPr/>
        </p:nvSpPr>
        <p:spPr>
          <a:xfrm>
            <a:off x="2308799" y="2676652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7" name="矩形 26"/>
          <p:cNvSpPr/>
          <p:nvPr/>
        </p:nvSpPr>
        <p:spPr>
          <a:xfrm>
            <a:off x="2308799" y="3017682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8" name="矩形 27"/>
          <p:cNvSpPr/>
          <p:nvPr/>
        </p:nvSpPr>
        <p:spPr>
          <a:xfrm>
            <a:off x="2312128" y="3366724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cxnSp>
        <p:nvCxnSpPr>
          <p:cNvPr id="32" name="直接箭头连接符 31"/>
          <p:cNvCxnSpPr>
            <a:stCxn id="26" idx="0"/>
            <a:endCxn id="22" idx="1"/>
          </p:cNvCxnSpPr>
          <p:nvPr/>
        </p:nvCxnSpPr>
        <p:spPr>
          <a:xfrm flipV="1">
            <a:off x="2841197" y="2362340"/>
            <a:ext cx="834449" cy="3143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8" idx="2"/>
            <a:endCxn id="23" idx="1"/>
          </p:cNvCxnSpPr>
          <p:nvPr/>
        </p:nvCxnSpPr>
        <p:spPr>
          <a:xfrm>
            <a:off x="2844526" y="3711128"/>
            <a:ext cx="831120" cy="2125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9500920" y="162264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36" name="矩形 35"/>
          <p:cNvSpPr/>
          <p:nvPr/>
        </p:nvSpPr>
        <p:spPr>
          <a:xfrm>
            <a:off x="9500920" y="1963670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7" name="矩形 36"/>
          <p:cNvSpPr/>
          <p:nvPr/>
        </p:nvSpPr>
        <p:spPr>
          <a:xfrm>
            <a:off x="9500919" y="3331413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38" name="矩形 37"/>
          <p:cNvSpPr/>
          <p:nvPr/>
        </p:nvSpPr>
        <p:spPr>
          <a:xfrm>
            <a:off x="8311140" y="1500642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39" name="矩形 38"/>
          <p:cNvSpPr/>
          <p:nvPr/>
        </p:nvSpPr>
        <p:spPr>
          <a:xfrm>
            <a:off x="8720985" y="1500642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58" name="矩形 57"/>
          <p:cNvSpPr/>
          <p:nvPr/>
        </p:nvSpPr>
        <p:spPr>
          <a:xfrm>
            <a:off x="8311140" y="3185016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62" name="矩形 61"/>
          <p:cNvSpPr/>
          <p:nvPr/>
        </p:nvSpPr>
        <p:spPr>
          <a:xfrm>
            <a:off x="8039527" y="1409830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8039527" y="3097545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10810270" y="3503615"/>
            <a:ext cx="1091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block2</a:t>
            </a:r>
            <a:endParaRPr lang="zh-CN" altLang="en-US" sz="2400" dirty="0"/>
          </a:p>
        </p:txBody>
      </p:sp>
      <p:sp>
        <p:nvSpPr>
          <p:cNvPr id="65" name="文本框 64"/>
          <p:cNvSpPr txBox="1"/>
          <p:nvPr/>
        </p:nvSpPr>
        <p:spPr>
          <a:xfrm>
            <a:off x="10810270" y="1835718"/>
            <a:ext cx="1091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block1</a:t>
            </a:r>
            <a:endParaRPr lang="zh-CN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8720985" y="3185016"/>
            <a:ext cx="415024" cy="1131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67" name="矩形 66"/>
          <p:cNvSpPr/>
          <p:nvPr/>
        </p:nvSpPr>
        <p:spPr>
          <a:xfrm>
            <a:off x="9500918" y="3673211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70" name="矩形 69"/>
          <p:cNvSpPr/>
          <p:nvPr/>
        </p:nvSpPr>
        <p:spPr>
          <a:xfrm>
            <a:off x="8040604" y="4699395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0811347" y="5105465"/>
            <a:ext cx="1091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block3</a:t>
            </a:r>
            <a:endParaRPr lang="zh-CN" altLang="en-US" sz="2400" dirty="0"/>
          </a:p>
        </p:txBody>
      </p:sp>
      <p:sp>
        <p:nvSpPr>
          <p:cNvPr id="72" name="矩形 71"/>
          <p:cNvSpPr/>
          <p:nvPr/>
        </p:nvSpPr>
        <p:spPr>
          <a:xfrm>
            <a:off x="8525740" y="4785260"/>
            <a:ext cx="415024" cy="1131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73" name="矩形 72"/>
          <p:cNvSpPr/>
          <p:nvPr/>
        </p:nvSpPr>
        <p:spPr>
          <a:xfrm>
            <a:off x="9425900" y="5136818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cxnSp>
        <p:nvCxnSpPr>
          <p:cNvPr id="74" name="直接箭头连接符 73"/>
          <p:cNvCxnSpPr/>
          <p:nvPr/>
        </p:nvCxnSpPr>
        <p:spPr>
          <a:xfrm flipV="1">
            <a:off x="6310562" y="1827917"/>
            <a:ext cx="1728965" cy="3143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6310562" y="4017615"/>
            <a:ext cx="1691961" cy="1298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9283540" y="6070412"/>
            <a:ext cx="85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NEW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272020" y="4846783"/>
            <a:ext cx="1403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用户请求</a:t>
            </a:r>
          </a:p>
        </p:txBody>
      </p:sp>
      <p:sp>
        <p:nvSpPr>
          <p:cNvPr id="81" name="箭头: 上下 80"/>
          <p:cNvSpPr/>
          <p:nvPr/>
        </p:nvSpPr>
        <p:spPr>
          <a:xfrm>
            <a:off x="2674916" y="5301791"/>
            <a:ext cx="468705" cy="77521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2493440" y="6079983"/>
            <a:ext cx="880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进程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5752917" y="4564966"/>
            <a:ext cx="140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</a:t>
            </a:r>
            <a:r>
              <a:rPr lang="zh-CN" altLang="en-US" sz="2400" dirty="0"/>
              <a:t>中</a:t>
            </a:r>
            <a:r>
              <a:rPr lang="en-US" altLang="zh-CN" sz="2400" dirty="0"/>
              <a:t>token</a:t>
            </a:r>
            <a:r>
              <a:rPr lang="zh-CN" altLang="en-US" sz="2400" dirty="0"/>
              <a:t>数</a:t>
            </a:r>
          </a:p>
        </p:txBody>
      </p:sp>
      <p:sp>
        <p:nvSpPr>
          <p:cNvPr id="87" name="箭头: 上下 86"/>
          <p:cNvSpPr/>
          <p:nvPr/>
        </p:nvSpPr>
        <p:spPr>
          <a:xfrm>
            <a:off x="6128955" y="5304127"/>
            <a:ext cx="468705" cy="77521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5947479" y="6082319"/>
            <a:ext cx="880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页面大小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967117" y="4583255"/>
            <a:ext cx="1510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申请</a:t>
            </a:r>
            <a:r>
              <a:rPr lang="en-US" altLang="zh-CN" sz="2400" dirty="0"/>
              <a:t>/</a:t>
            </a:r>
            <a:r>
              <a:rPr lang="zh-CN" altLang="en-US" sz="2400" dirty="0"/>
              <a:t>释放</a:t>
            </a:r>
            <a:r>
              <a:rPr lang="en-US" altLang="zh-CN" sz="2400" dirty="0"/>
              <a:t>Block</a:t>
            </a:r>
            <a:endParaRPr lang="zh-CN" altLang="en-US" sz="2400" dirty="0"/>
          </a:p>
        </p:txBody>
      </p:sp>
      <p:sp>
        <p:nvSpPr>
          <p:cNvPr id="90" name="箭头: 上下 89"/>
          <p:cNvSpPr/>
          <p:nvPr/>
        </p:nvSpPr>
        <p:spPr>
          <a:xfrm>
            <a:off x="4415227" y="5301208"/>
            <a:ext cx="468705" cy="77521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4076154" y="6083373"/>
            <a:ext cx="115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申请</a:t>
            </a:r>
            <a:r>
              <a:rPr lang="en-US" altLang="zh-CN" sz="2400" dirty="0"/>
              <a:t>/</a:t>
            </a:r>
            <a:r>
              <a:rPr lang="zh-CN" altLang="en-US" sz="2400" dirty="0"/>
              <a:t>释放页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4121417" cy="659706"/>
            <a:chOff x="563566" y="288855"/>
            <a:chExt cx="4121417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3350469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300" dirty="0" err="1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PagedAttention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17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083480" y="830598"/>
            <a:ext cx="9448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块大小</a:t>
            </a:r>
            <a:r>
              <a:rPr lang="en-US" altLang="zh-CN" sz="2400" b="1" dirty="0"/>
              <a:t>B</a:t>
            </a:r>
            <a:r>
              <a:rPr lang="zh-CN" altLang="en-US" sz="2400" dirty="0"/>
              <a:t>：一个块中</a:t>
            </a:r>
            <a:r>
              <a:rPr lang="en-US" altLang="zh-CN" sz="2400" dirty="0"/>
              <a:t>key</a:t>
            </a:r>
            <a:r>
              <a:rPr lang="zh-CN" altLang="en-US" sz="2400" dirty="0"/>
              <a:t>和</a:t>
            </a:r>
            <a:r>
              <a:rPr lang="en-US" altLang="zh-CN" sz="2400" dirty="0"/>
              <a:t>value</a:t>
            </a:r>
            <a:r>
              <a:rPr lang="zh-CN" altLang="en-US" sz="2400" dirty="0"/>
              <a:t>的数量。</a:t>
            </a:r>
            <a:r>
              <a:rPr lang="en-US" altLang="zh-CN" sz="2400" dirty="0"/>
              <a:t>B=8</a:t>
            </a:r>
            <a:r>
              <a:rPr lang="zh-CN" altLang="en-US" sz="2400" dirty="0"/>
              <a:t>代表有</a:t>
            </a:r>
            <a:r>
              <a:rPr lang="en-US" altLang="zh-CN" sz="2400" dirty="0"/>
              <a:t>8</a:t>
            </a:r>
            <a:r>
              <a:rPr lang="zh-CN" altLang="en-US" sz="2400" dirty="0"/>
              <a:t>个</a:t>
            </a:r>
            <a:r>
              <a:rPr lang="en-US" altLang="zh-CN" sz="2400" dirty="0"/>
              <a:t>key</a:t>
            </a:r>
            <a:r>
              <a:rPr lang="zh-CN" altLang="en-US" sz="2400" dirty="0"/>
              <a:t>和</a:t>
            </a:r>
            <a:r>
              <a:rPr lang="en-US" altLang="zh-CN" sz="2400" dirty="0"/>
              <a:t>8</a:t>
            </a:r>
            <a:r>
              <a:rPr lang="zh-CN" altLang="en-US" sz="2400" dirty="0"/>
              <a:t>个</a:t>
            </a:r>
            <a:r>
              <a:rPr lang="en-US" altLang="zh-CN" sz="2400" dirty="0"/>
              <a:t>value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 err="1"/>
              <a:t>Kj</a:t>
            </a:r>
            <a:r>
              <a:rPr lang="zh-CN" altLang="en-US" sz="2400" dirty="0"/>
              <a:t>：第</a:t>
            </a:r>
            <a:r>
              <a:rPr lang="en-US" altLang="zh-CN" sz="2400" dirty="0"/>
              <a:t>j</a:t>
            </a:r>
            <a:r>
              <a:rPr lang="zh-CN" altLang="en-US" sz="2400" dirty="0"/>
              <a:t>个块中</a:t>
            </a:r>
            <a:r>
              <a:rPr lang="en-US" altLang="zh-CN" sz="2400" dirty="0"/>
              <a:t>key</a:t>
            </a:r>
            <a:r>
              <a:rPr lang="zh-CN" altLang="en-US" sz="2400" dirty="0"/>
              <a:t>的集合</a:t>
            </a:r>
            <a:endParaRPr lang="en-US" altLang="zh-CN" sz="2400" dirty="0"/>
          </a:p>
          <a:p>
            <a:r>
              <a:rPr lang="en-US" altLang="zh-CN" sz="2400" dirty="0" err="1"/>
              <a:t>Vj</a:t>
            </a:r>
            <a:r>
              <a:rPr lang="zh-CN" altLang="en-US" sz="2400" dirty="0"/>
              <a:t>：第</a:t>
            </a:r>
            <a:r>
              <a:rPr lang="en-US" altLang="zh-CN" sz="2400" dirty="0"/>
              <a:t>j</a:t>
            </a:r>
            <a:r>
              <a:rPr lang="zh-CN" altLang="en-US" sz="2400" dirty="0"/>
              <a:t>个块中</a:t>
            </a:r>
            <a:r>
              <a:rPr lang="en-US" altLang="zh-CN" sz="2400" dirty="0"/>
              <a:t>value</a:t>
            </a:r>
            <a:r>
              <a:rPr lang="zh-CN" altLang="en-US" sz="2400" dirty="0"/>
              <a:t>的集合</a:t>
            </a:r>
            <a:endParaRPr lang="en-US" altLang="zh-CN" sz="2400" dirty="0"/>
          </a:p>
        </p:txBody>
      </p: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591" y="1229589"/>
            <a:ext cx="2648162" cy="40234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350" y="1661254"/>
            <a:ext cx="2384797" cy="27730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736" y="2013202"/>
            <a:ext cx="4380364" cy="83343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477713" y="3426341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9" name="矩形 28"/>
          <p:cNvSpPr/>
          <p:nvPr/>
        </p:nvSpPr>
        <p:spPr>
          <a:xfrm>
            <a:off x="5477713" y="3767371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3" name="矩形 32"/>
          <p:cNvSpPr/>
          <p:nvPr/>
        </p:nvSpPr>
        <p:spPr>
          <a:xfrm>
            <a:off x="5477712" y="5008781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52" name="矩形 51"/>
          <p:cNvSpPr/>
          <p:nvPr/>
        </p:nvSpPr>
        <p:spPr>
          <a:xfrm>
            <a:off x="4287933" y="3304343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53" name="矩形 52"/>
          <p:cNvSpPr/>
          <p:nvPr/>
        </p:nvSpPr>
        <p:spPr>
          <a:xfrm>
            <a:off x="4697778" y="3304343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54" name="矩形 53"/>
          <p:cNvSpPr/>
          <p:nvPr/>
        </p:nvSpPr>
        <p:spPr>
          <a:xfrm>
            <a:off x="4287933" y="4862384"/>
            <a:ext cx="415024" cy="11318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 </a:t>
            </a:r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55" name="矩形 54"/>
          <p:cNvSpPr/>
          <p:nvPr/>
        </p:nvSpPr>
        <p:spPr>
          <a:xfrm>
            <a:off x="4016320" y="3213531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016320" y="4774913"/>
            <a:ext cx="2634916" cy="1317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/>
          <p:cNvCxnSpPr>
            <a:endCxn id="55" idx="1"/>
          </p:cNvCxnSpPr>
          <p:nvPr/>
        </p:nvCxnSpPr>
        <p:spPr>
          <a:xfrm flipV="1">
            <a:off x="3185200" y="3872248"/>
            <a:ext cx="831120" cy="5224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56" idx="1"/>
          </p:cNvCxnSpPr>
          <p:nvPr/>
        </p:nvCxnSpPr>
        <p:spPr>
          <a:xfrm>
            <a:off x="3185200" y="4862384"/>
            <a:ext cx="831120" cy="5712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2485818" y="4436161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6657250" y="3826791"/>
            <a:ext cx="980577" cy="4787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6708799" y="4660473"/>
            <a:ext cx="929028" cy="7482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7664073" y="4297491"/>
            <a:ext cx="117363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计算结果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9357873" y="3519185"/>
            <a:ext cx="2279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意义</a:t>
            </a:r>
            <a:r>
              <a:rPr lang="zh-CN" altLang="en-US" sz="2400" dirty="0"/>
              <a:t>：实现了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在非连续存储的情况下仍然能保证正常计算。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717588" cy="659706"/>
            <a:chOff x="563566" y="288855"/>
            <a:chExt cx="371758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294664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vLLM</a:t>
              </a: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系统架构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.3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18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2540121" y="5284619"/>
            <a:ext cx="8799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调度器：中心化，并对多个</a:t>
            </a:r>
            <a:r>
              <a:rPr lang="en-US" altLang="zh-CN" sz="2400" dirty="0"/>
              <a:t>GPU</a:t>
            </a:r>
            <a:r>
              <a:rPr lang="zh-CN" altLang="en-US" sz="2400" dirty="0"/>
              <a:t>计算资源进行调度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FF0000"/>
                </a:solidFill>
              </a:rPr>
              <a:t>KVCache</a:t>
            </a:r>
            <a:r>
              <a:rPr lang="zh-CN" altLang="en-US" sz="2400" dirty="0">
                <a:solidFill>
                  <a:srgbClr val="FF0000"/>
                </a:solidFill>
              </a:rPr>
              <a:t>管理器</a:t>
            </a:r>
            <a:r>
              <a:rPr lang="zh-CN" altLang="en-US" sz="2400" dirty="0"/>
              <a:t>：用</a:t>
            </a:r>
            <a:r>
              <a:rPr lang="en-US" altLang="zh-CN" sz="2400" dirty="0" err="1"/>
              <a:t>PagedAttention</a:t>
            </a:r>
            <a:r>
              <a:rPr lang="zh-CN" altLang="en-US" sz="2400" dirty="0"/>
              <a:t>对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中的</a:t>
            </a:r>
            <a:r>
              <a:rPr lang="en-US" altLang="zh-CN" sz="2400" dirty="0"/>
              <a:t>Block</a:t>
            </a:r>
            <a:r>
              <a:rPr lang="zh-CN" altLang="en-US" sz="2400" dirty="0"/>
              <a:t>进行管理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927" y="1080040"/>
            <a:ext cx="7057634" cy="3785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4003051" cy="659706"/>
            <a:chOff x="563566" y="288855"/>
            <a:chExt cx="40030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32321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3300" dirty="0" err="1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KVC</a:t>
              </a:r>
              <a:r>
                <a:rPr lang="en-US" altLang="zh-CN" sz="3300" dirty="0" err="1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ache</a:t>
              </a: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管理器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.4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19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2774737" y="952870"/>
            <a:ext cx="87996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需求分析：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面向深度学习上层计算时，需要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管理器提供</a:t>
            </a:r>
            <a:r>
              <a:rPr lang="zh-CN" altLang="en-US" sz="2400" dirty="0">
                <a:solidFill>
                  <a:srgbClr val="FF0000"/>
                </a:solidFill>
              </a:rPr>
              <a:t>逻辑上连续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面向深度学习下层存储时，需要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管理器管理</a:t>
            </a:r>
            <a:r>
              <a:rPr lang="zh-CN" altLang="en-US" sz="2400" dirty="0">
                <a:solidFill>
                  <a:srgbClr val="FF0000"/>
                </a:solidFill>
              </a:rPr>
              <a:t>物理上不连续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。</a:t>
            </a:r>
          </a:p>
        </p:txBody>
      </p:sp>
      <p:sp>
        <p:nvSpPr>
          <p:cNvPr id="4" name="箭头: 下 3"/>
          <p:cNvSpPr/>
          <p:nvPr/>
        </p:nvSpPr>
        <p:spPr>
          <a:xfrm>
            <a:off x="3974768" y="3898913"/>
            <a:ext cx="637673" cy="8529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827421" y="5047247"/>
            <a:ext cx="3759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目标</a:t>
            </a:r>
            <a:r>
              <a:rPr lang="zh-CN" altLang="en-US" sz="2400" dirty="0"/>
              <a:t>：提供一种从</a:t>
            </a:r>
            <a:r>
              <a:rPr lang="zh-CN" altLang="en-US" sz="2400" dirty="0">
                <a:solidFill>
                  <a:srgbClr val="FF0000"/>
                </a:solidFill>
              </a:rPr>
              <a:t>逻辑空间到物理空间</a:t>
            </a:r>
            <a:r>
              <a:rPr lang="zh-CN" altLang="en-US" sz="2400" dirty="0"/>
              <a:t>的映射关系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6765483" y="5219105"/>
            <a:ext cx="818147" cy="4872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13168" y="5222520"/>
            <a:ext cx="270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OS</a:t>
            </a:r>
            <a:r>
              <a:rPr lang="zh-CN" altLang="en-US" sz="2400" dirty="0"/>
              <a:t>虚拟页表机制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4003051" cy="659706"/>
            <a:chOff x="563566" y="288855"/>
            <a:chExt cx="40030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32321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3300" dirty="0" err="1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KVC</a:t>
              </a:r>
              <a:r>
                <a:rPr lang="en-US" altLang="zh-CN" sz="3300" dirty="0" err="1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ache</a:t>
              </a: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管理器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.4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20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2774737" y="952870"/>
            <a:ext cx="8799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Block Table</a:t>
            </a:r>
            <a:r>
              <a:rPr lang="zh-CN" altLang="en-US" sz="2400" dirty="0"/>
              <a:t>：建立逻辑块和物理块的映射关系</a:t>
            </a:r>
            <a:endParaRPr lang="en-US" altLang="zh-CN" sz="2400" dirty="0"/>
          </a:p>
        </p:txBody>
      </p:sp>
      <p:sp>
        <p:nvSpPr>
          <p:cNvPr id="7" name="矩形 6"/>
          <p:cNvSpPr/>
          <p:nvPr/>
        </p:nvSpPr>
        <p:spPr>
          <a:xfrm>
            <a:off x="4221870" y="273706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" name="矩形 9"/>
          <p:cNvSpPr/>
          <p:nvPr/>
        </p:nvSpPr>
        <p:spPr>
          <a:xfrm>
            <a:off x="4754266" y="273706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3" name="矩形 12"/>
          <p:cNvSpPr/>
          <p:nvPr/>
        </p:nvSpPr>
        <p:spPr>
          <a:xfrm>
            <a:off x="4221869" y="3199658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9" name="矩形 18"/>
          <p:cNvSpPr/>
          <p:nvPr/>
        </p:nvSpPr>
        <p:spPr>
          <a:xfrm>
            <a:off x="2066918" y="3215305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0" name="矩形 19"/>
          <p:cNvSpPr/>
          <p:nvPr/>
        </p:nvSpPr>
        <p:spPr>
          <a:xfrm>
            <a:off x="2066918" y="3556335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2" name="矩形 21"/>
          <p:cNvSpPr/>
          <p:nvPr/>
        </p:nvSpPr>
        <p:spPr>
          <a:xfrm>
            <a:off x="2070247" y="3905377"/>
            <a:ext cx="1064795" cy="3444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3208970" y="3035555"/>
            <a:ext cx="235170" cy="196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749186" y="3199658"/>
            <a:ext cx="53239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196509" y="3662255"/>
            <a:ext cx="55267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36243" y="3657190"/>
            <a:ext cx="54534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221870" y="4141001"/>
            <a:ext cx="514374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33259" y="4146099"/>
            <a:ext cx="548326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447047" y="2779293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3447047" y="3237501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3434710" y="3632262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3447047" y="4128537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cxnSp>
        <p:nvCxnSpPr>
          <p:cNvPr id="37" name="直接箭头连接符 36"/>
          <p:cNvCxnSpPr>
            <a:endCxn id="33" idx="1"/>
          </p:cNvCxnSpPr>
          <p:nvPr/>
        </p:nvCxnSpPr>
        <p:spPr>
          <a:xfrm flipV="1">
            <a:off x="3168028" y="3422167"/>
            <a:ext cx="279019" cy="1200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9871686" y="2745946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68" name="矩形 67"/>
          <p:cNvSpPr/>
          <p:nvPr/>
        </p:nvSpPr>
        <p:spPr>
          <a:xfrm>
            <a:off x="10936481" y="2745946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70" name="矩形 69"/>
          <p:cNvSpPr/>
          <p:nvPr/>
        </p:nvSpPr>
        <p:spPr>
          <a:xfrm>
            <a:off x="10936480" y="3211931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846324" y="3671140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0911119" y="3674528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871686" y="3224646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936479" y="4135543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096863" y="2788178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9096863" y="3246386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9084526" y="3641147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9096863" y="4137422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9871685" y="4146099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4044174" y="2057436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逻辑空间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10164238" y="208014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物理空间</a:t>
            </a:r>
          </a:p>
        </p:txBody>
      </p:sp>
      <p:sp>
        <p:nvSpPr>
          <p:cNvPr id="82" name="矩形 81"/>
          <p:cNvSpPr/>
          <p:nvPr/>
        </p:nvSpPr>
        <p:spPr>
          <a:xfrm>
            <a:off x="6064485" y="2957887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物理块号</a:t>
            </a:r>
          </a:p>
        </p:txBody>
      </p:sp>
      <p:sp>
        <p:nvSpPr>
          <p:cNvPr id="90" name="矩形 89"/>
          <p:cNvSpPr/>
          <p:nvPr/>
        </p:nvSpPr>
        <p:spPr>
          <a:xfrm>
            <a:off x="7245712" y="2954499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填充数</a:t>
            </a:r>
          </a:p>
        </p:txBody>
      </p:sp>
      <p:sp>
        <p:nvSpPr>
          <p:cNvPr id="91" name="矩形 90"/>
          <p:cNvSpPr/>
          <p:nvPr/>
        </p:nvSpPr>
        <p:spPr>
          <a:xfrm>
            <a:off x="6065855" y="3300131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247082" y="3296743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64485" y="3625032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245712" y="3621644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065855" y="3967276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7247082" y="3963888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8" name="直接箭头连接符 97"/>
          <p:cNvCxnSpPr>
            <a:endCxn id="91" idx="1"/>
          </p:cNvCxnSpPr>
          <p:nvPr/>
        </p:nvCxnSpPr>
        <p:spPr>
          <a:xfrm>
            <a:off x="5292780" y="2906569"/>
            <a:ext cx="773075" cy="5657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93" idx="1"/>
          </p:cNvCxnSpPr>
          <p:nvPr/>
        </p:nvCxnSpPr>
        <p:spPr>
          <a:xfrm>
            <a:off x="5287701" y="3340456"/>
            <a:ext cx="776784" cy="456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endCxn id="75" idx="1"/>
          </p:cNvCxnSpPr>
          <p:nvPr/>
        </p:nvCxnSpPr>
        <p:spPr>
          <a:xfrm flipV="1">
            <a:off x="8451288" y="2972844"/>
            <a:ext cx="645575" cy="4748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94" idx="3"/>
            <a:endCxn id="78" idx="1"/>
          </p:cNvCxnSpPr>
          <p:nvPr/>
        </p:nvCxnSpPr>
        <p:spPr>
          <a:xfrm>
            <a:off x="8426939" y="3793846"/>
            <a:ext cx="669924" cy="528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2103233" y="5103912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cxnSp>
        <p:nvCxnSpPr>
          <p:cNvPr id="110" name="连接符: 肘形 109"/>
          <p:cNvCxnSpPr>
            <a:stCxn id="108" idx="0"/>
            <a:endCxn id="95" idx="2"/>
          </p:cNvCxnSpPr>
          <p:nvPr/>
        </p:nvCxnSpPr>
        <p:spPr>
          <a:xfrm rot="5400000" flipH="1" flipV="1">
            <a:off x="4249934" y="2697377"/>
            <a:ext cx="792232" cy="402083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椭圆 113"/>
          <p:cNvSpPr/>
          <p:nvPr/>
        </p:nvSpPr>
        <p:spPr>
          <a:xfrm>
            <a:off x="7640053" y="3668697"/>
            <a:ext cx="388560" cy="2985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6" name="连接符: 肘形 115"/>
          <p:cNvCxnSpPr>
            <a:stCxn id="108" idx="3"/>
            <a:endCxn id="74" idx="2"/>
          </p:cNvCxnSpPr>
          <p:nvPr/>
        </p:nvCxnSpPr>
        <p:spPr>
          <a:xfrm flipV="1">
            <a:off x="3168028" y="4479947"/>
            <a:ext cx="8300849" cy="796167"/>
          </a:xfrm>
          <a:prstGeom prst="bentConnector2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箭头: 下 118"/>
          <p:cNvSpPr/>
          <p:nvPr/>
        </p:nvSpPr>
        <p:spPr>
          <a:xfrm>
            <a:off x="7738710" y="4040502"/>
            <a:ext cx="254033" cy="463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7713974" y="4497869"/>
            <a:ext cx="31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1" name="文本框 120"/>
          <p:cNvSpPr txBox="1"/>
          <p:nvPr/>
        </p:nvSpPr>
        <p:spPr>
          <a:xfrm>
            <a:off x="3606962" y="5730723"/>
            <a:ext cx="5420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 Table</a:t>
            </a:r>
            <a:r>
              <a:rPr lang="zh-CN" altLang="en-US" sz="2400" dirty="0"/>
              <a:t>的加入极大的提升了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的动态性，能方便的分配和释放</a:t>
            </a:r>
            <a:r>
              <a:rPr lang="en-US" altLang="zh-CN" sz="2400" dirty="0"/>
              <a:t>block</a:t>
            </a:r>
            <a:endParaRPr lang="zh-CN" altLang="en-US" sz="2400" dirty="0"/>
          </a:p>
        </p:txBody>
      </p:sp>
      <p:cxnSp>
        <p:nvCxnSpPr>
          <p:cNvPr id="123" name="连接符: 肘形 122"/>
          <p:cNvCxnSpPr/>
          <p:nvPr/>
        </p:nvCxnSpPr>
        <p:spPr>
          <a:xfrm flipV="1">
            <a:off x="3208970" y="3480411"/>
            <a:ext cx="2072614" cy="1795703"/>
          </a:xfrm>
          <a:prstGeom prst="bentConnector3">
            <a:avLst>
              <a:gd name="adj1" fmla="val 111030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776650" cy="659706"/>
            <a:chOff x="563566" y="288855"/>
            <a:chExt cx="276550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99456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复杂推理模式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21870" y="273706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" name="矩形 9"/>
          <p:cNvSpPr/>
          <p:nvPr/>
        </p:nvSpPr>
        <p:spPr>
          <a:xfrm>
            <a:off x="4754266" y="273706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3" name="矩形 12"/>
          <p:cNvSpPr/>
          <p:nvPr/>
        </p:nvSpPr>
        <p:spPr>
          <a:xfrm>
            <a:off x="4221869" y="3199658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5" name="矩形 24"/>
          <p:cNvSpPr/>
          <p:nvPr/>
        </p:nvSpPr>
        <p:spPr>
          <a:xfrm>
            <a:off x="4749186" y="3199658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26" name="矩形 25"/>
          <p:cNvSpPr/>
          <p:nvPr/>
        </p:nvSpPr>
        <p:spPr>
          <a:xfrm>
            <a:off x="4196509" y="3662255"/>
            <a:ext cx="552678" cy="3444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36243" y="3657190"/>
            <a:ext cx="54534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221870" y="4141001"/>
            <a:ext cx="514374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33259" y="4146099"/>
            <a:ext cx="548326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447047" y="2779293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3447047" y="3237501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3434710" y="3632262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3447047" y="4128537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9871686" y="2745946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68" name="矩形 67"/>
          <p:cNvSpPr/>
          <p:nvPr/>
        </p:nvSpPr>
        <p:spPr>
          <a:xfrm>
            <a:off x="10936481" y="2745946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70" name="矩形 69"/>
          <p:cNvSpPr/>
          <p:nvPr/>
        </p:nvSpPr>
        <p:spPr>
          <a:xfrm>
            <a:off x="10936480" y="3211931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846324" y="3671140"/>
            <a:ext cx="1064795" cy="3444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0911119" y="3674528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871686" y="3224646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936479" y="4135543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9096863" y="2788178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9096863" y="3246386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9084526" y="3641147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9096863" y="4137422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9871685" y="4146099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4044174" y="2057436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逻辑空间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10164238" y="208014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物理空间</a:t>
            </a:r>
          </a:p>
        </p:txBody>
      </p:sp>
      <p:sp>
        <p:nvSpPr>
          <p:cNvPr id="82" name="矩形 81"/>
          <p:cNvSpPr/>
          <p:nvPr/>
        </p:nvSpPr>
        <p:spPr>
          <a:xfrm>
            <a:off x="6064485" y="2957887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物理块号</a:t>
            </a:r>
          </a:p>
        </p:txBody>
      </p:sp>
      <p:sp>
        <p:nvSpPr>
          <p:cNvPr id="90" name="矩形 89"/>
          <p:cNvSpPr/>
          <p:nvPr/>
        </p:nvSpPr>
        <p:spPr>
          <a:xfrm>
            <a:off x="7245712" y="2954499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填充数</a:t>
            </a:r>
          </a:p>
        </p:txBody>
      </p:sp>
      <p:sp>
        <p:nvSpPr>
          <p:cNvPr id="91" name="矩形 90"/>
          <p:cNvSpPr/>
          <p:nvPr/>
        </p:nvSpPr>
        <p:spPr>
          <a:xfrm>
            <a:off x="6065855" y="3300131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247082" y="3296743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64485" y="3625032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245712" y="3621644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065855" y="3967276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7247082" y="3963888"/>
            <a:ext cx="1181227" cy="3444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8" name="直接箭头连接符 97"/>
          <p:cNvCxnSpPr>
            <a:endCxn id="91" idx="1"/>
          </p:cNvCxnSpPr>
          <p:nvPr/>
        </p:nvCxnSpPr>
        <p:spPr>
          <a:xfrm>
            <a:off x="5292780" y="2906569"/>
            <a:ext cx="773075" cy="5657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93" idx="1"/>
          </p:cNvCxnSpPr>
          <p:nvPr/>
        </p:nvCxnSpPr>
        <p:spPr>
          <a:xfrm>
            <a:off x="5287701" y="3340456"/>
            <a:ext cx="776784" cy="456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endCxn id="75" idx="1"/>
          </p:cNvCxnSpPr>
          <p:nvPr/>
        </p:nvCxnSpPr>
        <p:spPr>
          <a:xfrm flipV="1">
            <a:off x="8451288" y="2972844"/>
            <a:ext cx="645575" cy="4748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94" idx="3"/>
            <a:endCxn id="78" idx="1"/>
          </p:cNvCxnSpPr>
          <p:nvPr/>
        </p:nvCxnSpPr>
        <p:spPr>
          <a:xfrm>
            <a:off x="8426939" y="3793846"/>
            <a:ext cx="669924" cy="528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2103233" y="5103912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cxnSp>
        <p:nvCxnSpPr>
          <p:cNvPr id="110" name="连接符: 肘形 109"/>
          <p:cNvCxnSpPr>
            <a:stCxn id="108" idx="0"/>
            <a:endCxn id="95" idx="2"/>
          </p:cNvCxnSpPr>
          <p:nvPr/>
        </p:nvCxnSpPr>
        <p:spPr>
          <a:xfrm rot="5400000" flipH="1" flipV="1">
            <a:off x="4249934" y="2697377"/>
            <a:ext cx="792232" cy="402083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/>
          <p:cNvCxnSpPr>
            <a:stCxn id="108" idx="3"/>
          </p:cNvCxnSpPr>
          <p:nvPr/>
        </p:nvCxnSpPr>
        <p:spPr>
          <a:xfrm flipV="1">
            <a:off x="3168028" y="4021470"/>
            <a:ext cx="6678296" cy="1254644"/>
          </a:xfrm>
          <a:prstGeom prst="bentConnector3">
            <a:avLst>
              <a:gd name="adj1" fmla="val 89365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3326555" y="5790560"/>
            <a:ext cx="680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无需预分配大量空间，而是随推理进行</a:t>
            </a:r>
            <a:r>
              <a:rPr lang="zh-CN" altLang="en-US" sz="2400" dirty="0">
                <a:solidFill>
                  <a:srgbClr val="FF0000"/>
                </a:solidFill>
              </a:rPr>
              <a:t>按需分配</a:t>
            </a:r>
            <a:r>
              <a:rPr lang="zh-CN" altLang="en-US" sz="2400" dirty="0"/>
              <a:t>。</a:t>
            </a:r>
          </a:p>
        </p:txBody>
      </p:sp>
      <p:cxnSp>
        <p:nvCxnSpPr>
          <p:cNvPr id="123" name="连接符: 肘形 122"/>
          <p:cNvCxnSpPr>
            <a:endCxn id="26" idx="0"/>
          </p:cNvCxnSpPr>
          <p:nvPr/>
        </p:nvCxnSpPr>
        <p:spPr>
          <a:xfrm rot="5400000" flipH="1" flipV="1">
            <a:off x="3033979" y="3837246"/>
            <a:ext cx="1613860" cy="1263878"/>
          </a:xfrm>
          <a:prstGeom prst="bentConnector3">
            <a:avLst>
              <a:gd name="adj1" fmla="val 104846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76358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基本模式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59426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并行采样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50724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集束搜索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049338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共享前缀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47952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混合模式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959433" y="920132"/>
            <a:ext cx="6809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基本模式：根据用户请求，一个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地生成并返回结果。</a:t>
            </a:r>
          </a:p>
        </p:txBody>
      </p:sp>
      <p:sp>
        <p:nvSpPr>
          <p:cNvPr id="23" name="椭圆 22"/>
          <p:cNvSpPr/>
          <p:nvPr/>
        </p:nvSpPr>
        <p:spPr>
          <a:xfrm>
            <a:off x="7624947" y="3651132"/>
            <a:ext cx="422033" cy="3100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/>
          <p:cNvCxnSpPr>
            <a:endCxn id="95" idx="1"/>
          </p:cNvCxnSpPr>
          <p:nvPr/>
        </p:nvCxnSpPr>
        <p:spPr>
          <a:xfrm>
            <a:off x="5264428" y="3775265"/>
            <a:ext cx="801427" cy="3642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96" idx="3"/>
            <a:endCxn id="77" idx="1"/>
          </p:cNvCxnSpPr>
          <p:nvPr/>
        </p:nvCxnSpPr>
        <p:spPr>
          <a:xfrm flipV="1">
            <a:off x="8428309" y="3825813"/>
            <a:ext cx="656217" cy="3102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776650" cy="659706"/>
            <a:chOff x="563566" y="288855"/>
            <a:chExt cx="276550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99456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复杂推理模式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976599" y="3116057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" name="矩形 9"/>
          <p:cNvSpPr/>
          <p:nvPr/>
        </p:nvSpPr>
        <p:spPr>
          <a:xfrm>
            <a:off x="3508995" y="3116057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3" name="矩形 12"/>
          <p:cNvSpPr/>
          <p:nvPr/>
        </p:nvSpPr>
        <p:spPr>
          <a:xfrm>
            <a:off x="2976598" y="3578654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5" name="矩形 24"/>
          <p:cNvSpPr/>
          <p:nvPr/>
        </p:nvSpPr>
        <p:spPr>
          <a:xfrm>
            <a:off x="3503915" y="3578654"/>
            <a:ext cx="53239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1238" y="4041251"/>
            <a:ext cx="55267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490972" y="4036186"/>
            <a:ext cx="54534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976599" y="4519997"/>
            <a:ext cx="514374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87988" y="4525095"/>
            <a:ext cx="548326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01776" y="3158289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201776" y="3616497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189439" y="4011258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2201776" y="4507533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5729427" y="3165022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68" name="矩形 67"/>
          <p:cNvSpPr/>
          <p:nvPr/>
        </p:nvSpPr>
        <p:spPr>
          <a:xfrm>
            <a:off x="6794222" y="3165022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70" name="矩形 69"/>
          <p:cNvSpPr/>
          <p:nvPr/>
        </p:nvSpPr>
        <p:spPr>
          <a:xfrm>
            <a:off x="6794221" y="3631007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704065" y="4090216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768860" y="4093604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729427" y="3643722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794220" y="4554619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954604" y="3207254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4954604" y="3665462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4942267" y="4060223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4954604" y="4556498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5729426" y="4565175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2798902" y="2436432"/>
            <a:ext cx="148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逻辑空间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6021979" y="2499219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物理空间</a:t>
            </a:r>
          </a:p>
        </p:txBody>
      </p:sp>
      <p:cxnSp>
        <p:nvCxnSpPr>
          <p:cNvPr id="98" name="直接箭头连接符 97"/>
          <p:cNvCxnSpPr>
            <a:endCxn id="75" idx="1"/>
          </p:cNvCxnSpPr>
          <p:nvPr/>
        </p:nvCxnSpPr>
        <p:spPr>
          <a:xfrm>
            <a:off x="4047509" y="3285565"/>
            <a:ext cx="907095" cy="1063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78" idx="1"/>
          </p:cNvCxnSpPr>
          <p:nvPr/>
        </p:nvCxnSpPr>
        <p:spPr>
          <a:xfrm>
            <a:off x="4042430" y="3719452"/>
            <a:ext cx="912174" cy="1021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3389640" y="5574126"/>
            <a:ext cx="680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提示词阶段，两个采样过程</a:t>
            </a:r>
            <a:r>
              <a:rPr lang="zh-CN" altLang="en-US" sz="2400" dirty="0">
                <a:solidFill>
                  <a:srgbClr val="FF0000"/>
                </a:solidFill>
              </a:rPr>
              <a:t>共享</a:t>
            </a:r>
            <a:r>
              <a:rPr lang="zh-CN" altLang="en-US" sz="2400" dirty="0"/>
              <a:t>所有的用户请求。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76358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59426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并行采样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50724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集束搜索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049338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共享前缀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47952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混合模式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72115" y="870671"/>
            <a:ext cx="839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并行采样：根据用户请求，模型会产生多个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序列作为返回的结果。</a:t>
            </a:r>
            <a:r>
              <a:rPr lang="en-US" altLang="zh-CN" sz="2400" dirty="0"/>
              <a:t>(</a:t>
            </a:r>
            <a:r>
              <a:rPr lang="zh-CN" altLang="en-US" sz="2400" dirty="0"/>
              <a:t>并行执行多个基本模式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3006684" y="1987639"/>
            <a:ext cx="99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采样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9136522" y="314558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0" name="矩形 19"/>
          <p:cNvSpPr/>
          <p:nvPr/>
        </p:nvSpPr>
        <p:spPr>
          <a:xfrm>
            <a:off x="9668918" y="314558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2" name="矩形 21"/>
          <p:cNvSpPr/>
          <p:nvPr/>
        </p:nvSpPr>
        <p:spPr>
          <a:xfrm>
            <a:off x="9136521" y="3608178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4" name="矩形 23"/>
          <p:cNvSpPr/>
          <p:nvPr/>
        </p:nvSpPr>
        <p:spPr>
          <a:xfrm>
            <a:off x="9663838" y="3608178"/>
            <a:ext cx="53239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111161" y="4070775"/>
            <a:ext cx="55267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650895" y="4065710"/>
            <a:ext cx="54534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136522" y="4549521"/>
            <a:ext cx="514374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647911" y="4554619"/>
            <a:ext cx="548326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201363" y="3155361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10201363" y="3613569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10189026" y="4008330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10201363" y="4504605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58" name="文本框 57"/>
          <p:cNvSpPr txBox="1"/>
          <p:nvPr/>
        </p:nvSpPr>
        <p:spPr>
          <a:xfrm>
            <a:off x="8958825" y="2465956"/>
            <a:ext cx="148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逻辑空间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9166607" y="2017163"/>
            <a:ext cx="99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采样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cxnSp>
        <p:nvCxnSpPr>
          <p:cNvPr id="60" name="直接箭头连接符 59"/>
          <p:cNvCxnSpPr>
            <a:stCxn id="19" idx="1"/>
            <a:endCxn id="68" idx="3"/>
          </p:cNvCxnSpPr>
          <p:nvPr/>
        </p:nvCxnSpPr>
        <p:spPr>
          <a:xfrm flipH="1">
            <a:off x="7859017" y="3317783"/>
            <a:ext cx="1277505" cy="19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22" idx="1"/>
            <a:endCxn id="74" idx="3"/>
          </p:cNvCxnSpPr>
          <p:nvPr/>
        </p:nvCxnSpPr>
        <p:spPr>
          <a:xfrm flipH="1">
            <a:off x="7859015" y="3780380"/>
            <a:ext cx="1277506" cy="946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7733939" y="2898097"/>
            <a:ext cx="762144" cy="3014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Ref:2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7658759" y="4832299"/>
            <a:ext cx="762144" cy="3014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Ref:2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776650" cy="659706"/>
            <a:chOff x="563566" y="288855"/>
            <a:chExt cx="276550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99456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复杂推理模式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976599" y="3116057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" name="矩形 9"/>
          <p:cNvSpPr/>
          <p:nvPr/>
        </p:nvSpPr>
        <p:spPr>
          <a:xfrm>
            <a:off x="3508995" y="3116057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3" name="矩形 12"/>
          <p:cNvSpPr/>
          <p:nvPr/>
        </p:nvSpPr>
        <p:spPr>
          <a:xfrm>
            <a:off x="2976598" y="3578654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5" name="矩形 24"/>
          <p:cNvSpPr/>
          <p:nvPr/>
        </p:nvSpPr>
        <p:spPr>
          <a:xfrm>
            <a:off x="3503915" y="3578654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26" name="矩形 25"/>
          <p:cNvSpPr/>
          <p:nvPr/>
        </p:nvSpPr>
        <p:spPr>
          <a:xfrm>
            <a:off x="2951238" y="4041251"/>
            <a:ext cx="55267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490972" y="4036186"/>
            <a:ext cx="54534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976599" y="4519997"/>
            <a:ext cx="514374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87988" y="4525095"/>
            <a:ext cx="548326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01776" y="3158289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201776" y="3616497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189439" y="4011258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2201776" y="4507533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5729427" y="3165022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68" name="矩形 67"/>
          <p:cNvSpPr/>
          <p:nvPr/>
        </p:nvSpPr>
        <p:spPr>
          <a:xfrm>
            <a:off x="6794222" y="3165022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70" name="矩形 69"/>
          <p:cNvSpPr/>
          <p:nvPr/>
        </p:nvSpPr>
        <p:spPr>
          <a:xfrm>
            <a:off x="6794221" y="3631007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729427" y="3643722"/>
            <a:ext cx="1064795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794220" y="4554619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4954604" y="3207254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4954604" y="3665462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4942267" y="4060223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4954604" y="4556498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5729426" y="4565175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2798902" y="2436432"/>
            <a:ext cx="148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逻辑空间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6021979" y="2499219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物理空间</a:t>
            </a:r>
          </a:p>
        </p:txBody>
      </p:sp>
      <p:cxnSp>
        <p:nvCxnSpPr>
          <p:cNvPr id="98" name="直接箭头连接符 97"/>
          <p:cNvCxnSpPr>
            <a:endCxn id="75" idx="1"/>
          </p:cNvCxnSpPr>
          <p:nvPr/>
        </p:nvCxnSpPr>
        <p:spPr>
          <a:xfrm>
            <a:off x="4047509" y="3285565"/>
            <a:ext cx="907095" cy="1063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78" idx="1"/>
          </p:cNvCxnSpPr>
          <p:nvPr/>
        </p:nvCxnSpPr>
        <p:spPr>
          <a:xfrm>
            <a:off x="4042430" y="3719452"/>
            <a:ext cx="912174" cy="1021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3503914" y="5506620"/>
            <a:ext cx="680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通过</a:t>
            </a:r>
            <a:r>
              <a:rPr lang="zh-CN" altLang="en-US" sz="2400" dirty="0">
                <a:solidFill>
                  <a:srgbClr val="FF0000"/>
                </a:solidFill>
              </a:rPr>
              <a:t>共享</a:t>
            </a:r>
            <a:r>
              <a:rPr lang="zh-CN" altLang="en-US" sz="2400" dirty="0"/>
              <a:t>相同的</a:t>
            </a:r>
            <a:r>
              <a:rPr lang="en-US" altLang="zh-CN" sz="2400" dirty="0"/>
              <a:t>block</a:t>
            </a:r>
            <a:r>
              <a:rPr lang="zh-CN" altLang="en-US" sz="2400" dirty="0"/>
              <a:t>，可以进一步减小存储开销。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76358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59426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并行采样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50724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定向搜索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049338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共享前缀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47952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混合模式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72115" y="870671"/>
            <a:ext cx="839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并行采样：根据用户请求，模型会产生多个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序列作为返回的结果。</a:t>
            </a:r>
            <a:r>
              <a:rPr lang="en-US" altLang="zh-CN" sz="2400" dirty="0"/>
              <a:t>(</a:t>
            </a:r>
            <a:r>
              <a:rPr lang="zh-CN" altLang="en-US" sz="2400" dirty="0"/>
              <a:t>并行执行多个基本模式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3006684" y="1987639"/>
            <a:ext cx="99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采样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9136522" y="314558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0" name="矩形 19"/>
          <p:cNvSpPr/>
          <p:nvPr/>
        </p:nvSpPr>
        <p:spPr>
          <a:xfrm>
            <a:off x="9668918" y="3145581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2" name="矩形 21"/>
          <p:cNvSpPr/>
          <p:nvPr/>
        </p:nvSpPr>
        <p:spPr>
          <a:xfrm>
            <a:off x="9136521" y="3608178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4" name="矩形 23"/>
          <p:cNvSpPr/>
          <p:nvPr/>
        </p:nvSpPr>
        <p:spPr>
          <a:xfrm>
            <a:off x="9663838" y="3608178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sp>
        <p:nvSpPr>
          <p:cNvPr id="36" name="矩形 35"/>
          <p:cNvSpPr/>
          <p:nvPr/>
        </p:nvSpPr>
        <p:spPr>
          <a:xfrm>
            <a:off x="9111161" y="4070775"/>
            <a:ext cx="552678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650895" y="4065710"/>
            <a:ext cx="54534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136522" y="4549521"/>
            <a:ext cx="514374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647911" y="4554619"/>
            <a:ext cx="548326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201363" y="3155361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10201363" y="3613569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10189026" y="4008330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10201363" y="4504605"/>
            <a:ext cx="83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58" name="文本框 57"/>
          <p:cNvSpPr txBox="1"/>
          <p:nvPr/>
        </p:nvSpPr>
        <p:spPr>
          <a:xfrm>
            <a:off x="8958825" y="2465956"/>
            <a:ext cx="148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逻辑空间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9166607" y="2017163"/>
            <a:ext cx="99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采样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859017" y="3317783"/>
            <a:ext cx="1277505" cy="19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7906612" y="3780380"/>
            <a:ext cx="1229909" cy="776118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2" idx="1"/>
          </p:cNvCxnSpPr>
          <p:nvPr/>
        </p:nvCxnSpPr>
        <p:spPr>
          <a:xfrm flipH="1">
            <a:off x="7851903" y="3780380"/>
            <a:ext cx="1284618" cy="344404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6775972" y="4080625"/>
            <a:ext cx="1064795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sp>
        <p:nvSpPr>
          <p:cNvPr id="62" name="矩形 61"/>
          <p:cNvSpPr/>
          <p:nvPr/>
        </p:nvSpPr>
        <p:spPr>
          <a:xfrm>
            <a:off x="5711178" y="4091181"/>
            <a:ext cx="1064795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65" name="箭头: 右弧形 64"/>
          <p:cNvSpPr/>
          <p:nvPr/>
        </p:nvSpPr>
        <p:spPr>
          <a:xfrm flipV="1">
            <a:off x="8008112" y="4139576"/>
            <a:ext cx="376090" cy="630666"/>
          </a:xfrm>
          <a:prstGeom prst="curvedLeftArrow">
            <a:avLst>
              <a:gd name="adj1" fmla="val 25000"/>
              <a:gd name="adj2" fmla="val 80029"/>
              <a:gd name="adj3" fmla="val 25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481611" y="4846893"/>
            <a:ext cx="156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Copy-on-write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733939" y="2898097"/>
            <a:ext cx="762144" cy="3014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Ref:2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806899" y="4853093"/>
            <a:ext cx="762144" cy="3014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Ref:1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905512" y="3824037"/>
            <a:ext cx="762144" cy="3014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Ref:1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776650" cy="659706"/>
            <a:chOff x="563566" y="288855"/>
            <a:chExt cx="276550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99456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复杂推理模式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24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286613" y="3283435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" name="矩形 9"/>
          <p:cNvSpPr/>
          <p:nvPr/>
        </p:nvSpPr>
        <p:spPr>
          <a:xfrm>
            <a:off x="2819009" y="3283435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3" name="矩形 12"/>
          <p:cNvSpPr/>
          <p:nvPr/>
        </p:nvSpPr>
        <p:spPr>
          <a:xfrm>
            <a:off x="3337580" y="3291159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5" name="矩形 24"/>
          <p:cNvSpPr/>
          <p:nvPr/>
        </p:nvSpPr>
        <p:spPr>
          <a:xfrm>
            <a:off x="4460872" y="2695754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2306407" y="4992060"/>
            <a:ext cx="476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集束搜索构成了复杂的树结构，意味着推理过程中可以有更多的共享</a:t>
            </a:r>
            <a:r>
              <a:rPr lang="en-US" altLang="zh-CN" sz="2400" dirty="0"/>
              <a:t>block</a:t>
            </a:r>
            <a:r>
              <a:rPr lang="zh-CN" altLang="en-US" sz="2400" dirty="0"/>
              <a:t>，而最终完成推理的时候也需要对裁剪掉的树枝进行释放。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76358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59426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并行采样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50724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集束搜索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049338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共享前缀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47952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混合模式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72115" y="870671"/>
            <a:ext cx="839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之前介绍产生下一个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的方式是选取条件概率最大的</a:t>
            </a:r>
            <a:r>
              <a:rPr lang="en-US" altLang="zh-CN" sz="2400" dirty="0"/>
              <a:t>token</a:t>
            </a:r>
            <a:r>
              <a:rPr lang="zh-CN" altLang="en-US" sz="2400" dirty="0"/>
              <a:t>，是一种贪心搜索的策略。而集束搜索则是</a:t>
            </a:r>
            <a:r>
              <a:rPr lang="zh-CN" altLang="en-US" sz="2400" dirty="0">
                <a:solidFill>
                  <a:srgbClr val="FF0000"/>
                </a:solidFill>
              </a:rPr>
              <a:t>选取概率最大的</a:t>
            </a:r>
            <a:r>
              <a:rPr lang="en-US" altLang="zh-CN" sz="2400" dirty="0">
                <a:solidFill>
                  <a:srgbClr val="FF0000"/>
                </a:solidFill>
              </a:rPr>
              <a:t>Top-K</a:t>
            </a:r>
            <a:r>
              <a:rPr lang="zh-CN" altLang="en-US" sz="2400" dirty="0">
                <a:solidFill>
                  <a:srgbClr val="FF0000"/>
                </a:solidFill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</a:rPr>
              <a:t>token</a:t>
            </a:r>
            <a:r>
              <a:rPr lang="zh-CN" altLang="en-US" sz="2400" dirty="0"/>
              <a:t>，再根据这</a:t>
            </a:r>
            <a:r>
              <a:rPr lang="en-US" altLang="zh-CN" sz="2400" dirty="0"/>
              <a:t>k</a:t>
            </a:r>
            <a:r>
              <a:rPr lang="zh-CN" altLang="en-US" sz="2400" dirty="0"/>
              <a:t>个</a:t>
            </a:r>
            <a:r>
              <a:rPr lang="en-US" altLang="zh-CN" sz="2400" dirty="0"/>
              <a:t>token</a:t>
            </a:r>
            <a:r>
              <a:rPr lang="zh-CN" altLang="en-US" sz="2400" dirty="0"/>
              <a:t>继续下一轮的计算。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2549511" y="2112756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K=2</a:t>
            </a:r>
            <a:endParaRPr lang="zh-CN" altLang="en-US" sz="2400" dirty="0"/>
          </a:p>
        </p:txBody>
      </p:sp>
      <p:cxnSp>
        <p:nvCxnSpPr>
          <p:cNvPr id="60" name="直接箭头连接符 59"/>
          <p:cNvCxnSpPr>
            <a:endCxn id="25" idx="1"/>
          </p:cNvCxnSpPr>
          <p:nvPr/>
        </p:nvCxnSpPr>
        <p:spPr>
          <a:xfrm flipV="1">
            <a:off x="3869977" y="2867956"/>
            <a:ext cx="590895" cy="4232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460872" y="3736699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cxnSp>
        <p:nvCxnSpPr>
          <p:cNvPr id="64" name="直接箭头连接符 63"/>
          <p:cNvCxnSpPr>
            <a:endCxn id="63" idx="1"/>
          </p:cNvCxnSpPr>
          <p:nvPr/>
        </p:nvCxnSpPr>
        <p:spPr>
          <a:xfrm>
            <a:off x="3869976" y="3627839"/>
            <a:ext cx="590896" cy="2810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4982581" y="2342484"/>
            <a:ext cx="590895" cy="4232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5561350" y="2243845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车</a:t>
            </a:r>
          </a:p>
        </p:txBody>
      </p:sp>
      <p:cxnSp>
        <p:nvCxnSpPr>
          <p:cNvPr id="83" name="直接箭头连接符 82"/>
          <p:cNvCxnSpPr>
            <a:endCxn id="86" idx="1"/>
          </p:cNvCxnSpPr>
          <p:nvPr/>
        </p:nvCxnSpPr>
        <p:spPr>
          <a:xfrm>
            <a:off x="4962312" y="3039591"/>
            <a:ext cx="599038" cy="2086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5561350" y="3076002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cxnSp>
        <p:nvCxnSpPr>
          <p:cNvPr id="88" name="直接箭头连接符 87"/>
          <p:cNvCxnSpPr/>
          <p:nvPr/>
        </p:nvCxnSpPr>
        <p:spPr>
          <a:xfrm flipV="1">
            <a:off x="5008383" y="3666765"/>
            <a:ext cx="536967" cy="2457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5561350" y="3512485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宗</a:t>
            </a:r>
          </a:p>
        </p:txBody>
      </p:sp>
      <p:cxnSp>
        <p:nvCxnSpPr>
          <p:cNvPr id="92" name="直接箭头连接符 91"/>
          <p:cNvCxnSpPr>
            <a:endCxn id="94" idx="1"/>
          </p:cNvCxnSpPr>
          <p:nvPr/>
        </p:nvCxnSpPr>
        <p:spPr>
          <a:xfrm>
            <a:off x="5011588" y="4057609"/>
            <a:ext cx="549762" cy="2012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5561350" y="4086628"/>
            <a:ext cx="532398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国</a:t>
            </a:r>
          </a:p>
        </p:txBody>
      </p:sp>
      <p:sp>
        <p:nvSpPr>
          <p:cNvPr id="101" name="矩形 100"/>
          <p:cNvSpPr/>
          <p:nvPr/>
        </p:nvSpPr>
        <p:spPr>
          <a:xfrm>
            <a:off x="7371697" y="324218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02" name="矩形 101"/>
          <p:cNvSpPr/>
          <p:nvPr/>
        </p:nvSpPr>
        <p:spPr>
          <a:xfrm>
            <a:off x="7904093" y="324218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03" name="箭头: 右 102"/>
          <p:cNvSpPr/>
          <p:nvPr/>
        </p:nvSpPr>
        <p:spPr>
          <a:xfrm>
            <a:off x="6421397" y="3203262"/>
            <a:ext cx="652610" cy="383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7493121" y="3669120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block1</a:t>
            </a:r>
            <a:endParaRPr lang="zh-CN" altLang="en-US" dirty="0"/>
          </a:p>
        </p:txBody>
      </p:sp>
      <p:sp>
        <p:nvSpPr>
          <p:cNvPr id="105" name="矩形 104"/>
          <p:cNvSpPr/>
          <p:nvPr/>
        </p:nvSpPr>
        <p:spPr>
          <a:xfrm>
            <a:off x="8747342" y="2368489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06" name="矩形 105"/>
          <p:cNvSpPr/>
          <p:nvPr/>
        </p:nvSpPr>
        <p:spPr>
          <a:xfrm>
            <a:off x="9279738" y="2368489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8868766" y="2795421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block2</a:t>
            </a:r>
            <a:endParaRPr lang="zh-CN" altLang="en-US" dirty="0"/>
          </a:p>
        </p:txBody>
      </p:sp>
      <p:sp>
        <p:nvSpPr>
          <p:cNvPr id="108" name="矩形 107"/>
          <p:cNvSpPr/>
          <p:nvPr/>
        </p:nvSpPr>
        <p:spPr>
          <a:xfrm>
            <a:off x="8752434" y="3782799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09" name="矩形 108"/>
          <p:cNvSpPr/>
          <p:nvPr/>
        </p:nvSpPr>
        <p:spPr>
          <a:xfrm>
            <a:off x="9284830" y="3782799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8873858" y="4209731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block3</a:t>
            </a:r>
            <a:endParaRPr lang="zh-CN" altLang="en-US" dirty="0"/>
          </a:p>
        </p:txBody>
      </p:sp>
      <p:cxnSp>
        <p:nvCxnSpPr>
          <p:cNvPr id="111" name="直接箭头连接符 110"/>
          <p:cNvCxnSpPr/>
          <p:nvPr/>
        </p:nvCxnSpPr>
        <p:spPr>
          <a:xfrm flipV="1">
            <a:off x="8127216" y="2768485"/>
            <a:ext cx="590895" cy="4232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8143945" y="3647472"/>
            <a:ext cx="590896" cy="2810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V="1">
            <a:off x="9806305" y="2048867"/>
            <a:ext cx="590895" cy="4232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9841688" y="2572362"/>
            <a:ext cx="590896" cy="2810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9802656" y="3545705"/>
            <a:ext cx="590895" cy="4232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9838039" y="4069200"/>
            <a:ext cx="590896" cy="2810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/>
        </p:nvSpPr>
        <p:spPr>
          <a:xfrm>
            <a:off x="10418624" y="1892937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车</a:t>
            </a:r>
          </a:p>
        </p:txBody>
      </p:sp>
      <p:sp>
        <p:nvSpPr>
          <p:cNvPr id="119" name="矩形 118"/>
          <p:cNvSpPr/>
          <p:nvPr/>
        </p:nvSpPr>
        <p:spPr>
          <a:xfrm>
            <a:off x="10951020" y="1892937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0540048" y="2319869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block4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10433500" y="273719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123" name="矩形 122"/>
          <p:cNvSpPr/>
          <p:nvPr/>
        </p:nvSpPr>
        <p:spPr>
          <a:xfrm>
            <a:off x="10965896" y="273719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0554924" y="3164130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block5</a:t>
            </a:r>
            <a:endParaRPr lang="zh-CN" altLang="en-US" dirty="0"/>
          </a:p>
        </p:txBody>
      </p:sp>
      <p:sp>
        <p:nvSpPr>
          <p:cNvPr id="125" name="矩形 124"/>
          <p:cNvSpPr/>
          <p:nvPr/>
        </p:nvSpPr>
        <p:spPr>
          <a:xfrm>
            <a:off x="10472861" y="3484232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宗</a:t>
            </a:r>
          </a:p>
        </p:txBody>
      </p:sp>
      <p:sp>
        <p:nvSpPr>
          <p:cNvPr id="126" name="矩形 125"/>
          <p:cNvSpPr/>
          <p:nvPr/>
        </p:nvSpPr>
        <p:spPr>
          <a:xfrm>
            <a:off x="11005257" y="3484232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0594285" y="3911164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10488748" y="4280496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国</a:t>
            </a:r>
          </a:p>
        </p:txBody>
      </p:sp>
      <p:sp>
        <p:nvSpPr>
          <p:cNvPr id="129" name="矩形 128"/>
          <p:cNvSpPr/>
          <p:nvPr/>
        </p:nvSpPr>
        <p:spPr>
          <a:xfrm>
            <a:off x="11021144" y="4280496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554920" y="4707428"/>
            <a:ext cx="9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block7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6D1A60-B2C6-47E0-86FB-A92093979D35}"/>
              </a:ext>
            </a:extLst>
          </p:cNvPr>
          <p:cNvSpPr/>
          <p:nvPr/>
        </p:nvSpPr>
        <p:spPr>
          <a:xfrm>
            <a:off x="7242002" y="5119034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8CE22E-B464-BE70-895A-ABCEEDC9B131}"/>
              </a:ext>
            </a:extLst>
          </p:cNvPr>
          <p:cNvSpPr/>
          <p:nvPr/>
        </p:nvSpPr>
        <p:spPr>
          <a:xfrm>
            <a:off x="7774398" y="5119034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8D9811-CF29-05D0-2F9A-F763C2658378}"/>
              </a:ext>
            </a:extLst>
          </p:cNvPr>
          <p:cNvSpPr/>
          <p:nvPr/>
        </p:nvSpPr>
        <p:spPr>
          <a:xfrm>
            <a:off x="8514406" y="5132941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879D75-27F7-9DCB-067D-08989ACDE4D3}"/>
              </a:ext>
            </a:extLst>
          </p:cNvPr>
          <p:cNvSpPr/>
          <p:nvPr/>
        </p:nvSpPr>
        <p:spPr>
          <a:xfrm>
            <a:off x="9046802" y="5132941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690699-D480-7601-AF2C-9CFE05D947AE}"/>
              </a:ext>
            </a:extLst>
          </p:cNvPr>
          <p:cNvSpPr/>
          <p:nvPr/>
        </p:nvSpPr>
        <p:spPr>
          <a:xfrm>
            <a:off x="9867836" y="5117560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车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BC1F6F-A106-7E0C-FB85-BE7912A888DE}"/>
              </a:ext>
            </a:extLst>
          </p:cNvPr>
          <p:cNvSpPr/>
          <p:nvPr/>
        </p:nvSpPr>
        <p:spPr>
          <a:xfrm>
            <a:off x="10400232" y="5117560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9EAB12-B1DE-033C-1AE6-EE6C47587E8F}"/>
              </a:ext>
            </a:extLst>
          </p:cNvPr>
          <p:cNvSpPr/>
          <p:nvPr/>
        </p:nvSpPr>
        <p:spPr>
          <a:xfrm>
            <a:off x="7237024" y="5602632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ACAB6F-8246-3B4A-86AD-AF6CE77A72AA}"/>
              </a:ext>
            </a:extLst>
          </p:cNvPr>
          <p:cNvSpPr/>
          <p:nvPr/>
        </p:nvSpPr>
        <p:spPr>
          <a:xfrm>
            <a:off x="7769420" y="5602632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69850D-D7F1-51A2-0E76-0D71336E7BAD}"/>
              </a:ext>
            </a:extLst>
          </p:cNvPr>
          <p:cNvSpPr/>
          <p:nvPr/>
        </p:nvSpPr>
        <p:spPr>
          <a:xfrm>
            <a:off x="8509428" y="5616539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2C7A26-141A-CC04-A6E6-FA719EC81032}"/>
              </a:ext>
            </a:extLst>
          </p:cNvPr>
          <p:cNvSpPr/>
          <p:nvPr/>
        </p:nvSpPr>
        <p:spPr>
          <a:xfrm>
            <a:off x="9041824" y="5616539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926DC3-202F-FD92-366B-5807646D9D80}"/>
              </a:ext>
            </a:extLst>
          </p:cNvPr>
          <p:cNvSpPr/>
          <p:nvPr/>
        </p:nvSpPr>
        <p:spPr>
          <a:xfrm>
            <a:off x="9862858" y="560115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AD82DF-F610-4EB9-B4EA-604B790B4BF9}"/>
              </a:ext>
            </a:extLst>
          </p:cNvPr>
          <p:cNvSpPr/>
          <p:nvPr/>
        </p:nvSpPr>
        <p:spPr>
          <a:xfrm>
            <a:off x="10395254" y="560115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1E5239-AC5C-F67C-4B8E-E09436EE1D29}"/>
              </a:ext>
            </a:extLst>
          </p:cNvPr>
          <p:cNvSpPr/>
          <p:nvPr/>
        </p:nvSpPr>
        <p:spPr>
          <a:xfrm>
            <a:off x="7223059" y="6067520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1B98E2E-03BC-30D9-A86E-FED99FA841DF}"/>
              </a:ext>
            </a:extLst>
          </p:cNvPr>
          <p:cNvSpPr/>
          <p:nvPr/>
        </p:nvSpPr>
        <p:spPr>
          <a:xfrm>
            <a:off x="7755455" y="6067520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97D7F94-502C-2FC9-95EB-851CA8A1B855}"/>
              </a:ext>
            </a:extLst>
          </p:cNvPr>
          <p:cNvSpPr/>
          <p:nvPr/>
        </p:nvSpPr>
        <p:spPr>
          <a:xfrm>
            <a:off x="8495463" y="6081427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E6EDFA4-FA32-874E-408A-E63928A8EAB7}"/>
              </a:ext>
            </a:extLst>
          </p:cNvPr>
          <p:cNvSpPr/>
          <p:nvPr/>
        </p:nvSpPr>
        <p:spPr>
          <a:xfrm>
            <a:off x="9027859" y="6081427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BDF14DD-D461-689F-6E1D-D14E80BB9E38}"/>
              </a:ext>
            </a:extLst>
          </p:cNvPr>
          <p:cNvSpPr/>
          <p:nvPr/>
        </p:nvSpPr>
        <p:spPr>
          <a:xfrm>
            <a:off x="9848893" y="6066046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宗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5427486-5908-51C1-9963-FA05AE43648F}"/>
              </a:ext>
            </a:extLst>
          </p:cNvPr>
          <p:cNvSpPr/>
          <p:nvPr/>
        </p:nvSpPr>
        <p:spPr>
          <a:xfrm>
            <a:off x="10381289" y="6066046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2C62168-FBE4-E35B-7758-94295F25FD85}"/>
              </a:ext>
            </a:extLst>
          </p:cNvPr>
          <p:cNvSpPr/>
          <p:nvPr/>
        </p:nvSpPr>
        <p:spPr>
          <a:xfrm>
            <a:off x="7225940" y="6509771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EECDEBD-1374-BBE2-7BCF-A625A44A9D78}"/>
              </a:ext>
            </a:extLst>
          </p:cNvPr>
          <p:cNvSpPr/>
          <p:nvPr/>
        </p:nvSpPr>
        <p:spPr>
          <a:xfrm>
            <a:off x="7758336" y="6509771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DB9F9B6-B882-C2A6-3D69-6E554355683C}"/>
              </a:ext>
            </a:extLst>
          </p:cNvPr>
          <p:cNvSpPr/>
          <p:nvPr/>
        </p:nvSpPr>
        <p:spPr>
          <a:xfrm>
            <a:off x="8498344" y="652367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28E438E-9849-87E0-3E60-E31B184F8F92}"/>
              </a:ext>
            </a:extLst>
          </p:cNvPr>
          <p:cNvSpPr/>
          <p:nvPr/>
        </p:nvSpPr>
        <p:spPr>
          <a:xfrm>
            <a:off x="9030740" y="6523678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祖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1FCCFEA-19E9-11D6-4E39-65022B0FE775}"/>
              </a:ext>
            </a:extLst>
          </p:cNvPr>
          <p:cNvSpPr/>
          <p:nvPr/>
        </p:nvSpPr>
        <p:spPr>
          <a:xfrm>
            <a:off x="9851774" y="6508297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国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F27AB90-1597-B641-4F70-4633D3FE59BA}"/>
              </a:ext>
            </a:extLst>
          </p:cNvPr>
          <p:cNvSpPr/>
          <p:nvPr/>
        </p:nvSpPr>
        <p:spPr>
          <a:xfrm>
            <a:off x="10384170" y="6508297"/>
            <a:ext cx="518571" cy="3444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776650" cy="659706"/>
            <a:chOff x="563566" y="288855"/>
            <a:chExt cx="276550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99456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复杂推理模式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.5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25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2691420" y="4933192"/>
            <a:ext cx="8545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混合模式：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能很好的支持多种复杂推理模式，其核心在于通过一个映射层将逻辑块映射为物理块，该映射层很好的隐藏了不同序列之间的内存共享。而这是现有系统无法做到的。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76358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59426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并行采样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50724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集束搜索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049338" y="182848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共享前缀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47952" y="190656"/>
            <a:ext cx="12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混合模式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72115" y="870671"/>
            <a:ext cx="839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共享前缀是指不同的用户请求具有相同的提示词部分，而当今提示词模板被广泛使用，因此是一种常见的情况。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896" y="1739173"/>
            <a:ext cx="8137597" cy="2834339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1901740" y="2252668"/>
            <a:ext cx="12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共享前缀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1913549" y="3030231"/>
            <a:ext cx="12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任务输入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913549" y="4097128"/>
            <a:ext cx="12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任务输出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调度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26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6676" y="212651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接收用户请求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9842" y="212651"/>
            <a:ext cx="163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存储资源耗尽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858605" y="1526394"/>
            <a:ext cx="839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用户请求如果超出了系统容量，必然需要设置合理的调度策略来处理用户请求。需要保证公平性，也要防止饥饿现象。</a:t>
            </a:r>
            <a:endParaRPr lang="en-US" altLang="zh-CN" sz="2400" dirty="0"/>
          </a:p>
          <a:p>
            <a:r>
              <a:rPr lang="zh-CN" altLang="en-US" sz="2400" dirty="0"/>
              <a:t>调度策略：</a:t>
            </a:r>
            <a:r>
              <a:rPr lang="en-US" altLang="zh-CN" sz="2400" dirty="0"/>
              <a:t>FCFS(</a:t>
            </a:r>
            <a:r>
              <a:rPr lang="zh-CN" altLang="en-US" sz="2400" dirty="0"/>
              <a:t>先来先服务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930118" y="3392909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548667" y="3392909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176166" y="3392909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803665" y="3392908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7422214" y="3392908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040763" y="3392908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284286" y="3392908"/>
            <a:ext cx="157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请求队列</a:t>
            </a:r>
          </a:p>
        </p:txBody>
      </p:sp>
      <p:sp>
        <p:nvSpPr>
          <p:cNvPr id="20" name="矩形 19"/>
          <p:cNvSpPr/>
          <p:nvPr/>
        </p:nvSpPr>
        <p:spPr>
          <a:xfrm>
            <a:off x="4930118" y="4349419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928695" y="4716382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928695" y="5083345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284286" y="4559220"/>
            <a:ext cx="1570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最大处理数：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4928695" y="4349419"/>
            <a:ext cx="1020922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U1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949617" y="4349418"/>
            <a:ext cx="1579501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923363" y="4714814"/>
            <a:ext cx="2223395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U2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131891" y="4714813"/>
            <a:ext cx="1121773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930119" y="5089063"/>
            <a:ext cx="802930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U3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5733049" y="5080207"/>
            <a:ext cx="1979194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8040763" y="3392907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U4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6803665" y="3391339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U6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7418113" y="3385621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U5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调度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27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6676" y="212651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接收用户请求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9842" y="212651"/>
            <a:ext cx="163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存储资源耗尽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900714" y="1460221"/>
            <a:ext cx="839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用户请求如果超出了系统容量，必然需要设置合理的调度策略来处理用户请求。需要保证公平性，也要防止饥饿现象。</a:t>
            </a:r>
            <a:endParaRPr lang="en-US" altLang="zh-CN" sz="2400" dirty="0"/>
          </a:p>
          <a:p>
            <a:r>
              <a:rPr lang="zh-CN" altLang="en-US" sz="2400" dirty="0"/>
              <a:t>调度策略：</a:t>
            </a:r>
            <a:r>
              <a:rPr lang="en-US" altLang="zh-CN" sz="2400" dirty="0"/>
              <a:t>FCFS(</a:t>
            </a:r>
            <a:r>
              <a:rPr lang="zh-CN" altLang="en-US" sz="2400" dirty="0"/>
              <a:t>先来先服务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972227" y="3326736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590776" y="3326736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218275" y="3326736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845774" y="3326735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7464323" y="3326735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082872" y="3326735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326395" y="3326735"/>
            <a:ext cx="157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请求队列</a:t>
            </a:r>
          </a:p>
        </p:txBody>
      </p:sp>
      <p:sp>
        <p:nvSpPr>
          <p:cNvPr id="20" name="矩形 19"/>
          <p:cNvSpPr/>
          <p:nvPr/>
        </p:nvSpPr>
        <p:spPr>
          <a:xfrm>
            <a:off x="4972227" y="4283246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970804" y="4650209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970804" y="5017172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26395" y="4493047"/>
            <a:ext cx="1570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最大处理数：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4970804" y="4283246"/>
            <a:ext cx="1020922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U1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991726" y="4283245"/>
            <a:ext cx="1888957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972228" y="5022890"/>
            <a:ext cx="802930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U3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5775158" y="5014034"/>
            <a:ext cx="2364204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8082872" y="3326734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U4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6845774" y="3325166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U6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7460222" y="3319448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U5</a:t>
            </a:r>
            <a:endParaRPr lang="zh-CN" altLang="en-US" dirty="0"/>
          </a:p>
        </p:txBody>
      </p:sp>
      <p:cxnSp>
        <p:nvCxnSpPr>
          <p:cNvPr id="14" name="连接符: 肘形 13"/>
          <p:cNvCxnSpPr>
            <a:stCxn id="33" idx="2"/>
            <a:endCxn id="22" idx="1"/>
          </p:cNvCxnSpPr>
          <p:nvPr/>
        </p:nvCxnSpPr>
        <p:spPr>
          <a:xfrm rot="5400000">
            <a:off x="6113716" y="2550785"/>
            <a:ext cx="1139994" cy="3425818"/>
          </a:xfrm>
          <a:prstGeom prst="bentConnector4">
            <a:avLst>
              <a:gd name="adj1" fmla="val 28760"/>
              <a:gd name="adj2" fmla="val 10667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调度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28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6676" y="212651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接收用户请求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9842" y="212651"/>
            <a:ext cx="163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存储资源耗尽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894702" y="1502325"/>
            <a:ext cx="839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用户请求如果超出了系统容量，必然需要设置合理的调度策略来处理用户请求。需要保证公平性，也要防止饥饿现象。</a:t>
            </a:r>
            <a:endParaRPr lang="en-US" altLang="zh-CN" sz="2400" dirty="0"/>
          </a:p>
          <a:p>
            <a:r>
              <a:rPr lang="zh-CN" altLang="en-US" sz="2400" dirty="0"/>
              <a:t>调度策略：</a:t>
            </a:r>
            <a:r>
              <a:rPr lang="en-US" altLang="zh-CN" sz="2400" dirty="0"/>
              <a:t>FCFS(</a:t>
            </a:r>
            <a:r>
              <a:rPr lang="zh-CN" altLang="en-US" sz="2400" dirty="0"/>
              <a:t>先来先服务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966215" y="3368840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584764" y="3368840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212263" y="3368840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839762" y="3368839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7458311" y="3368839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076860" y="3368839"/>
            <a:ext cx="627499" cy="3669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320383" y="3368839"/>
            <a:ext cx="157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请求队列</a:t>
            </a:r>
          </a:p>
        </p:txBody>
      </p:sp>
      <p:sp>
        <p:nvSpPr>
          <p:cNvPr id="20" name="矩形 19"/>
          <p:cNvSpPr/>
          <p:nvPr/>
        </p:nvSpPr>
        <p:spPr>
          <a:xfrm>
            <a:off x="4966215" y="4325350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964792" y="4692313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964792" y="5059276"/>
            <a:ext cx="5531341" cy="366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20383" y="4535151"/>
            <a:ext cx="1570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最大处理数：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4966216" y="5064994"/>
            <a:ext cx="802930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U3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5769145" y="5056138"/>
            <a:ext cx="2935213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441463" y="3374835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U6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8067910" y="3374836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U5</a:t>
            </a:r>
            <a:endParaRPr lang="zh-CN" altLang="en-US" dirty="0"/>
          </a:p>
        </p:txBody>
      </p:sp>
      <p:cxnSp>
        <p:nvCxnSpPr>
          <p:cNvPr id="14" name="连接符: 肘形 13"/>
          <p:cNvCxnSpPr>
            <a:stCxn id="18" idx="2"/>
          </p:cNvCxnSpPr>
          <p:nvPr/>
        </p:nvCxnSpPr>
        <p:spPr>
          <a:xfrm rot="5400000">
            <a:off x="6291186" y="2409408"/>
            <a:ext cx="773030" cy="3425818"/>
          </a:xfrm>
          <a:prstGeom prst="bentConnector4">
            <a:avLst>
              <a:gd name="adj1" fmla="val 38132"/>
              <a:gd name="adj2" fmla="val 10667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963368" y="4686316"/>
            <a:ext cx="1467513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U4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440686" y="4683457"/>
            <a:ext cx="168577" cy="3669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6822388" y="3377694"/>
            <a:ext cx="627499" cy="366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U7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调度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29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6676" y="212651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接收用户请求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9842" y="212651"/>
            <a:ext cx="163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存储资源耗尽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912747" y="1981669"/>
            <a:ext cx="83983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管理器的讨论中，默认假设是</a:t>
            </a:r>
            <a:r>
              <a:rPr lang="en-US" altLang="zh-CN" sz="2400" dirty="0"/>
              <a:t>GPU</a:t>
            </a:r>
            <a:r>
              <a:rPr lang="zh-CN" altLang="en-US" sz="2400" dirty="0"/>
              <a:t>存储资源充足的情况。然而在大模型服务中，用户请求和模型输出结果的规模差异十分巨大，随着请求和输出的不断增加，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很有可能会耗尽所有的存储资源。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解决思路有两个：</a:t>
            </a:r>
            <a:r>
              <a:rPr lang="zh-CN" altLang="en-US" sz="2400" dirty="0">
                <a:solidFill>
                  <a:srgbClr val="FF0000"/>
                </a:solidFill>
              </a:rPr>
              <a:t>交换和重计算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调度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30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6676" y="212651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接收用户请求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9842" y="212651"/>
            <a:ext cx="163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存储资源耗尽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17971" y="1213760"/>
            <a:ext cx="8398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由于推理过程是需要获取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中每个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序列的所有</a:t>
            </a:r>
            <a:r>
              <a:rPr lang="en-US" altLang="zh-CN" sz="2400" dirty="0"/>
              <a:t>block</a:t>
            </a:r>
            <a:r>
              <a:rPr lang="zh-CN" altLang="en-US" sz="2400" dirty="0"/>
              <a:t>，因此同一个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序列的所有</a:t>
            </a:r>
            <a:r>
              <a:rPr lang="en-US" altLang="zh-CN" sz="2400" dirty="0"/>
              <a:t>block</a:t>
            </a:r>
            <a:r>
              <a:rPr lang="zh-CN" altLang="en-US" sz="2400" dirty="0"/>
              <a:t>不能分散。</a:t>
            </a:r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交换策略</a:t>
            </a:r>
            <a:r>
              <a:rPr lang="zh-CN" altLang="en-US" sz="2400" dirty="0"/>
              <a:t>：转移整个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序列所有相关的</a:t>
            </a:r>
            <a:r>
              <a:rPr lang="en-US" altLang="zh-CN" sz="2400" dirty="0"/>
              <a:t>block</a:t>
            </a:r>
            <a:r>
              <a:rPr lang="zh-CN" altLang="en-US" sz="2400" dirty="0"/>
              <a:t>或者全都不转移。</a:t>
            </a:r>
            <a:r>
              <a:rPr lang="en-US" altLang="zh-CN" sz="2400" dirty="0"/>
              <a:t>(All-or-Nothing)</a:t>
            </a:r>
          </a:p>
        </p:txBody>
      </p:sp>
      <p:sp>
        <p:nvSpPr>
          <p:cNvPr id="4" name="矩形 3"/>
          <p:cNvSpPr/>
          <p:nvPr/>
        </p:nvSpPr>
        <p:spPr>
          <a:xfrm>
            <a:off x="2969817" y="3225511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559364" y="3225511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149313" y="3225510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76910" y="3103937"/>
            <a:ext cx="1993896" cy="697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06480" y="4646516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096027" y="4646516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3925653" y="4241265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925653" y="5217093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B4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4515200" y="4241264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B5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4742348" y="4873858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B6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742348" y="5564976"/>
            <a:ext cx="589547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B7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2329370" y="4095383"/>
            <a:ext cx="3207061" cy="2068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14" idx="3"/>
            <a:endCxn id="15" idx="1"/>
          </p:cNvCxnSpPr>
          <p:nvPr/>
        </p:nvCxnSpPr>
        <p:spPr>
          <a:xfrm flipV="1">
            <a:off x="3685574" y="4472098"/>
            <a:ext cx="240079" cy="4052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4" idx="3"/>
            <a:endCxn id="17" idx="1"/>
          </p:cNvCxnSpPr>
          <p:nvPr/>
        </p:nvCxnSpPr>
        <p:spPr>
          <a:xfrm>
            <a:off x="3685574" y="4877349"/>
            <a:ext cx="240079" cy="5705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7" idx="3"/>
            <a:endCxn id="19" idx="1"/>
          </p:cNvCxnSpPr>
          <p:nvPr/>
        </p:nvCxnSpPr>
        <p:spPr>
          <a:xfrm flipV="1">
            <a:off x="4515200" y="5104691"/>
            <a:ext cx="227148" cy="343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7" idx="3"/>
            <a:endCxn id="20" idx="1"/>
          </p:cNvCxnSpPr>
          <p:nvPr/>
        </p:nvCxnSpPr>
        <p:spPr>
          <a:xfrm>
            <a:off x="4515200" y="5447926"/>
            <a:ext cx="227148" cy="3478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738" y="2675634"/>
            <a:ext cx="3075295" cy="3663139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5536431" y="3225510"/>
            <a:ext cx="13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sequence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5763579" y="4877348"/>
            <a:ext cx="135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Sequence group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7573879" y="5446892"/>
            <a:ext cx="1364908" cy="697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调度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.6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6676" y="212651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接收用户请求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9842" y="212651"/>
            <a:ext cx="163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存储资源耗尽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11958" y="1325948"/>
            <a:ext cx="839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重计算策略</a:t>
            </a:r>
            <a:r>
              <a:rPr lang="zh-CN" altLang="en-US" sz="2400" dirty="0"/>
              <a:t>：直接</a:t>
            </a:r>
            <a:r>
              <a:rPr lang="zh-CN" altLang="en-US" sz="2400" dirty="0">
                <a:solidFill>
                  <a:srgbClr val="FF0000"/>
                </a:solidFill>
              </a:rPr>
              <a:t>释放</a:t>
            </a:r>
            <a:r>
              <a:rPr lang="zh-CN" altLang="en-US" sz="2400" dirty="0"/>
              <a:t>某个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序列的所有</a:t>
            </a:r>
            <a:r>
              <a:rPr lang="en-US" altLang="zh-CN" sz="2400" dirty="0" err="1">
                <a:solidFill>
                  <a:srgbClr val="FF0000"/>
                </a:solidFill>
              </a:rPr>
              <a:t>KVCache</a:t>
            </a:r>
            <a:r>
              <a:rPr lang="zh-CN" altLang="en-US" sz="2400" dirty="0"/>
              <a:t>，仅仅保留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序列本身。当</a:t>
            </a:r>
            <a:r>
              <a:rPr lang="en-US" altLang="zh-CN" sz="2400" dirty="0"/>
              <a:t>GPU</a:t>
            </a:r>
            <a:r>
              <a:rPr lang="zh-CN" altLang="en-US" sz="2400" dirty="0"/>
              <a:t>存储资源空闲可以进行计算时，将整个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序列直接作为一个新的用户请求继续计算。</a:t>
            </a:r>
            <a:endParaRPr lang="en-US" altLang="zh-CN" sz="2400" dirty="0"/>
          </a:p>
        </p:txBody>
      </p:sp>
      <p:sp>
        <p:nvSpPr>
          <p:cNvPr id="23" name="矩形 22"/>
          <p:cNvSpPr/>
          <p:nvPr/>
        </p:nvSpPr>
        <p:spPr>
          <a:xfrm>
            <a:off x="3969204" y="2855447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6" name="矩形 25"/>
          <p:cNvSpPr/>
          <p:nvPr/>
        </p:nvSpPr>
        <p:spPr>
          <a:xfrm>
            <a:off x="4501600" y="2855447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27" name="矩形 26"/>
          <p:cNvSpPr/>
          <p:nvPr/>
        </p:nvSpPr>
        <p:spPr>
          <a:xfrm>
            <a:off x="5020171" y="2863171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28" name="矩形 27"/>
          <p:cNvSpPr/>
          <p:nvPr/>
        </p:nvSpPr>
        <p:spPr>
          <a:xfrm>
            <a:off x="3969204" y="3848788"/>
            <a:ext cx="518571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29" name="矩形 28"/>
          <p:cNvSpPr/>
          <p:nvPr/>
        </p:nvSpPr>
        <p:spPr>
          <a:xfrm>
            <a:off x="4501600" y="3848788"/>
            <a:ext cx="518571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33" name="矩形 32"/>
          <p:cNvSpPr/>
          <p:nvPr/>
        </p:nvSpPr>
        <p:spPr>
          <a:xfrm>
            <a:off x="5020171" y="3856512"/>
            <a:ext cx="532397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649953" y="2838243"/>
            <a:ext cx="130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序列</a:t>
            </a: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2742556" y="3681701"/>
            <a:ext cx="999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对应的</a:t>
            </a:r>
            <a:r>
              <a:rPr lang="en-US" altLang="zh-CN" dirty="0" err="1"/>
              <a:t>KVCache</a:t>
            </a:r>
            <a:endParaRPr lang="en-US" altLang="zh-CN" dirty="0"/>
          </a:p>
        </p:txBody>
      </p:sp>
      <p:sp>
        <p:nvSpPr>
          <p:cNvPr id="37" name="矩形 36"/>
          <p:cNvSpPr/>
          <p:nvPr/>
        </p:nvSpPr>
        <p:spPr>
          <a:xfrm>
            <a:off x="5538742" y="2863171"/>
            <a:ext cx="532397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38" name="矩形 37"/>
          <p:cNvSpPr/>
          <p:nvPr/>
        </p:nvSpPr>
        <p:spPr>
          <a:xfrm>
            <a:off x="5552567" y="3853560"/>
            <a:ext cx="532397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cxnSp>
        <p:nvCxnSpPr>
          <p:cNvPr id="52" name="直接连接符 51"/>
          <p:cNvCxnSpPr/>
          <p:nvPr/>
        </p:nvCxnSpPr>
        <p:spPr>
          <a:xfrm>
            <a:off x="6400800" y="2556709"/>
            <a:ext cx="0" cy="2039353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7776996" y="2847723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54" name="矩形 53"/>
          <p:cNvSpPr/>
          <p:nvPr/>
        </p:nvSpPr>
        <p:spPr>
          <a:xfrm>
            <a:off x="8309392" y="2847723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55" name="矩形 54"/>
          <p:cNvSpPr/>
          <p:nvPr/>
        </p:nvSpPr>
        <p:spPr>
          <a:xfrm>
            <a:off x="8827963" y="2855447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457745" y="2830519"/>
            <a:ext cx="130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序列</a:t>
            </a:r>
            <a:endParaRPr lang="en-US" altLang="zh-CN" dirty="0"/>
          </a:p>
        </p:txBody>
      </p:sp>
      <p:sp>
        <p:nvSpPr>
          <p:cNvPr id="60" name="文本框 59"/>
          <p:cNvSpPr txBox="1"/>
          <p:nvPr/>
        </p:nvSpPr>
        <p:spPr>
          <a:xfrm>
            <a:off x="8232898" y="3681701"/>
            <a:ext cx="122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全部丢弃</a:t>
            </a:r>
            <a:endParaRPr lang="en-US" altLang="zh-CN" dirty="0"/>
          </a:p>
        </p:txBody>
      </p:sp>
      <p:sp>
        <p:nvSpPr>
          <p:cNvPr id="61" name="矩形 60"/>
          <p:cNvSpPr/>
          <p:nvPr/>
        </p:nvSpPr>
        <p:spPr>
          <a:xfrm>
            <a:off x="9346534" y="2855447"/>
            <a:ext cx="532397" cy="3444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63" name="箭头: 下 62"/>
          <p:cNvSpPr/>
          <p:nvPr/>
        </p:nvSpPr>
        <p:spPr>
          <a:xfrm>
            <a:off x="8309392" y="4325392"/>
            <a:ext cx="581943" cy="5451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7977725" y="5070176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65" name="矩形 64"/>
          <p:cNvSpPr/>
          <p:nvPr/>
        </p:nvSpPr>
        <p:spPr>
          <a:xfrm>
            <a:off x="8510121" y="5070176"/>
            <a:ext cx="518571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66" name="矩形 65"/>
          <p:cNvSpPr/>
          <p:nvPr/>
        </p:nvSpPr>
        <p:spPr>
          <a:xfrm>
            <a:off x="9028692" y="5077900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67" name="矩形 66"/>
          <p:cNvSpPr/>
          <p:nvPr/>
        </p:nvSpPr>
        <p:spPr>
          <a:xfrm>
            <a:off x="7977725" y="6063517"/>
            <a:ext cx="518571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68" name="矩形 67"/>
          <p:cNvSpPr/>
          <p:nvPr/>
        </p:nvSpPr>
        <p:spPr>
          <a:xfrm>
            <a:off x="8510121" y="6063517"/>
            <a:ext cx="518571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热</a:t>
            </a:r>
          </a:p>
        </p:txBody>
      </p:sp>
      <p:sp>
        <p:nvSpPr>
          <p:cNvPr id="69" name="矩形 68"/>
          <p:cNvSpPr/>
          <p:nvPr/>
        </p:nvSpPr>
        <p:spPr>
          <a:xfrm>
            <a:off x="9028692" y="6071241"/>
            <a:ext cx="532397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爱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6658474" y="5052972"/>
            <a:ext cx="130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序列</a:t>
            </a:r>
            <a:endParaRPr lang="en-US" altLang="zh-CN" dirty="0"/>
          </a:p>
        </p:txBody>
      </p:sp>
      <p:sp>
        <p:nvSpPr>
          <p:cNvPr id="71" name="文本框 70"/>
          <p:cNvSpPr txBox="1"/>
          <p:nvPr/>
        </p:nvSpPr>
        <p:spPr>
          <a:xfrm>
            <a:off x="6751077" y="5896430"/>
            <a:ext cx="999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对应的</a:t>
            </a:r>
            <a:r>
              <a:rPr lang="en-US" altLang="zh-CN" dirty="0" err="1"/>
              <a:t>KVCache</a:t>
            </a:r>
            <a:endParaRPr lang="en-US" altLang="zh-CN" dirty="0"/>
          </a:p>
        </p:txBody>
      </p:sp>
      <p:sp>
        <p:nvSpPr>
          <p:cNvPr id="72" name="矩形 71"/>
          <p:cNvSpPr/>
          <p:nvPr/>
        </p:nvSpPr>
        <p:spPr>
          <a:xfrm>
            <a:off x="9547263" y="5077900"/>
            <a:ext cx="532397" cy="344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73" name="矩形 72"/>
          <p:cNvSpPr/>
          <p:nvPr/>
        </p:nvSpPr>
        <p:spPr>
          <a:xfrm>
            <a:off x="9561088" y="6068289"/>
            <a:ext cx="532397" cy="3444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2702141" y="5325849"/>
            <a:ext cx="3330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由于重计算时可以将整个</a:t>
            </a:r>
            <a:r>
              <a:rPr lang="en-US" altLang="zh-CN" dirty="0"/>
              <a:t>token</a:t>
            </a:r>
            <a:r>
              <a:rPr lang="zh-CN" altLang="en-US" dirty="0"/>
              <a:t>序列一起给模型计算，因此并不会重复最初的第二阶段</a:t>
            </a:r>
            <a:r>
              <a:rPr lang="en-US" altLang="zh-CN" dirty="0"/>
              <a:t>(token by token)</a:t>
            </a:r>
            <a:r>
              <a:rPr lang="zh-CN" altLang="en-US" dirty="0"/>
              <a:t>，开销会小很多。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3353456" cy="659706"/>
            <a:chOff x="563566" y="288855"/>
            <a:chExt cx="2455619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684671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分布式扩展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.7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41" name="矩形 40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49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直接连接符 50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473595" y="1278192"/>
            <a:ext cx="839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Attention</a:t>
            </a:r>
            <a:r>
              <a:rPr lang="zh-CN" altLang="en-US" sz="2400" dirty="0"/>
              <a:t>计算负载拆分到不同的工作结点上面去，在每个工作结点完成计算之后进行同步。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23" name="矩形 22"/>
          <p:cNvSpPr/>
          <p:nvPr/>
        </p:nvSpPr>
        <p:spPr>
          <a:xfrm>
            <a:off x="3357393" y="3114608"/>
            <a:ext cx="1360327" cy="1414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Attention</a:t>
            </a:r>
            <a:endParaRPr lang="zh-CN" altLang="en-US" sz="2400" dirty="0"/>
          </a:p>
        </p:txBody>
      </p:sp>
      <p:cxnSp>
        <p:nvCxnSpPr>
          <p:cNvPr id="26" name="直接箭头连接符 25"/>
          <p:cNvCxnSpPr>
            <a:stCxn id="23" idx="3"/>
            <a:endCxn id="52" idx="1"/>
          </p:cNvCxnSpPr>
          <p:nvPr/>
        </p:nvCxnSpPr>
        <p:spPr>
          <a:xfrm flipV="1">
            <a:off x="4717720" y="2828476"/>
            <a:ext cx="1376275" cy="993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3"/>
            <a:endCxn id="54" idx="1"/>
          </p:cNvCxnSpPr>
          <p:nvPr/>
        </p:nvCxnSpPr>
        <p:spPr>
          <a:xfrm flipV="1">
            <a:off x="4717720" y="3822101"/>
            <a:ext cx="137627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3" idx="3"/>
            <a:endCxn id="57" idx="1"/>
          </p:cNvCxnSpPr>
          <p:nvPr/>
        </p:nvCxnSpPr>
        <p:spPr>
          <a:xfrm>
            <a:off x="4717720" y="3822102"/>
            <a:ext cx="1354393" cy="1387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6093995" y="2549926"/>
            <a:ext cx="1451457" cy="5570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A1</a:t>
            </a:r>
            <a:endParaRPr lang="zh-CN" altLang="en-US" sz="2400" dirty="0"/>
          </a:p>
        </p:txBody>
      </p:sp>
      <p:sp>
        <p:nvSpPr>
          <p:cNvPr id="54" name="矩形 53"/>
          <p:cNvSpPr/>
          <p:nvPr/>
        </p:nvSpPr>
        <p:spPr>
          <a:xfrm>
            <a:off x="6093995" y="3543551"/>
            <a:ext cx="1451457" cy="5570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A2</a:t>
            </a:r>
            <a:endParaRPr lang="zh-CN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6072113" y="4931256"/>
            <a:ext cx="1451457" cy="5570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AN</a:t>
            </a:r>
            <a:endParaRPr lang="zh-CN" altLang="en-US" sz="2400" dirty="0"/>
          </a:p>
        </p:txBody>
      </p:sp>
      <p:cxnSp>
        <p:nvCxnSpPr>
          <p:cNvPr id="59" name="直接箭头连接符 58"/>
          <p:cNvCxnSpPr>
            <a:stCxn id="57" idx="3"/>
          </p:cNvCxnSpPr>
          <p:nvPr/>
        </p:nvCxnSpPr>
        <p:spPr>
          <a:xfrm flipV="1">
            <a:off x="7523570" y="4258628"/>
            <a:ext cx="1601286" cy="951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54" idx="3"/>
          </p:cNvCxnSpPr>
          <p:nvPr/>
        </p:nvCxnSpPr>
        <p:spPr>
          <a:xfrm>
            <a:off x="7545452" y="3822101"/>
            <a:ext cx="14952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52" idx="3"/>
          </p:cNvCxnSpPr>
          <p:nvPr/>
        </p:nvCxnSpPr>
        <p:spPr>
          <a:xfrm>
            <a:off x="7545452" y="2828476"/>
            <a:ext cx="1495284" cy="478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9193019" y="3182476"/>
            <a:ext cx="1360327" cy="14149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输出</a:t>
            </a:r>
          </a:p>
        </p:txBody>
      </p:sp>
      <p:sp>
        <p:nvSpPr>
          <p:cNvPr id="69" name="椭圆 68"/>
          <p:cNvSpPr/>
          <p:nvPr/>
        </p:nvSpPr>
        <p:spPr>
          <a:xfrm>
            <a:off x="6737684" y="4283242"/>
            <a:ext cx="60158" cy="54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6753785" y="4489748"/>
            <a:ext cx="60158" cy="54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6753785" y="4688758"/>
            <a:ext cx="60158" cy="54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评估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73595" y="1278192"/>
            <a:ext cx="83983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实验设置：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模型：</a:t>
            </a:r>
            <a:r>
              <a:rPr lang="en-US" altLang="zh-CN" sz="2400" dirty="0"/>
              <a:t>OPT-13B</a:t>
            </a:r>
            <a:r>
              <a:rPr lang="zh-CN" altLang="en-US" sz="2400" dirty="0"/>
              <a:t>，</a:t>
            </a:r>
            <a:r>
              <a:rPr lang="en-US" altLang="zh-CN" sz="2400" dirty="0"/>
              <a:t>OPT-66B</a:t>
            </a:r>
            <a:r>
              <a:rPr lang="zh-CN" altLang="en-US" sz="2400" dirty="0"/>
              <a:t>，</a:t>
            </a:r>
            <a:r>
              <a:rPr lang="en-US" altLang="zh-CN" sz="2400" dirty="0"/>
              <a:t>OPT-175B</a:t>
            </a:r>
            <a:r>
              <a:rPr lang="zh-CN" altLang="en-US" sz="2400" dirty="0"/>
              <a:t>，</a:t>
            </a:r>
            <a:r>
              <a:rPr lang="en-US" altLang="zh-CN" sz="2400" dirty="0"/>
              <a:t>LLAMA-13B</a:t>
            </a:r>
          </a:p>
          <a:p>
            <a:r>
              <a:rPr lang="zh-CN" altLang="en-US" sz="2400" dirty="0"/>
              <a:t>实验环境：</a:t>
            </a:r>
            <a:r>
              <a:rPr lang="en-US" altLang="zh-CN" sz="2400" dirty="0"/>
              <a:t>Google</a:t>
            </a:r>
            <a:r>
              <a:rPr lang="zh-CN" altLang="en-US" sz="2400" dirty="0"/>
              <a:t>云平台，</a:t>
            </a:r>
            <a:r>
              <a:rPr lang="en-US" altLang="zh-CN" sz="2400" dirty="0"/>
              <a:t>NVIDIA A100 GPU</a:t>
            </a:r>
          </a:p>
          <a:p>
            <a:r>
              <a:rPr lang="zh-CN" altLang="en-US" sz="2400" dirty="0"/>
              <a:t>数据集：</a:t>
            </a:r>
            <a:r>
              <a:rPr lang="en-US" altLang="zh-CN" sz="2400" dirty="0"/>
              <a:t>WMT16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ShareGPT</a:t>
            </a:r>
            <a:r>
              <a:rPr lang="zh-CN" altLang="en-US" sz="2400" dirty="0"/>
              <a:t>，</a:t>
            </a:r>
            <a:r>
              <a:rPr lang="en-US" altLang="zh-CN" sz="2400" dirty="0"/>
              <a:t>Alpaca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ShareGPT</a:t>
            </a:r>
            <a:r>
              <a:rPr lang="zh-CN" altLang="en-US" sz="2400" dirty="0"/>
              <a:t>数据集输入比</a:t>
            </a:r>
            <a:r>
              <a:rPr lang="en-US" altLang="zh-CN" sz="2400" dirty="0"/>
              <a:t>Alpaca</a:t>
            </a:r>
            <a:r>
              <a:rPr lang="zh-CN" altLang="en-US" sz="2400" dirty="0"/>
              <a:t>长</a:t>
            </a:r>
            <a:r>
              <a:rPr lang="en-US" altLang="zh-CN" sz="2400" dirty="0"/>
              <a:t>8.6</a:t>
            </a:r>
            <a:r>
              <a:rPr lang="zh-CN" altLang="en-US" sz="2400" dirty="0"/>
              <a:t>倍，输出长度比</a:t>
            </a:r>
            <a:r>
              <a:rPr lang="en-US" altLang="zh-CN" sz="2400" dirty="0"/>
              <a:t>Alpaca</a:t>
            </a:r>
            <a:r>
              <a:rPr lang="zh-CN" altLang="en-US" sz="2400" dirty="0"/>
              <a:t>长</a:t>
            </a:r>
            <a:r>
              <a:rPr lang="en-US" altLang="zh-CN" sz="2400" dirty="0"/>
              <a:t>5.8</a:t>
            </a:r>
            <a:r>
              <a:rPr lang="zh-CN" altLang="en-US" sz="2400" dirty="0"/>
              <a:t>倍）</a:t>
            </a:r>
            <a:endParaRPr lang="en-US" altLang="zh-CN" sz="2400" dirty="0"/>
          </a:p>
          <a:p>
            <a:r>
              <a:rPr lang="zh-CN" altLang="en-US" sz="2400" dirty="0"/>
              <a:t>对比对象：</a:t>
            </a:r>
            <a:r>
              <a:rPr lang="en-US" altLang="zh-CN" sz="2400" dirty="0" err="1"/>
              <a:t>FasterTransformer</a:t>
            </a:r>
            <a:r>
              <a:rPr lang="zh-CN" altLang="en-US" sz="2400" dirty="0"/>
              <a:t>，</a:t>
            </a:r>
            <a:r>
              <a:rPr lang="en-US" altLang="zh-CN" sz="2400" dirty="0"/>
              <a:t>Orca(Oracle)</a:t>
            </a:r>
            <a:r>
              <a:rPr lang="zh-CN" altLang="en-US" sz="2400" dirty="0"/>
              <a:t>，</a:t>
            </a:r>
            <a:r>
              <a:rPr lang="en-US" altLang="zh-CN" sz="2400" dirty="0"/>
              <a:t>Orca(Pow2)</a:t>
            </a:r>
            <a:r>
              <a:rPr lang="zh-CN" altLang="en-US" sz="2400" dirty="0"/>
              <a:t>，</a:t>
            </a:r>
            <a:r>
              <a:rPr lang="en-US" altLang="zh-CN" sz="2400" dirty="0"/>
              <a:t>Orca(Max)</a:t>
            </a:r>
          </a:p>
          <a:p>
            <a:r>
              <a:rPr lang="zh-CN" altLang="en-US" sz="2400" dirty="0"/>
              <a:t>关键指标：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归一化延时</a:t>
            </a:r>
            <a:r>
              <a:rPr lang="zh-CN" altLang="en-US" sz="2400" dirty="0"/>
              <a:t>：单个</a:t>
            </a:r>
            <a:r>
              <a:rPr lang="en-US" altLang="zh-CN" sz="2400" dirty="0"/>
              <a:t>token</a:t>
            </a:r>
            <a:r>
              <a:rPr lang="zh-CN" altLang="en-US" sz="2400" dirty="0"/>
              <a:t>推理延时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请求率</a:t>
            </a:r>
            <a:r>
              <a:rPr lang="zh-CN" altLang="en-US" sz="2400" dirty="0"/>
              <a:t>：单位时间请求数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7" name="矩形 3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1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4" name="直接连接符 63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评估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34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49532" y="972872"/>
            <a:ext cx="839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推理模式：基本模式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7" name="矩形 3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1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4" name="直接连接符 63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207" y="1408072"/>
            <a:ext cx="10230793" cy="4041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57062" y="5691764"/>
            <a:ext cx="839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ShareGPT</a:t>
            </a:r>
            <a:r>
              <a:rPr lang="zh-CN" altLang="en-US" sz="2400" dirty="0"/>
              <a:t>上，相同时延下，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相比</a:t>
            </a:r>
            <a:r>
              <a:rPr lang="en-US" altLang="zh-CN" sz="2400" dirty="0" err="1"/>
              <a:t>Orac</a:t>
            </a:r>
            <a:r>
              <a:rPr lang="en-US" altLang="zh-CN" sz="2400" dirty="0"/>
              <a:t>(Oracle)</a:t>
            </a:r>
            <a:r>
              <a:rPr lang="zh-CN" altLang="en-US" sz="2400" dirty="0">
                <a:solidFill>
                  <a:srgbClr val="FF0000"/>
                </a:solidFill>
              </a:rPr>
              <a:t>提升</a:t>
            </a:r>
            <a:r>
              <a:rPr lang="en-US" altLang="zh-CN" sz="2400" dirty="0">
                <a:solidFill>
                  <a:srgbClr val="FF0000"/>
                </a:solidFill>
              </a:rPr>
              <a:t>1.7x-2.7x</a:t>
            </a:r>
            <a:r>
              <a:rPr lang="zh-CN" altLang="en-US" sz="2400" dirty="0"/>
              <a:t>，相比</a:t>
            </a:r>
            <a:r>
              <a:rPr lang="en-US" altLang="zh-CN" sz="2400" dirty="0" err="1"/>
              <a:t>Orac</a:t>
            </a:r>
            <a:r>
              <a:rPr lang="en-US" altLang="zh-CN" sz="2400" dirty="0"/>
              <a:t>(Max)</a:t>
            </a:r>
            <a:r>
              <a:rPr lang="zh-CN" altLang="en-US" sz="2400" dirty="0"/>
              <a:t>提升</a:t>
            </a:r>
            <a:r>
              <a:rPr lang="en-US" altLang="zh-CN" sz="2400" dirty="0">
                <a:solidFill>
                  <a:srgbClr val="FF0000"/>
                </a:solidFill>
              </a:rPr>
              <a:t>2.7x-8x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评估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35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31484" y="912142"/>
            <a:ext cx="8398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推理模式：并行采样、集束搜索</a:t>
            </a:r>
            <a:endParaRPr lang="en-US" altLang="zh-CN" sz="2400" dirty="0"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7" name="矩形 3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1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4" name="直接连接符 63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679" y="1332211"/>
            <a:ext cx="9907460" cy="38002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74236" y="5222686"/>
            <a:ext cx="4032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使用</a:t>
            </a:r>
            <a:r>
              <a:rPr lang="en-US" altLang="zh-CN" sz="2400" dirty="0"/>
              <a:t>OPT-13B</a:t>
            </a:r>
            <a:r>
              <a:rPr lang="zh-CN" altLang="en-US" sz="2400" dirty="0"/>
              <a:t>在</a:t>
            </a:r>
            <a:r>
              <a:rPr lang="en-US" altLang="zh-CN" sz="2400" dirty="0"/>
              <a:t>Alpaca</a:t>
            </a:r>
            <a:r>
              <a:rPr lang="zh-CN" altLang="en-US" sz="2400" dirty="0"/>
              <a:t>数据集上的测试，随着并行度和集束搜索宽度的增加，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的优势也在不断扩大。</a:t>
            </a:r>
            <a:endParaRPr lang="en-US" altLang="zh-CN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271" y="5114264"/>
            <a:ext cx="5014524" cy="1721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083878" cy="659706"/>
            <a:chOff x="563566" y="288855"/>
            <a:chExt cx="1525951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3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评估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36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49532" y="972872"/>
            <a:ext cx="8398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推理模式：共享前缀</a:t>
            </a:r>
            <a:endParaRPr lang="en-US" altLang="zh-CN" sz="2400" dirty="0"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7" name="矩形 3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1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4" name="直接连接符 63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16" y="1367183"/>
            <a:ext cx="4718584" cy="214259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38977" y="3936897"/>
            <a:ext cx="2844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实际应用：</a:t>
            </a:r>
            <a:r>
              <a:rPr lang="en-US" altLang="zh-CN" sz="2400" dirty="0" err="1"/>
              <a:t>chatBot</a:t>
            </a:r>
            <a:endParaRPr lang="en-US" altLang="zh-CN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683" y="4596276"/>
            <a:ext cx="5410518" cy="210341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407613" y="1599610"/>
            <a:ext cx="33055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LLAMA-13B</a:t>
            </a:r>
            <a:r>
              <a:rPr lang="zh-CN" altLang="en-US" sz="2400" dirty="0"/>
              <a:t>，</a:t>
            </a:r>
            <a:r>
              <a:rPr lang="en-US" altLang="zh-CN" sz="2400" dirty="0"/>
              <a:t>WMT16</a:t>
            </a:r>
            <a:r>
              <a:rPr lang="zh-CN" altLang="en-US" sz="2400" dirty="0"/>
              <a:t>数据集。</a:t>
            </a:r>
            <a:endParaRPr lang="en-US" altLang="zh-CN" sz="2400" dirty="0"/>
          </a:p>
          <a:p>
            <a:r>
              <a:rPr lang="zh-CN" altLang="en-US" sz="2400" dirty="0"/>
              <a:t>共享</a:t>
            </a:r>
            <a:r>
              <a:rPr lang="en-US" altLang="zh-CN" sz="2400" dirty="0"/>
              <a:t>1</a:t>
            </a:r>
            <a:r>
              <a:rPr lang="zh-CN" altLang="en-US" sz="2400" dirty="0"/>
              <a:t>个例子时，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实现</a:t>
            </a:r>
            <a:r>
              <a:rPr lang="en-US" altLang="zh-CN" sz="2400" dirty="0">
                <a:solidFill>
                  <a:srgbClr val="FF0000"/>
                </a:solidFill>
              </a:rPr>
              <a:t>1.67x</a:t>
            </a:r>
            <a:r>
              <a:rPr lang="zh-CN" altLang="en-US" sz="2400" dirty="0">
                <a:solidFill>
                  <a:srgbClr val="FF0000"/>
                </a:solidFill>
              </a:rPr>
              <a:t>吞吐提升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共享</a:t>
            </a:r>
            <a:r>
              <a:rPr lang="en-US" altLang="zh-CN" sz="2400" dirty="0"/>
              <a:t>5</a:t>
            </a:r>
            <a:r>
              <a:rPr lang="zh-CN" altLang="en-US" sz="2400" dirty="0"/>
              <a:t>个例子时，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实现</a:t>
            </a:r>
            <a:r>
              <a:rPr lang="en-US" altLang="zh-CN" sz="2400" dirty="0">
                <a:solidFill>
                  <a:srgbClr val="FF0000"/>
                </a:solidFill>
              </a:rPr>
              <a:t>3.58x</a:t>
            </a:r>
            <a:r>
              <a:rPr lang="zh-CN" altLang="en-US" sz="2400" dirty="0">
                <a:solidFill>
                  <a:srgbClr val="FF0000"/>
                </a:solidFill>
              </a:rPr>
              <a:t>吞吐提升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186989" y="3423965"/>
            <a:ext cx="16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</a:t>
            </a:r>
            <a:r>
              <a:rPr lang="en-US" altLang="zh-CN" dirty="0"/>
              <a:t>1</a:t>
            </a:r>
            <a:r>
              <a:rPr lang="zh-CN" altLang="en-US" dirty="0"/>
              <a:t>个例子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282953" y="3429138"/>
            <a:ext cx="16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共享</a:t>
            </a:r>
            <a:r>
              <a:rPr lang="en-US" altLang="zh-CN" dirty="0"/>
              <a:t>5</a:t>
            </a:r>
            <a:r>
              <a:rPr lang="zh-CN" altLang="en-US" dirty="0"/>
              <a:t>个例子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048530" y="4622728"/>
            <a:ext cx="33055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OPT-13B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ShareGPT</a:t>
            </a:r>
            <a:r>
              <a:rPr lang="zh-CN" altLang="en-US" sz="2400" dirty="0"/>
              <a:t>数据集合成用户对话</a:t>
            </a:r>
            <a:r>
              <a:rPr lang="en-US" altLang="zh-CN" sz="2400" dirty="0"/>
              <a:t>(</a:t>
            </a:r>
            <a:r>
              <a:rPr lang="zh-CN" altLang="en-US" sz="2400" dirty="0"/>
              <a:t>保留对话历史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vLLM</a:t>
            </a:r>
            <a:r>
              <a:rPr lang="zh-CN" altLang="en-US" sz="2400" dirty="0"/>
              <a:t>实现</a:t>
            </a:r>
            <a:r>
              <a:rPr lang="en-US" altLang="zh-CN" sz="2400" dirty="0">
                <a:solidFill>
                  <a:srgbClr val="FF0000"/>
                </a:solidFill>
              </a:rPr>
              <a:t>2x</a:t>
            </a:r>
            <a:r>
              <a:rPr lang="zh-CN" altLang="en-US" sz="2400" dirty="0">
                <a:solidFill>
                  <a:srgbClr val="FF0000"/>
                </a:solidFill>
              </a:rPr>
              <a:t>吞吐提升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930264" cy="659706"/>
            <a:chOff x="563566" y="288855"/>
            <a:chExt cx="214572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37478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消融实验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37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072771" y="952870"/>
            <a:ext cx="2339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系统调度开销：</a:t>
            </a:r>
            <a:endParaRPr lang="en-US" altLang="zh-CN" sz="2400" dirty="0"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7" name="矩形 3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1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4" name="直接连接符 63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123464" y="3509774"/>
            <a:ext cx="189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</a:t>
            </a:r>
            <a:r>
              <a:rPr lang="zh-CN" altLang="en-US" sz="2400" dirty="0"/>
              <a:t>大小：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747" y="1238423"/>
            <a:ext cx="3308509" cy="24714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917" y="3865330"/>
            <a:ext cx="3661790" cy="271106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174816" y="1156365"/>
            <a:ext cx="36617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相比于经过高度优化的</a:t>
            </a:r>
            <a:r>
              <a:rPr lang="en-US" altLang="zh-CN" sz="2400" dirty="0" err="1"/>
              <a:t>FasterTransformer</a:t>
            </a:r>
            <a:r>
              <a:rPr lang="zh-CN" altLang="en-US" sz="2400" dirty="0"/>
              <a:t>中计算</a:t>
            </a:r>
            <a:r>
              <a:rPr lang="en-US" altLang="zh-CN" sz="2400" dirty="0"/>
              <a:t>attention</a:t>
            </a:r>
            <a:r>
              <a:rPr lang="zh-CN" altLang="en-US" sz="2400" dirty="0"/>
              <a:t>的方案，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的调度策略会带来</a:t>
            </a:r>
            <a:r>
              <a:rPr lang="en-US" altLang="zh-CN" sz="2400" dirty="0">
                <a:solidFill>
                  <a:srgbClr val="FF0000"/>
                </a:solidFill>
              </a:rPr>
              <a:t>20%-26%</a:t>
            </a:r>
            <a:r>
              <a:rPr lang="zh-CN" altLang="en-US" sz="2400" dirty="0"/>
              <a:t>的开销。但是</a:t>
            </a:r>
            <a:r>
              <a:rPr lang="en-US" altLang="zh-CN" sz="2400" dirty="0">
                <a:solidFill>
                  <a:srgbClr val="FF0000"/>
                </a:solidFill>
              </a:rPr>
              <a:t>attention</a:t>
            </a:r>
            <a:r>
              <a:rPr lang="zh-CN" altLang="en-US" sz="2400" dirty="0">
                <a:solidFill>
                  <a:srgbClr val="FF0000"/>
                </a:solidFill>
              </a:rPr>
              <a:t>计算时间开销本身很小</a:t>
            </a:r>
            <a:r>
              <a:rPr lang="zh-CN" altLang="en-US" sz="2400" dirty="0"/>
              <a:t>，因此可以忽略调度开销。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02862" y="4272273"/>
            <a:ext cx="31507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Block</a:t>
            </a:r>
            <a:r>
              <a:rPr lang="zh-CN" altLang="en-US" sz="2400" dirty="0"/>
              <a:t>太小，无法完全利用</a:t>
            </a:r>
            <a:r>
              <a:rPr lang="en-US" altLang="zh-CN" sz="2400" dirty="0"/>
              <a:t>GPU</a:t>
            </a:r>
            <a:r>
              <a:rPr lang="zh-CN" altLang="en-US" sz="2400" dirty="0"/>
              <a:t>计算资源。</a:t>
            </a:r>
            <a:endParaRPr lang="en-US" altLang="zh-CN" sz="2400" dirty="0"/>
          </a:p>
          <a:p>
            <a:r>
              <a:rPr lang="en-US" altLang="zh-CN" sz="2400" dirty="0"/>
              <a:t>Block</a:t>
            </a:r>
            <a:r>
              <a:rPr lang="zh-CN" altLang="en-US" sz="2400" dirty="0"/>
              <a:t>太大，会增加</a:t>
            </a:r>
            <a:r>
              <a:rPr lang="zh-CN" altLang="en-US" sz="2400" dirty="0">
                <a:solidFill>
                  <a:srgbClr val="FF0000"/>
                </a:solidFill>
              </a:rPr>
              <a:t>内部碎片，降低共享的可能性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06606" y="32692"/>
            <a:ext cx="2930264" cy="659706"/>
            <a:chOff x="563566" y="288855"/>
            <a:chExt cx="2145728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1374780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消融实验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800" dirty="0">
                  <a:solidFill>
                    <a:srgbClr val="44546A"/>
                  </a:solidFill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4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38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49532" y="972872"/>
            <a:ext cx="8398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交换与重计算</a:t>
            </a:r>
            <a:endParaRPr lang="en-US" altLang="zh-CN" sz="2400" dirty="0"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37" name="矩形 3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1" name="Picture 2" descr="ACM SIGOP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Blacks In Technology announces partnership with USENIX - Blacks In Technolog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4" name="直接连接符 63"/>
          <p:cNvCxnSpPr/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287" y="1438067"/>
            <a:ext cx="9793135" cy="336024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57062" y="4992060"/>
            <a:ext cx="49389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当</a:t>
            </a:r>
            <a:r>
              <a:rPr lang="en-US" altLang="zh-CN" sz="2400" dirty="0"/>
              <a:t>CPU</a:t>
            </a:r>
            <a:r>
              <a:rPr lang="zh-CN" altLang="en-US" sz="2400" dirty="0"/>
              <a:t>和</a:t>
            </a:r>
            <a:r>
              <a:rPr lang="en-US" altLang="zh-CN" sz="2400" dirty="0"/>
              <a:t>GPU</a:t>
            </a:r>
            <a:r>
              <a:rPr lang="zh-CN" altLang="en-US" sz="2400" dirty="0"/>
              <a:t>之间交换的块比较小的时候，无法充分利用</a:t>
            </a:r>
            <a:r>
              <a:rPr lang="en-US" altLang="zh-CN" sz="2400" dirty="0"/>
              <a:t>PCIe</a:t>
            </a:r>
            <a:r>
              <a:rPr lang="zh-CN" altLang="en-US" sz="2400" dirty="0"/>
              <a:t>的带宽。</a:t>
            </a:r>
            <a:endParaRPr lang="en-US" altLang="zh-CN" sz="2400" dirty="0"/>
          </a:p>
          <a:p>
            <a:r>
              <a:rPr lang="zh-CN" altLang="en-US" sz="2400" dirty="0"/>
              <a:t>重计算开销几乎为常数，因为并没有用到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534791" y="5082000"/>
            <a:ext cx="3091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不同</a:t>
            </a:r>
            <a:r>
              <a:rPr lang="en-US" altLang="zh-CN" sz="2400" dirty="0"/>
              <a:t>block</a:t>
            </a:r>
            <a:r>
              <a:rPr lang="zh-CN" altLang="en-US" sz="2400" dirty="0"/>
              <a:t>大小，分别使用两种方案的端到端性能测试。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56012" y="146582"/>
            <a:ext cx="2083879" cy="659706"/>
            <a:chOff x="563566" y="288855"/>
            <a:chExt cx="1525950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2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总结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5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.1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39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885427" y="1166842"/>
            <a:ext cx="949782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问题：聚焦于大模型服务中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带来的</a:t>
            </a:r>
            <a:r>
              <a:rPr lang="zh-CN" altLang="en-US" sz="2400" dirty="0">
                <a:solidFill>
                  <a:srgbClr val="FF0000"/>
                </a:solidFill>
              </a:rPr>
              <a:t>低吞吐、高成本</a:t>
            </a:r>
            <a:r>
              <a:rPr lang="zh-CN" altLang="en-US" sz="2400" dirty="0"/>
              <a:t>问题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挑战：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具有极强的动态性，核心挑战为如何</a:t>
            </a:r>
            <a:r>
              <a:rPr lang="zh-CN" altLang="en-US" sz="2400" dirty="0">
                <a:solidFill>
                  <a:srgbClr val="FF0000"/>
                </a:solidFill>
              </a:rPr>
              <a:t>分配存储空间</a:t>
            </a:r>
            <a:r>
              <a:rPr lang="zh-CN" altLang="en-US" sz="2400" dirty="0"/>
              <a:t>以及如何</a:t>
            </a:r>
            <a:r>
              <a:rPr lang="zh-CN" altLang="en-US" sz="2400" dirty="0">
                <a:solidFill>
                  <a:srgbClr val="FF0000"/>
                </a:solidFill>
              </a:rPr>
              <a:t>共享存储空间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贡献：</a:t>
            </a:r>
            <a:endParaRPr lang="en-US" altLang="zh-CN" sz="2400" dirty="0"/>
          </a:p>
          <a:p>
            <a:r>
              <a:rPr lang="en-US" altLang="zh-CN" sz="2400" dirty="0"/>
              <a:t>	1</a:t>
            </a:r>
            <a:r>
              <a:rPr lang="zh-CN" altLang="en-US" sz="2400" dirty="0"/>
              <a:t>、识别出了现有系统在存储分配中的问题，并评估了对模型服务吞吐的影响。</a:t>
            </a:r>
            <a:endParaRPr lang="en-US" altLang="zh-CN" sz="2400" dirty="0"/>
          </a:p>
          <a:p>
            <a:r>
              <a:rPr lang="en-US" altLang="zh-CN" sz="2400" dirty="0"/>
              <a:t>	2</a:t>
            </a:r>
            <a:r>
              <a:rPr lang="zh-CN" altLang="en-US" sz="2400" dirty="0"/>
              <a:t>、提出了</a:t>
            </a:r>
            <a:r>
              <a:rPr lang="en-US" altLang="zh-CN" sz="2400" dirty="0" err="1"/>
              <a:t>PagedAttention</a:t>
            </a:r>
            <a:r>
              <a:rPr lang="zh-CN" altLang="en-US" sz="2400" dirty="0"/>
              <a:t>算法，实现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在非连续的存储情况下仍然能正确进行计算。</a:t>
            </a:r>
            <a:endParaRPr lang="en-US" altLang="zh-CN" sz="2400" dirty="0"/>
          </a:p>
          <a:p>
            <a:r>
              <a:rPr lang="en-US" altLang="zh-CN" sz="2400" dirty="0"/>
              <a:t>	3</a:t>
            </a:r>
            <a:r>
              <a:rPr lang="zh-CN" altLang="en-US" sz="2400" dirty="0"/>
              <a:t>、基于</a:t>
            </a:r>
            <a:r>
              <a:rPr lang="en-US" altLang="zh-CN" sz="2400" dirty="0" err="1"/>
              <a:t>PagedAttention</a:t>
            </a:r>
            <a:r>
              <a:rPr lang="zh-CN" altLang="en-US" sz="2400" dirty="0"/>
              <a:t>构建了完整的服务系统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，并开源。</a:t>
            </a:r>
            <a:endParaRPr lang="en-US" altLang="zh-CN" sz="2400" dirty="0"/>
          </a:p>
          <a:p>
            <a:r>
              <a:rPr lang="en-US" altLang="zh-CN" sz="2400" dirty="0"/>
              <a:t>	4</a:t>
            </a:r>
            <a:r>
              <a:rPr lang="zh-CN" altLang="en-US" sz="2400" dirty="0"/>
              <a:t>、将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应用于多种复杂推理模式，相比现有系统的性能提升较多。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56012" y="146582"/>
            <a:ext cx="4199844" cy="659706"/>
            <a:chOff x="563566" y="288855"/>
            <a:chExt cx="3075393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2304445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一些可能的疑问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5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.2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40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880668" y="3821158"/>
            <a:ext cx="1006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 err="1"/>
              <a:t>vLLM</a:t>
            </a:r>
            <a:r>
              <a:rPr lang="zh-CN" altLang="en-US" sz="2400" b="1" dirty="0"/>
              <a:t>对存储高效的管理为什么会降低归一化推理延迟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1032583" y="4429405"/>
            <a:ext cx="100633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归一化延迟</a:t>
            </a:r>
            <a:r>
              <a:rPr lang="en-US" altLang="zh-CN" sz="2400" dirty="0"/>
              <a:t>=batch</a:t>
            </a:r>
            <a:r>
              <a:rPr lang="zh-CN" altLang="en-US" sz="2400" dirty="0"/>
              <a:t>中所有用户请求处理总时间</a:t>
            </a:r>
            <a:r>
              <a:rPr lang="en-US" altLang="zh-CN" sz="2400" dirty="0"/>
              <a:t>/</a:t>
            </a:r>
            <a:r>
              <a:rPr lang="zh-CN" altLang="en-US" sz="2400" dirty="0"/>
              <a:t>总</a:t>
            </a:r>
            <a:r>
              <a:rPr lang="en-US" altLang="zh-CN" sz="2400" dirty="0"/>
              <a:t>token</a:t>
            </a:r>
            <a:r>
              <a:rPr lang="zh-CN" altLang="en-US" sz="2400" dirty="0"/>
              <a:t>数量。</a:t>
            </a:r>
            <a:endParaRPr lang="en-US" altLang="zh-CN" sz="2400" dirty="0"/>
          </a:p>
          <a:p>
            <a:r>
              <a:rPr lang="zh-CN" altLang="en-US" sz="2400" dirty="0"/>
              <a:t>如果只单独看一个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的推理时间，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由于有调度时间肯定会更长。但是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可以同时处理更多的请求数量，提升了总</a:t>
            </a:r>
            <a:r>
              <a:rPr lang="en-US" altLang="zh-CN" sz="2400" dirty="0"/>
              <a:t>token</a:t>
            </a:r>
            <a:r>
              <a:rPr lang="zh-CN" altLang="en-US" sz="2400" dirty="0"/>
              <a:t>数量。同时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对存储资源的管理会减少显存回收、重分配、以及与</a:t>
            </a:r>
            <a:r>
              <a:rPr lang="en-US" altLang="zh-CN" sz="2400" dirty="0"/>
              <a:t>CPU</a:t>
            </a:r>
            <a:r>
              <a:rPr lang="zh-CN" altLang="en-US" sz="2400" dirty="0"/>
              <a:t>交换的频率。也能减少时间开销。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18BDF6-CE52-69D0-8E40-B47703506B62}"/>
              </a:ext>
            </a:extLst>
          </p:cNvPr>
          <p:cNvSpPr txBox="1"/>
          <p:nvPr/>
        </p:nvSpPr>
        <p:spPr>
          <a:xfrm>
            <a:off x="880668" y="1159791"/>
            <a:ext cx="1006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、对</a:t>
            </a:r>
            <a:r>
              <a:rPr lang="en-US" altLang="zh-CN" sz="2400" b="1" dirty="0" err="1"/>
              <a:t>KVCache</a:t>
            </a:r>
            <a:r>
              <a:rPr lang="zh-CN" altLang="en-US" sz="2400" b="1" dirty="0"/>
              <a:t>访问缓存不命中怎么办</a:t>
            </a:r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C07463-2E01-0DA9-3A1F-208DFF22BFEA}"/>
              </a:ext>
            </a:extLst>
          </p:cNvPr>
          <p:cNvSpPr txBox="1"/>
          <p:nvPr/>
        </p:nvSpPr>
        <p:spPr>
          <a:xfrm>
            <a:off x="1032583" y="1768038"/>
            <a:ext cx="10063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此处其实并不存在不命中的情况，因为</a:t>
            </a:r>
            <a:r>
              <a:rPr lang="en-US" altLang="zh-CN" sz="2400" dirty="0" err="1"/>
              <a:t>vLLM</a:t>
            </a:r>
            <a:r>
              <a:rPr lang="zh-CN" altLang="en-US" sz="2400" dirty="0"/>
              <a:t>其实就是用了一张表来记录所有的存储信息，所有张量也存储在</a:t>
            </a:r>
            <a:r>
              <a:rPr lang="en-US" altLang="zh-CN" sz="2400" dirty="0"/>
              <a:t>GPU</a:t>
            </a:r>
            <a:r>
              <a:rPr lang="zh-CN" altLang="en-US" sz="2400" dirty="0"/>
              <a:t>上面，当作记录表更合适。</a:t>
            </a:r>
            <a:endParaRPr lang="en-US" altLang="zh-CN" sz="2400" dirty="0"/>
          </a:p>
          <a:p>
            <a:r>
              <a:rPr lang="zh-CN" altLang="en-US" sz="2400" dirty="0"/>
              <a:t>对于换出到</a:t>
            </a:r>
            <a:r>
              <a:rPr lang="en-US" altLang="zh-CN" sz="2400" dirty="0"/>
              <a:t>CPU</a:t>
            </a:r>
            <a:r>
              <a:rPr lang="zh-CN" altLang="en-US" sz="2400" dirty="0"/>
              <a:t>的</a:t>
            </a:r>
            <a:r>
              <a:rPr lang="en-US" altLang="zh-CN" sz="2400" dirty="0"/>
              <a:t>KV</a:t>
            </a:r>
            <a:r>
              <a:rPr lang="zh-CN" altLang="en-US" sz="2400" dirty="0"/>
              <a:t>，由于换出策略在换出前已经确定了这不是当前计算所需的资源，因此不存在对其的访问。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3" y="0"/>
            <a:ext cx="952870" cy="9528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56012" y="146582"/>
            <a:ext cx="2083879" cy="659706"/>
            <a:chOff x="563566" y="288855"/>
            <a:chExt cx="1525949" cy="659706"/>
          </a:xfrm>
        </p:grpSpPr>
        <p:sp>
          <p:nvSpPr>
            <p:cNvPr id="3" name="矩形 2"/>
            <p:cNvSpPr/>
            <p:nvPr/>
          </p:nvSpPr>
          <p:spPr>
            <a:xfrm>
              <a:off x="1334514" y="318626"/>
              <a:ext cx="755001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思考</a:t>
              </a:r>
              <a:endPara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63566" y="288855"/>
              <a:ext cx="659706" cy="65970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5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.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中宋" panose="02010600040101010101" pitchFamily="2" charset="-122"/>
                  <a:cs typeface="Nirmala UI" panose="020B0502040204020203" pitchFamily="34" charset="0"/>
                  <a:sym typeface="Century Gothic" panose="020B0502020202020204" pitchFamily="34" charset="0"/>
                </a:rPr>
                <a:t>3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  <a:cs typeface="Nirmala UI" panose="020B0502040204020203" pitchFamily="34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36751" y="6016829"/>
            <a:ext cx="1037711" cy="643890"/>
            <a:chOff x="10558021" y="5756910"/>
            <a:chExt cx="1037711" cy="643890"/>
          </a:xfrm>
        </p:grpSpPr>
        <p:sp>
          <p:nvSpPr>
            <p:cNvPr id="11" name="箭头: 五边形 10"/>
            <p:cNvSpPr/>
            <p:nvPr/>
          </p:nvSpPr>
          <p:spPr>
            <a:xfrm rot="10800000">
              <a:off x="10558021" y="5756910"/>
              <a:ext cx="952870" cy="64389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991653" y="5903615"/>
              <a:ext cx="604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41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963632" y="1245047"/>
            <a:ext cx="10063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写作方面</a:t>
            </a:r>
            <a:r>
              <a:rPr lang="zh-CN" altLang="en-US" sz="2400" dirty="0"/>
              <a:t>：文章故事方面比较</a:t>
            </a:r>
            <a:r>
              <a:rPr lang="zh-CN" altLang="en-US" sz="2400" dirty="0">
                <a:solidFill>
                  <a:srgbClr val="FF0000"/>
                </a:solidFill>
              </a:rPr>
              <a:t>通俗易懂</a:t>
            </a:r>
            <a:r>
              <a:rPr lang="zh-CN" altLang="en-US" sz="2400" dirty="0"/>
              <a:t>，可能考虑到这是系统的会议，因此在背景介绍部分，作者花了较多笔墨对</a:t>
            </a:r>
            <a:r>
              <a:rPr lang="en-US" altLang="zh-CN" sz="2400" dirty="0"/>
              <a:t>AI</a:t>
            </a:r>
            <a:r>
              <a:rPr lang="zh-CN" altLang="en-US" sz="2400" dirty="0"/>
              <a:t>进行了介绍，系统方面偏少一些，</a:t>
            </a:r>
            <a:r>
              <a:rPr lang="zh-CN" altLang="en-US" sz="2400" dirty="0">
                <a:solidFill>
                  <a:srgbClr val="FF0000"/>
                </a:solidFill>
              </a:rPr>
              <a:t>考虑了读者范围。</a:t>
            </a:r>
            <a:r>
              <a:rPr lang="zh-CN" altLang="en-US" sz="2400" dirty="0"/>
              <a:t>另外，论文中给出了</a:t>
            </a:r>
            <a:r>
              <a:rPr lang="zh-CN" altLang="en-US" sz="2400" dirty="0">
                <a:solidFill>
                  <a:srgbClr val="FF0000"/>
                </a:solidFill>
              </a:rPr>
              <a:t>大量示意图</a:t>
            </a:r>
            <a:r>
              <a:rPr lang="zh-CN" altLang="en-US" sz="2400" dirty="0"/>
              <a:t>，十分有助于理解。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963632" y="2961552"/>
            <a:ext cx="10063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思考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/>
              <a:t>	1</a:t>
            </a:r>
            <a:r>
              <a:rPr lang="zh-CN" altLang="en-US" sz="2400" dirty="0"/>
              <a:t>、论文提出的方案</a:t>
            </a:r>
            <a:r>
              <a:rPr lang="zh-CN" altLang="en-US" sz="2400" dirty="0">
                <a:solidFill>
                  <a:srgbClr val="FF0000"/>
                </a:solidFill>
              </a:rPr>
              <a:t>并不是直接适用于所有</a:t>
            </a:r>
            <a:r>
              <a:rPr lang="en-US" altLang="zh-CN" sz="2400" dirty="0">
                <a:solidFill>
                  <a:srgbClr val="FF0000"/>
                </a:solidFill>
              </a:rPr>
              <a:t>GPU</a:t>
            </a:r>
            <a:r>
              <a:rPr lang="zh-CN" altLang="en-US" sz="2400" dirty="0">
                <a:solidFill>
                  <a:srgbClr val="FF0000"/>
                </a:solidFill>
              </a:rPr>
              <a:t>上的存储分配</a:t>
            </a:r>
            <a:r>
              <a:rPr lang="zh-CN" altLang="en-US" sz="2400" dirty="0"/>
              <a:t>的。对于模型训练或者非大模型的部署时，</a:t>
            </a:r>
            <a:r>
              <a:rPr lang="en-US" altLang="zh-CN" sz="2400" dirty="0"/>
              <a:t>GPU</a:t>
            </a:r>
            <a:r>
              <a:rPr lang="zh-CN" altLang="en-US" sz="2400" dirty="0"/>
              <a:t>上的存储分配又会有很多静态问题。因此</a:t>
            </a:r>
            <a:r>
              <a:rPr lang="en-US" altLang="zh-CN" sz="2400" dirty="0"/>
              <a:t>GPU</a:t>
            </a:r>
            <a:r>
              <a:rPr lang="zh-CN" altLang="en-US" sz="2400" dirty="0"/>
              <a:t>上的存储分配方案还需要设计更加灵活、更加高效的方案。</a:t>
            </a:r>
            <a:endParaRPr lang="en-US" altLang="zh-CN" sz="2400" dirty="0"/>
          </a:p>
          <a:p>
            <a:r>
              <a:rPr lang="en-US" altLang="zh-CN" sz="2400" dirty="0"/>
              <a:t>	2</a:t>
            </a:r>
            <a:r>
              <a:rPr lang="zh-CN" altLang="en-US" sz="2400" dirty="0"/>
              <a:t>、由于大模型的推进，现有的电脑、服务器甚至小型集群也成为了“资源受限”设备，因此在系统层面的铺张浪费将不再可取。相比于之前小模型部署到资源受限的场景，大模型在该场景下最大的不同在于，此时的“资源受限”设备具有</a:t>
            </a:r>
            <a:r>
              <a:rPr lang="zh-CN" altLang="en-US" sz="2400" dirty="0">
                <a:solidFill>
                  <a:srgbClr val="FF0000"/>
                </a:solidFill>
              </a:rPr>
              <a:t>更丰富、更完整的多级计算机体系结构</a:t>
            </a:r>
            <a:r>
              <a:rPr lang="zh-CN" altLang="en-US" sz="2400" dirty="0"/>
              <a:t>，因此可优化空间巨大。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98718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66517" y="2372944"/>
            <a:ext cx="357020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noProof="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 pitchFamily="34" charset="0"/>
                <a:ea typeface="微软雅黑" panose="020B0503020204020204" charset="-122"/>
                <a:cs typeface="Nirmala UI" panose="020B0502040204020203" pitchFamily="34" charset="0"/>
                <a:sym typeface="Century Gothic" panose="020B0502020202020204" pitchFamily="34" charset="0"/>
              </a:rPr>
              <a:t>谢谢大家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  <a:sym typeface="Century Gothic" panose="020B0502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541" y="584200"/>
            <a:ext cx="1567903" cy="1567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WIzNDg2MmIzZjExOTIzMmViNTBmYTMwYTk0Z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6"/>
  <p:tag name="KSO_WM_TEMPLATE_SCENE_ID" val="1"/>
  <p:tag name="KSO_WM_TEMPLATE_JOB_ID" val="6"/>
  <p:tag name="KSO_WM_TEMPLATE_TOPIC_DEFAULT" val="0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3813</Words>
  <Application>Microsoft Office PowerPoint</Application>
  <PresentationFormat>宽屏</PresentationFormat>
  <Paragraphs>1025</Paragraphs>
  <Slides>44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LinBiolinumT</vt:lpstr>
      <vt:lpstr>OpenSans</vt:lpstr>
      <vt:lpstr>宋体</vt:lpstr>
      <vt:lpstr>微软雅黑</vt:lpstr>
      <vt:lpstr>Arial</vt:lpstr>
      <vt:lpstr>Calibri</vt:lpstr>
      <vt:lpstr>Century Gothic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si zhang</dc:creator>
  <cp:lastModifiedBy>si zhang</cp:lastModifiedBy>
  <cp:revision>191</cp:revision>
  <dcterms:created xsi:type="dcterms:W3CDTF">2023-10-10T05:58:00Z</dcterms:created>
  <dcterms:modified xsi:type="dcterms:W3CDTF">2023-11-24T06:27:36Z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3F5E678DEE934E5887EC3A67132977C2_12</vt:lpwstr>
  </property>
  <property fmtid="{D5CDD505-2E9C-101B-9397-08002B2CF9AE}" pid="3" name="KSOProductBuildVer">
    <vt:lpwstr>2052-12.1.0.15712</vt:lpwstr>
  </property>
</Properties>
</file>