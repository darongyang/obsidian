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355" r:id="rId2"/>
    <p:sldId id="755" r:id="rId3"/>
    <p:sldId id="778" r:id="rId4"/>
    <p:sldId id="758" r:id="rId5"/>
    <p:sldId id="756" r:id="rId6"/>
    <p:sldId id="757" r:id="rId7"/>
    <p:sldId id="774" r:id="rId8"/>
    <p:sldId id="773" r:id="rId9"/>
    <p:sldId id="775" r:id="rId10"/>
    <p:sldId id="776" r:id="rId11"/>
    <p:sldId id="777" r:id="rId12"/>
    <p:sldId id="751" r:id="rId13"/>
    <p:sldId id="780" r:id="rId14"/>
    <p:sldId id="779" r:id="rId15"/>
    <p:sldId id="781" r:id="rId16"/>
    <p:sldId id="782" r:id="rId17"/>
    <p:sldId id="784" r:id="rId18"/>
    <p:sldId id="785" r:id="rId19"/>
    <p:sldId id="786" r:id="rId20"/>
    <p:sldId id="787" r:id="rId21"/>
    <p:sldId id="788" r:id="rId22"/>
    <p:sldId id="790" r:id="rId23"/>
    <p:sldId id="789" r:id="rId24"/>
    <p:sldId id="718" r:id="rId25"/>
    <p:sldId id="719" r:id="rId26"/>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49" userDrawn="1">
          <p15:clr>
            <a:srgbClr val="A4A3A4"/>
          </p15:clr>
        </p15:guide>
        <p15:guide id="2" pos="55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a:srgbClr val="264B8C"/>
    <a:srgbClr val="F2F2F2"/>
    <a:srgbClr val="CACACA"/>
    <a:srgbClr val="A6A6A6"/>
    <a:srgbClr val="999999"/>
    <a:srgbClr val="0062AC"/>
    <a:srgbClr val="D9D9D9"/>
    <a:srgbClr val="BBB487"/>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72" autoAdjust="0"/>
    <p:restoredTop sz="82063" autoAdjust="0"/>
  </p:normalViewPr>
  <p:slideViewPr>
    <p:cSldViewPr snapToGrid="0">
      <p:cViewPr>
        <p:scale>
          <a:sx n="75" d="100"/>
          <a:sy n="75" d="100"/>
        </p:scale>
        <p:origin x="2154" y="408"/>
      </p:cViewPr>
      <p:guideLst>
        <p:guide orient="horz" pos="1049"/>
        <p:guide pos="5541"/>
      </p:guideLst>
    </p:cSldViewPr>
  </p:slideViewPr>
  <p:notesTextViewPr>
    <p:cViewPr>
      <p:scale>
        <a:sx n="3" d="2"/>
        <a:sy n="3" d="2"/>
      </p:scale>
      <p:origin x="0" y="0"/>
    </p:cViewPr>
  </p:notesTextViewPr>
  <p:sorterViewPr>
    <p:cViewPr varScale="1">
      <p:scale>
        <a:sx n="1" d="1"/>
        <a:sy n="1" d="1"/>
      </p:scale>
      <p:origin x="0" y="0"/>
    </p:cViewPr>
  </p:sorterViewPr>
  <p:notesViewPr>
    <p:cSldViewPr>
      <p:cViewPr>
        <p:scale>
          <a:sx n="66" d="100"/>
          <a:sy n="66" d="100"/>
        </p:scale>
        <p:origin x="6210" y="168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5BC5FC8-45B9-B339-253D-CB28166A8CA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62A9121-D8C8-8108-46D0-D1640207AC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681991-E076-4FC1-8E6B-802C1FF7EBBF}" type="datetimeFigureOut">
              <a:rPr lang="zh-CN" altLang="en-US" smtClean="0"/>
              <a:t>2024/3/8</a:t>
            </a:fld>
            <a:endParaRPr lang="zh-CN" altLang="en-US"/>
          </a:p>
        </p:txBody>
      </p:sp>
      <p:sp>
        <p:nvSpPr>
          <p:cNvPr id="4" name="页脚占位符 3">
            <a:extLst>
              <a:ext uri="{FF2B5EF4-FFF2-40B4-BE49-F238E27FC236}">
                <a16:creationId xmlns:a16="http://schemas.microsoft.com/office/drawing/2014/main" id="{DDB01BFD-2026-01B4-38F2-09FD634A9E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8486B0EF-6ECA-96B1-ACCD-C8AFC323C3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6B9F7A-1CF2-4952-977B-C56BCDFBFEBA}" type="slidenum">
              <a:rPr lang="zh-CN" altLang="en-US" smtClean="0"/>
              <a:t>‹#›</a:t>
            </a:fld>
            <a:endParaRPr lang="zh-CN" altLang="en-US"/>
          </a:p>
        </p:txBody>
      </p:sp>
    </p:spTree>
    <p:extLst>
      <p:ext uri="{BB962C8B-B14F-4D97-AF65-F5344CB8AC3E}">
        <p14:creationId xmlns:p14="http://schemas.microsoft.com/office/powerpoint/2010/main" val="12887429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D3007C-0BBF-4CAD-B02F-7664B804665F}" type="datetimeFigureOut">
              <a:rPr lang="zh-CN" altLang="en-US" smtClean="0"/>
              <a:t>2024/3/8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7DC7C-EA85-41EA-BE8E-3BC04B9579CE}" type="slidenum">
              <a:rPr lang="zh-CN" altLang="en-US" smtClean="0"/>
              <a:t>‹#›</a:t>
            </a:fld>
            <a:endParaRPr lang="zh-CN" altLang="en-US"/>
          </a:p>
        </p:txBody>
      </p:sp>
    </p:spTree>
    <p:extLst>
      <p:ext uri="{BB962C8B-B14F-4D97-AF65-F5344CB8AC3E}">
        <p14:creationId xmlns:p14="http://schemas.microsoft.com/office/powerpoint/2010/main" val="2573099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1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22B61A1E-9EDA-480D-B7B8-4B6F28920C12}" type="slidenum">
              <a:rPr lang="zh-CN" altLang="en-US">
                <a:latin typeface="Calibri" panose="020F0502020204030204" pitchFamily="34" charset="0"/>
                <a:ea typeface="宋体" panose="02010600030101010101" pitchFamily="2" charset="-122"/>
              </a:rPr>
              <a:pPr fontAlgn="base">
                <a:spcBef>
                  <a:spcPct val="0"/>
                </a:spcBef>
                <a:spcAft>
                  <a:spcPct val="0"/>
                </a:spcAft>
              </a:pPr>
              <a:t>1</a:t>
            </a:fld>
            <a:endParaRPr lang="zh-CN" altLang="en-US">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237172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2</a:t>
            </a:fld>
            <a:endParaRPr lang="zh-CN" altLang="en-US"/>
          </a:p>
        </p:txBody>
      </p:sp>
    </p:spTree>
    <p:extLst>
      <p:ext uri="{BB962C8B-B14F-4D97-AF65-F5344CB8AC3E}">
        <p14:creationId xmlns:p14="http://schemas.microsoft.com/office/powerpoint/2010/main" val="1090426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3</a:t>
            </a:fld>
            <a:endParaRPr lang="zh-CN" altLang="en-US"/>
          </a:p>
        </p:txBody>
      </p:sp>
    </p:spTree>
    <p:extLst>
      <p:ext uri="{BB962C8B-B14F-4D97-AF65-F5344CB8AC3E}">
        <p14:creationId xmlns:p14="http://schemas.microsoft.com/office/powerpoint/2010/main" val="2624725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4</a:t>
            </a:fld>
            <a:endParaRPr lang="zh-CN" altLang="en-US"/>
          </a:p>
        </p:txBody>
      </p:sp>
    </p:spTree>
    <p:extLst>
      <p:ext uri="{BB962C8B-B14F-4D97-AF65-F5344CB8AC3E}">
        <p14:creationId xmlns:p14="http://schemas.microsoft.com/office/powerpoint/2010/main" val="3914809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5</a:t>
            </a:fld>
            <a:endParaRPr lang="zh-CN" altLang="en-US"/>
          </a:p>
        </p:txBody>
      </p:sp>
    </p:spTree>
    <p:extLst>
      <p:ext uri="{BB962C8B-B14F-4D97-AF65-F5344CB8AC3E}">
        <p14:creationId xmlns:p14="http://schemas.microsoft.com/office/powerpoint/2010/main" val="2059867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（但是总</a:t>
            </a:r>
            <a:r>
              <a:rPr lang="en-US" altLang="zh-CN" dirty="0"/>
              <a:t>io</a:t>
            </a:r>
            <a:r>
              <a:rPr lang="zh-CN" altLang="en-US" dirty="0"/>
              <a:t>是什么样的呢</a:t>
            </a:r>
          </a:p>
        </p:txBody>
      </p:sp>
      <p:sp>
        <p:nvSpPr>
          <p:cNvPr id="4" name="灯片编号占位符 3"/>
          <p:cNvSpPr>
            <a:spLocks noGrp="1"/>
          </p:cNvSpPr>
          <p:nvPr>
            <p:ph type="sldNum" sz="quarter" idx="5"/>
          </p:nvPr>
        </p:nvSpPr>
        <p:spPr/>
        <p:txBody>
          <a:bodyPr/>
          <a:lstStyle/>
          <a:p>
            <a:fld id="{8927DC7C-EA85-41EA-BE8E-3BC04B9579CE}" type="slidenum">
              <a:rPr lang="zh-CN" altLang="en-US" smtClean="0"/>
              <a:t>6</a:t>
            </a:fld>
            <a:endParaRPr lang="zh-CN" altLang="en-US"/>
          </a:p>
        </p:txBody>
      </p:sp>
    </p:spTree>
    <p:extLst>
      <p:ext uri="{BB962C8B-B14F-4D97-AF65-F5344CB8AC3E}">
        <p14:creationId xmlns:p14="http://schemas.microsoft.com/office/powerpoint/2010/main" val="4123892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（但是总</a:t>
            </a:r>
            <a:r>
              <a:rPr lang="en-US" altLang="zh-CN" dirty="0"/>
              <a:t>io</a:t>
            </a:r>
            <a:r>
              <a:rPr lang="zh-CN" altLang="en-US" dirty="0"/>
              <a:t>是什么样的呢</a:t>
            </a:r>
          </a:p>
        </p:txBody>
      </p:sp>
      <p:sp>
        <p:nvSpPr>
          <p:cNvPr id="4" name="灯片编号占位符 3"/>
          <p:cNvSpPr>
            <a:spLocks noGrp="1"/>
          </p:cNvSpPr>
          <p:nvPr>
            <p:ph type="sldNum" sz="quarter" idx="5"/>
          </p:nvPr>
        </p:nvSpPr>
        <p:spPr/>
        <p:txBody>
          <a:bodyPr/>
          <a:lstStyle/>
          <a:p>
            <a:fld id="{8927DC7C-EA85-41EA-BE8E-3BC04B9579CE}" type="slidenum">
              <a:rPr lang="zh-CN" altLang="en-US" smtClean="0"/>
              <a:t>7</a:t>
            </a:fld>
            <a:endParaRPr lang="zh-CN" altLang="en-US"/>
          </a:p>
        </p:txBody>
      </p:sp>
    </p:spTree>
    <p:extLst>
      <p:ext uri="{BB962C8B-B14F-4D97-AF65-F5344CB8AC3E}">
        <p14:creationId xmlns:p14="http://schemas.microsoft.com/office/powerpoint/2010/main" val="4237500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12</a:t>
            </a:fld>
            <a:endParaRPr lang="zh-CN" altLang="en-US"/>
          </a:p>
        </p:txBody>
      </p:sp>
    </p:spTree>
    <p:extLst>
      <p:ext uri="{BB962C8B-B14F-4D97-AF65-F5344CB8AC3E}">
        <p14:creationId xmlns:p14="http://schemas.microsoft.com/office/powerpoint/2010/main" val="294836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13</a:t>
            </a:fld>
            <a:endParaRPr lang="zh-CN" altLang="en-US"/>
          </a:p>
        </p:txBody>
      </p:sp>
    </p:spTree>
    <p:extLst>
      <p:ext uri="{BB962C8B-B14F-4D97-AF65-F5344CB8AC3E}">
        <p14:creationId xmlns:p14="http://schemas.microsoft.com/office/powerpoint/2010/main" val="1513620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14</a:t>
            </a:fld>
            <a:endParaRPr lang="zh-CN" altLang="en-US"/>
          </a:p>
        </p:txBody>
      </p:sp>
    </p:spTree>
    <p:extLst>
      <p:ext uri="{BB962C8B-B14F-4D97-AF65-F5344CB8AC3E}">
        <p14:creationId xmlns:p14="http://schemas.microsoft.com/office/powerpoint/2010/main" val="4125563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15</a:t>
            </a:fld>
            <a:endParaRPr lang="zh-CN" altLang="en-US"/>
          </a:p>
        </p:txBody>
      </p:sp>
    </p:spTree>
    <p:extLst>
      <p:ext uri="{BB962C8B-B14F-4D97-AF65-F5344CB8AC3E}">
        <p14:creationId xmlns:p14="http://schemas.microsoft.com/office/powerpoint/2010/main" val="37589147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16</a:t>
            </a:fld>
            <a:endParaRPr lang="zh-CN" altLang="en-US"/>
          </a:p>
        </p:txBody>
      </p:sp>
    </p:spTree>
    <p:extLst>
      <p:ext uri="{BB962C8B-B14F-4D97-AF65-F5344CB8AC3E}">
        <p14:creationId xmlns:p14="http://schemas.microsoft.com/office/powerpoint/2010/main" val="3684286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17</a:t>
            </a:fld>
            <a:endParaRPr lang="zh-CN" altLang="en-US"/>
          </a:p>
        </p:txBody>
      </p:sp>
    </p:spTree>
    <p:extLst>
      <p:ext uri="{BB962C8B-B14F-4D97-AF65-F5344CB8AC3E}">
        <p14:creationId xmlns:p14="http://schemas.microsoft.com/office/powerpoint/2010/main" val="4170249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18</a:t>
            </a:fld>
            <a:endParaRPr lang="zh-CN" altLang="en-US"/>
          </a:p>
        </p:txBody>
      </p:sp>
    </p:spTree>
    <p:extLst>
      <p:ext uri="{BB962C8B-B14F-4D97-AF65-F5344CB8AC3E}">
        <p14:creationId xmlns:p14="http://schemas.microsoft.com/office/powerpoint/2010/main" val="2870231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19</a:t>
            </a:fld>
            <a:endParaRPr lang="zh-CN" altLang="en-US"/>
          </a:p>
        </p:txBody>
      </p:sp>
    </p:spTree>
    <p:extLst>
      <p:ext uri="{BB962C8B-B14F-4D97-AF65-F5344CB8AC3E}">
        <p14:creationId xmlns:p14="http://schemas.microsoft.com/office/powerpoint/2010/main" val="3048732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20</a:t>
            </a:fld>
            <a:endParaRPr lang="zh-CN" altLang="en-US"/>
          </a:p>
        </p:txBody>
      </p:sp>
    </p:spTree>
    <p:extLst>
      <p:ext uri="{BB962C8B-B14F-4D97-AF65-F5344CB8AC3E}">
        <p14:creationId xmlns:p14="http://schemas.microsoft.com/office/powerpoint/2010/main" val="29994703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21</a:t>
            </a:fld>
            <a:endParaRPr lang="zh-CN" altLang="en-US"/>
          </a:p>
        </p:txBody>
      </p:sp>
    </p:spTree>
    <p:extLst>
      <p:ext uri="{BB962C8B-B14F-4D97-AF65-F5344CB8AC3E}">
        <p14:creationId xmlns:p14="http://schemas.microsoft.com/office/powerpoint/2010/main" val="39343015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宋体" panose="02010600030101010101" pitchFamily="2" charset="-122"/>
                <a:ea typeface="宋体" panose="02010600030101010101" pitchFamily="2" charset="-122"/>
              </a:rPr>
              <a:t>D</a:t>
            </a:r>
            <a:r>
              <a:rPr lang="zh-CN" altLang="en-US" sz="1200" dirty="0">
                <a:latin typeface="宋体" panose="02010600030101010101" pitchFamily="2" charset="-122"/>
                <a:ea typeface="宋体" panose="02010600030101010101" pitchFamily="2" charset="-122"/>
              </a:rPr>
              <a:t>和</a:t>
            </a:r>
            <a:r>
              <a:rPr lang="en-US" altLang="zh-CN" sz="1200" dirty="0">
                <a:latin typeface="宋体" panose="02010600030101010101" pitchFamily="2" charset="-122"/>
                <a:ea typeface="宋体" panose="02010600030101010101" pitchFamily="2" charset="-122"/>
              </a:rPr>
              <a:t>E</a:t>
            </a:r>
            <a:r>
              <a:rPr lang="zh-CN" altLang="en-US" sz="1200" dirty="0">
                <a:latin typeface="宋体" panose="02010600030101010101" pitchFamily="2" charset="-122"/>
                <a:ea typeface="宋体" panose="02010600030101010101" pitchFamily="2" charset="-122"/>
              </a:rPr>
              <a:t>上性能提升不多是因为</a:t>
            </a:r>
            <a:r>
              <a:rPr lang="en-US" altLang="zh-CN" sz="1200" dirty="0">
                <a:latin typeface="宋体" panose="02010600030101010101" pitchFamily="2" charset="-122"/>
                <a:ea typeface="宋体" panose="02010600030101010101" pitchFamily="2" charset="-122"/>
              </a:rPr>
              <a:t>D</a:t>
            </a:r>
            <a:r>
              <a:rPr lang="zh-CN" altLang="en-US" sz="1200" dirty="0">
                <a:latin typeface="宋体" panose="02010600030101010101" pitchFamily="2" charset="-122"/>
                <a:ea typeface="宋体" panose="02010600030101010101" pitchFamily="2" charset="-122"/>
              </a:rPr>
              <a:t>的数据集中新插入的元素是最热的元素，导致很多插入操作都会先进入缓存中，</a:t>
            </a:r>
            <a:r>
              <a:rPr lang="en-US" altLang="zh-CN" sz="1200" dirty="0">
                <a:latin typeface="宋体" panose="02010600030101010101" pitchFamily="2" charset="-122"/>
                <a:ea typeface="宋体" panose="02010600030101010101" pitchFamily="2" charset="-122"/>
              </a:rPr>
              <a:t>E</a:t>
            </a:r>
            <a:r>
              <a:rPr lang="zh-CN" altLang="en-US" sz="1200" dirty="0">
                <a:latin typeface="宋体" panose="02010600030101010101" pitchFamily="2" charset="-122"/>
                <a:ea typeface="宋体" panose="02010600030101010101" pitchFamily="2" charset="-122"/>
              </a:rPr>
              <a:t>上是因为大部分都是</a:t>
            </a:r>
            <a:r>
              <a:rPr lang="en-US" altLang="zh-CN" sz="1200" dirty="0">
                <a:latin typeface="宋体" panose="02010600030101010101" pitchFamily="2" charset="-122"/>
                <a:ea typeface="宋体" panose="02010600030101010101" pitchFamily="2" charset="-122"/>
              </a:rPr>
              <a:t>insert</a:t>
            </a:r>
            <a:r>
              <a:rPr lang="zh-CN" altLang="en-US" sz="1200" dirty="0">
                <a:latin typeface="宋体" panose="02010600030101010101" pitchFamily="2" charset="-122"/>
                <a:ea typeface="宋体" panose="02010600030101010101" pitchFamily="2" charset="-122"/>
              </a:rPr>
              <a:t>和</a:t>
            </a:r>
            <a:r>
              <a:rPr lang="en-US" altLang="zh-CN" sz="1200" dirty="0">
                <a:latin typeface="宋体" panose="02010600030101010101" pitchFamily="2" charset="-122"/>
                <a:ea typeface="宋体" panose="02010600030101010101" pitchFamily="2" charset="-122"/>
              </a:rPr>
              <a:t>scan</a:t>
            </a:r>
            <a:r>
              <a:rPr lang="zh-CN" altLang="en-US" sz="1200" dirty="0">
                <a:latin typeface="宋体" panose="02010600030101010101" pitchFamily="2" charset="-122"/>
                <a:ea typeface="宋体" panose="02010600030101010101" pitchFamily="2" charset="-122"/>
              </a:rPr>
              <a:t>操作</a:t>
            </a:r>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22</a:t>
            </a:fld>
            <a:endParaRPr lang="zh-CN" altLang="en-US"/>
          </a:p>
        </p:txBody>
      </p:sp>
    </p:spTree>
    <p:extLst>
      <p:ext uri="{BB962C8B-B14F-4D97-AF65-F5344CB8AC3E}">
        <p14:creationId xmlns:p14="http://schemas.microsoft.com/office/powerpoint/2010/main" val="40634622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23</a:t>
            </a:fld>
            <a:endParaRPr lang="zh-CN" altLang="en-US"/>
          </a:p>
        </p:txBody>
      </p:sp>
    </p:spTree>
    <p:extLst>
      <p:ext uri="{BB962C8B-B14F-4D97-AF65-F5344CB8AC3E}">
        <p14:creationId xmlns:p14="http://schemas.microsoft.com/office/powerpoint/2010/main" val="4498699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1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22B61A1E-9EDA-480D-B7B8-4B6F28920C12}" type="slidenum">
              <a:rPr lang="zh-CN" altLang="en-US">
                <a:latin typeface="Calibri" panose="020F0502020204030204" pitchFamily="34" charset="0"/>
                <a:ea typeface="宋体" panose="02010600030101010101" pitchFamily="2" charset="-122"/>
              </a:rPr>
              <a:pPr fontAlgn="base">
                <a:spcBef>
                  <a:spcPct val="0"/>
                </a:spcBef>
                <a:spcAft>
                  <a:spcPct val="0"/>
                </a:spcAft>
              </a:pPr>
              <a:t>25</a:t>
            </a:fld>
            <a:endParaRPr lang="zh-CN" altLang="en-US">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7903617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背景">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4838050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027310"/>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dirty="0">
                <a:solidFill>
                  <a:schemeClr val="bg1"/>
                </a:solidFill>
                <a:latin typeface="微软雅黑" panose="020B0503020204020204" pitchFamily="34" charset="-122"/>
                <a:ea typeface="微软雅黑" panose="020B0503020204020204" pitchFamily="34" charset="-122"/>
              </a:rPr>
              <a:t>Intro-</a:t>
            </a:r>
          </a:p>
          <a:p>
            <a:pPr algn="ctr" eaLnBrk="1" fontAlgn="auto" hangingPunct="1">
              <a:spcBef>
                <a:spcPct val="0"/>
              </a:spcBef>
              <a:spcAft>
                <a:spcPct val="0"/>
              </a:spcAft>
              <a:defRPr/>
            </a:pPr>
            <a:r>
              <a:rPr lang="en-US" altLang="zh-CN" sz="1600" b="1" kern="0" spc="120" baseline="0" dirty="0">
                <a:solidFill>
                  <a:schemeClr val="bg1"/>
                </a:solidFill>
                <a:latin typeface="微软雅黑" panose="020B0503020204020204" pitchFamily="34" charset="-122"/>
                <a:ea typeface="微软雅黑" panose="020B0503020204020204" pitchFamily="34" charset="-122"/>
              </a:rPr>
              <a:t>duction</a:t>
            </a:r>
            <a:endParaRPr lang="zh-CN" altLang="en-US" sz="1600" b="1" kern="0" spc="120" baseline="0" dirty="0">
              <a:solidFill>
                <a:schemeClr val="bg1"/>
              </a:solidFill>
              <a:latin typeface="微软雅黑" panose="020B0503020204020204" pitchFamily="34" charset="-122"/>
              <a:ea typeface="微软雅黑" panose="020B0503020204020204" pitchFamily="34" charset="-122"/>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76606" y="1928264"/>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Analysis</a:t>
            </a:r>
            <a:endParaRPr lang="zh-CN" altLang="en-US" sz="1600" b="1" kern="0" spc="120" baseline="0">
              <a:solidFill>
                <a:sysClr val="windowText" lastClr="000000"/>
              </a:solidFill>
              <a:latin typeface="微软雅黑" panose="020B0503020204020204" pitchFamily="34" charset="-122"/>
              <a:ea typeface="微软雅黑" panose="020B0503020204020204" pitchFamily="34" charset="-122"/>
            </a:endParaRP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829218"/>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Design</a:t>
            </a: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Evalua-</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tion</a:t>
            </a: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Conclu-</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sion</a:t>
            </a: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8466" y="1169930"/>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1309006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929639"/>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chemeClr val="bg1"/>
                </a:solidFill>
                <a:latin typeface="微软雅黑" panose="020B0503020204020204" pitchFamily="34" charset="-122"/>
                <a:ea typeface="微软雅黑" panose="020B0503020204020204" pitchFamily="34" charset="-122"/>
              </a:rPr>
              <a:t>Analysis</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Intro-</a:t>
            </a:r>
          </a:p>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duction</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829218"/>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Design</a:t>
            </a: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Evalua-</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tion</a:t>
            </a: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Conclu-</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sion</a:t>
            </a: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9098" y="2072259"/>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6169699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67290" y="2829218"/>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chemeClr val="bg1"/>
                </a:solidFill>
                <a:latin typeface="微软雅黑" panose="020B0503020204020204" pitchFamily="34" charset="-122"/>
                <a:ea typeface="微软雅黑" panose="020B0503020204020204" pitchFamily="34" charset="-122"/>
              </a:rPr>
              <a:t>Design</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Intro-</a:t>
            </a:r>
          </a:p>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duction</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Analysis</a:t>
            </a: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Evalua-</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tion</a:t>
            </a: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Conclu-</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sion</a:t>
            </a: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2971838"/>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9194719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80924" y="3728797"/>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chemeClr val="bg1"/>
                </a:solidFill>
                <a:latin typeface="微软雅黑" panose="020B0503020204020204" pitchFamily="34" charset="-122"/>
                <a:ea typeface="微软雅黑" panose="020B0503020204020204" pitchFamily="34" charset="-122"/>
              </a:rPr>
              <a:t>Evalua-</a:t>
            </a:r>
          </a:p>
          <a:p>
            <a:pPr algn="ctr" eaLnBrk="1" fontAlgn="auto" hangingPunct="1">
              <a:spcBef>
                <a:spcPct val="0"/>
              </a:spcBef>
              <a:spcAft>
                <a:spcPct val="0"/>
              </a:spcAft>
              <a:defRPr/>
            </a:pPr>
            <a:r>
              <a:rPr lang="en-US" altLang="zh-CN" sz="1600" b="1" kern="0" spc="120" baseline="0">
                <a:solidFill>
                  <a:schemeClr val="bg1"/>
                </a:solidFill>
                <a:latin typeface="微软雅黑" panose="020B0503020204020204" pitchFamily="34" charset="-122"/>
                <a:ea typeface="微软雅黑" panose="020B0503020204020204" pitchFamily="34" charset="-122"/>
              </a:rPr>
              <a:t>tion</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Intro-</a:t>
            </a:r>
          </a:p>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duction</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Analysis</a:t>
            </a: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81027" y="282502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Design</a:t>
            </a: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Conclu-</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sion</a:t>
            </a: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3871417"/>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96992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4615809"/>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chemeClr val="bg1"/>
                </a:solidFill>
                <a:latin typeface="微软雅黑" panose="020B0503020204020204" pitchFamily="34" charset="-122"/>
                <a:ea typeface="微软雅黑" panose="020B0503020204020204" pitchFamily="34" charset="-122"/>
              </a:rPr>
              <a:t>Conclu-</a:t>
            </a:r>
          </a:p>
          <a:p>
            <a:pPr algn="ctr" eaLnBrk="1" fontAlgn="auto" hangingPunct="1">
              <a:spcBef>
                <a:spcPct val="0"/>
              </a:spcBef>
              <a:spcAft>
                <a:spcPct val="0"/>
              </a:spcAft>
              <a:defRPr/>
            </a:pPr>
            <a:r>
              <a:rPr lang="en-US" altLang="zh-CN" sz="1600" b="1" kern="0" spc="120" baseline="0">
                <a:solidFill>
                  <a:schemeClr val="bg1"/>
                </a:solidFill>
                <a:latin typeface="微软雅黑" panose="020B0503020204020204" pitchFamily="34" charset="-122"/>
                <a:ea typeface="微软雅黑" panose="020B0503020204020204" pitchFamily="34" charset="-122"/>
              </a:rPr>
              <a:t>sion</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Intro-</a:t>
            </a:r>
          </a:p>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duction</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Analysis</a:t>
            </a: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81027" y="282502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Design</a:t>
            </a: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372041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Evalua-</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tion</a:t>
            </a: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4758429"/>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7463051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027310"/>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研究背景</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研究意义</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71183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55409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396362"/>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74664" y="5238625"/>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工作进展</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8466" y="1169930"/>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3442375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整体流程">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76368FE5-F5E5-4176-96C8-0967A6A09FD3}"/>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869573"/>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研究意义</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71183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sz="1600"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55409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396362"/>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74664" y="5238625"/>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工作进展</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E7272BD3-6FCD-440A-B475-93908412071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3559" y="201219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2670010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整体流程">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C0375C28-9FD3-4EF1-88E9-E56B7DD05E3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2711836"/>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研究现状</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研究意义</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sz="1600"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55409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396362"/>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74664" y="5238625"/>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工作进展</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6F33709C-93B4-4ED6-8119-118E471D2CC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3559" y="2854456"/>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3629298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整体流程">
    <p:spTree>
      <p:nvGrpSpPr>
        <p:cNvPr id="1" name=""/>
        <p:cNvGrpSpPr/>
        <p:nvPr/>
      </p:nvGrpSpPr>
      <p:grpSpPr>
        <a:xfrm>
          <a:off x="0" y="0"/>
          <a:ext cx="0" cy="0"/>
          <a:chOff x="0" y="0"/>
          <a:chExt cx="0" cy="0"/>
        </a:xfrm>
      </p:grpSpPr>
      <p:cxnSp>
        <p:nvCxnSpPr>
          <p:cNvPr id="21" name="直接连接符 20">
            <a:extLst>
              <a:ext uri="{FF2B5EF4-FFF2-40B4-BE49-F238E27FC236}">
                <a16:creationId xmlns:a16="http://schemas.microsoft.com/office/drawing/2014/main" id="{CF5F10A6-B697-4D5B-B320-5EA9BFEDE8F2}"/>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69964" y="3550753"/>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研究内容</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研究意义</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69964" y="271016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396362"/>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74664" y="5238625"/>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工作进展</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2A9E4F26-3063-43AB-9A76-098AA595AF6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94570"/>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2920" y="369337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3635439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整体流程">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E15FCA1A-B0C0-4CE4-A103-1BCD219D9CAB}"/>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6496" y="4391343"/>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研究方案</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研究意义</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69964" y="271016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6496" y="355075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74664" y="5238625"/>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工作进展</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0CC4A094-0390-4AD9-A650-64DC9488C83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3559" y="453396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793049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整体流程">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08078175-CD18-4065-B95B-BB47473A6DD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6496" y="5231933"/>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工作进展</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研究意义</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69964" y="271016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6496" y="355075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82674" y="439134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FA773D1A-CF5B-4F1F-B340-AF11CB7C6C3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2920" y="537455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4294009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整体流程">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7A7C6132-5290-47C3-8028-DAEA85845557}"/>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6496" y="5231933"/>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工作进展</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研究意义</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2920" y="537455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69964" y="271016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6496" y="355075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82674" y="439134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3" name="图片 2">
            <a:extLst>
              <a:ext uri="{FF2B5EF4-FFF2-40B4-BE49-F238E27FC236}">
                <a16:creationId xmlns:a16="http://schemas.microsoft.com/office/drawing/2014/main" id="{21096518-B2FD-4990-89D1-09044A02C7F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spTree>
    <p:extLst>
      <p:ext uri="{BB962C8B-B14F-4D97-AF65-F5344CB8AC3E}">
        <p14:creationId xmlns:p14="http://schemas.microsoft.com/office/powerpoint/2010/main" val="104149451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ckgrou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68090" y="1557814"/>
            <a:ext cx="1584000" cy="684000"/>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b="1" kern="0">
                <a:solidFill>
                  <a:schemeClr val="bg1"/>
                </a:solidFill>
                <a:latin typeface="Times New Roman" panose="02020603050405020304" pitchFamily="18" charset="0"/>
                <a:ea typeface="+mn-ea"/>
                <a:cs typeface="Times New Roman" panose="02020603050405020304" pitchFamily="18" charset="0"/>
              </a:rPr>
              <a:t>Background</a:t>
            </a:r>
            <a:endParaRPr lang="zh-CN" altLang="en-US" sz="2000" b="1" kern="0">
              <a:solidFill>
                <a:schemeClr val="bg1"/>
              </a:solidFill>
              <a:latin typeface="Times New Roman" panose="02020603050405020304" pitchFamily="18" charset="0"/>
              <a:ea typeface="+mn-ea"/>
              <a:cs typeface="Times New Roman" panose="02020603050405020304" pitchFamily="18" charset="0"/>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68090" y="25385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Algorithm Introduction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1796372"/>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59290" y="100560"/>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3">
            <a:extLst>
              <a:ext uri="{FF2B5EF4-FFF2-40B4-BE49-F238E27FC236}">
                <a16:creationId xmlns:a16="http://schemas.microsoft.com/office/drawing/2014/main" id="{8CFF7E95-41AC-404E-B336-6346B3159D85}"/>
              </a:ext>
            </a:extLst>
          </p:cNvPr>
          <p:cNvSpPr/>
          <p:nvPr userDrawn="1"/>
        </p:nvSpPr>
        <p:spPr>
          <a:xfrm>
            <a:off x="168090" y="35192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System Design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sp>
        <p:nvSpPr>
          <p:cNvPr id="16" name="title_3">
            <a:extLst>
              <a:ext uri="{FF2B5EF4-FFF2-40B4-BE49-F238E27FC236}">
                <a16:creationId xmlns:a16="http://schemas.microsoft.com/office/drawing/2014/main" id="{6045DDFB-338A-4A2E-AD2A-18C35F5B0068}"/>
              </a:ext>
            </a:extLst>
          </p:cNvPr>
          <p:cNvSpPr/>
          <p:nvPr userDrawn="1"/>
        </p:nvSpPr>
        <p:spPr>
          <a:xfrm>
            <a:off x="168090" y="44999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ysClr val="windowText" lastClr="000000"/>
                </a:solidFill>
                <a:latin typeface="Times New Roman" panose="02020603050405020304" pitchFamily="18" charset="0"/>
                <a:ea typeface="+mn-ea"/>
                <a:cs typeface="Times New Roman" panose="02020603050405020304" pitchFamily="18" charset="0"/>
              </a:rPr>
              <a:t> </a:t>
            </a: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Conclusion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40780678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lgorithm Introduction">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5" name="title_3">
            <a:extLst>
              <a:ext uri="{FF2B5EF4-FFF2-40B4-BE49-F238E27FC236}">
                <a16:creationId xmlns:a16="http://schemas.microsoft.com/office/drawing/2014/main" id="{5E55DA65-B873-475F-868B-79475144CBDE}"/>
              </a:ext>
            </a:extLst>
          </p:cNvPr>
          <p:cNvSpPr/>
          <p:nvPr userDrawn="1"/>
        </p:nvSpPr>
        <p:spPr>
          <a:xfrm>
            <a:off x="164345" y="15578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Background</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2777072"/>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59290" y="100560"/>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3">
            <a:extLst>
              <a:ext uri="{FF2B5EF4-FFF2-40B4-BE49-F238E27FC236}">
                <a16:creationId xmlns:a16="http://schemas.microsoft.com/office/drawing/2014/main" id="{8CFF7E95-41AC-404E-B336-6346B3159D85}"/>
              </a:ext>
            </a:extLst>
          </p:cNvPr>
          <p:cNvSpPr/>
          <p:nvPr userDrawn="1"/>
        </p:nvSpPr>
        <p:spPr>
          <a:xfrm>
            <a:off x="168090" y="35192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System Design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sp>
        <p:nvSpPr>
          <p:cNvPr id="16" name="title_3">
            <a:extLst>
              <a:ext uri="{FF2B5EF4-FFF2-40B4-BE49-F238E27FC236}">
                <a16:creationId xmlns:a16="http://schemas.microsoft.com/office/drawing/2014/main" id="{6045DDFB-338A-4A2E-AD2A-18C35F5B0068}"/>
              </a:ext>
            </a:extLst>
          </p:cNvPr>
          <p:cNvSpPr/>
          <p:nvPr userDrawn="1"/>
        </p:nvSpPr>
        <p:spPr>
          <a:xfrm>
            <a:off x="168090" y="44999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ysClr val="windowText" lastClr="000000"/>
                </a:solidFill>
                <a:latin typeface="Times New Roman" panose="02020603050405020304" pitchFamily="18" charset="0"/>
                <a:ea typeface="+mn-ea"/>
                <a:cs typeface="Times New Roman" panose="02020603050405020304" pitchFamily="18" charset="0"/>
              </a:rPr>
              <a:t> </a:t>
            </a: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Conclusion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sp>
        <p:nvSpPr>
          <p:cNvPr id="17" name="title_1_green">
            <a:extLst>
              <a:ext uri="{FF2B5EF4-FFF2-40B4-BE49-F238E27FC236}">
                <a16:creationId xmlns:a16="http://schemas.microsoft.com/office/drawing/2014/main" id="{0223E6DD-4173-4A05-8293-0FF4EE8C04B1}"/>
              </a:ext>
            </a:extLst>
          </p:cNvPr>
          <p:cNvSpPr/>
          <p:nvPr userDrawn="1"/>
        </p:nvSpPr>
        <p:spPr>
          <a:xfrm>
            <a:off x="164345" y="2538514"/>
            <a:ext cx="1584000" cy="684000"/>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b="1" kern="0">
                <a:solidFill>
                  <a:schemeClr val="bg1"/>
                </a:solidFill>
                <a:latin typeface="Times New Roman" panose="02020603050405020304" pitchFamily="18" charset="0"/>
                <a:ea typeface="+mn-ea"/>
                <a:cs typeface="Times New Roman" panose="02020603050405020304" pitchFamily="18" charset="0"/>
              </a:rPr>
              <a:t>Algorithm Introduction</a:t>
            </a:r>
          </a:p>
        </p:txBody>
      </p:sp>
    </p:spTree>
    <p:extLst>
      <p:ext uri="{BB962C8B-B14F-4D97-AF65-F5344CB8AC3E}">
        <p14:creationId xmlns:p14="http://schemas.microsoft.com/office/powerpoint/2010/main" val="55062918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ystem Design">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5" name="title_3">
            <a:extLst>
              <a:ext uri="{FF2B5EF4-FFF2-40B4-BE49-F238E27FC236}">
                <a16:creationId xmlns:a16="http://schemas.microsoft.com/office/drawing/2014/main" id="{5E55DA65-B873-475F-868B-79475144CBDE}"/>
              </a:ext>
            </a:extLst>
          </p:cNvPr>
          <p:cNvSpPr/>
          <p:nvPr userDrawn="1"/>
        </p:nvSpPr>
        <p:spPr>
          <a:xfrm>
            <a:off x="164345" y="1551532"/>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Background</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38821" y="3757772"/>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59290" y="100560"/>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3">
            <a:extLst>
              <a:ext uri="{FF2B5EF4-FFF2-40B4-BE49-F238E27FC236}">
                <a16:creationId xmlns:a16="http://schemas.microsoft.com/office/drawing/2014/main" id="{8CFF7E95-41AC-404E-B336-6346B3159D85}"/>
              </a:ext>
            </a:extLst>
          </p:cNvPr>
          <p:cNvSpPr/>
          <p:nvPr userDrawn="1"/>
        </p:nvSpPr>
        <p:spPr>
          <a:xfrm>
            <a:off x="164345" y="2534326"/>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Algorithm Introduction</a:t>
            </a:r>
          </a:p>
        </p:txBody>
      </p:sp>
      <p:sp>
        <p:nvSpPr>
          <p:cNvPr id="16" name="title_3">
            <a:extLst>
              <a:ext uri="{FF2B5EF4-FFF2-40B4-BE49-F238E27FC236}">
                <a16:creationId xmlns:a16="http://schemas.microsoft.com/office/drawing/2014/main" id="{6045DDFB-338A-4A2E-AD2A-18C35F5B0068}"/>
              </a:ext>
            </a:extLst>
          </p:cNvPr>
          <p:cNvSpPr/>
          <p:nvPr userDrawn="1"/>
        </p:nvSpPr>
        <p:spPr>
          <a:xfrm>
            <a:off x="168090" y="44999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ysClr val="windowText" lastClr="000000"/>
                </a:solidFill>
                <a:latin typeface="Times New Roman" panose="02020603050405020304" pitchFamily="18" charset="0"/>
                <a:ea typeface="+mn-ea"/>
                <a:cs typeface="Times New Roman" panose="02020603050405020304" pitchFamily="18" charset="0"/>
              </a:rPr>
              <a:t> </a:t>
            </a: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Conclusion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sp>
        <p:nvSpPr>
          <p:cNvPr id="17" name="title_1_green">
            <a:extLst>
              <a:ext uri="{FF2B5EF4-FFF2-40B4-BE49-F238E27FC236}">
                <a16:creationId xmlns:a16="http://schemas.microsoft.com/office/drawing/2014/main" id="{0223E6DD-4173-4A05-8293-0FF4EE8C04B1}"/>
              </a:ext>
            </a:extLst>
          </p:cNvPr>
          <p:cNvSpPr/>
          <p:nvPr userDrawn="1"/>
        </p:nvSpPr>
        <p:spPr>
          <a:xfrm>
            <a:off x="164345" y="3515026"/>
            <a:ext cx="1584000" cy="684000"/>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b="1" kern="0">
                <a:solidFill>
                  <a:schemeClr val="bg1"/>
                </a:solidFill>
                <a:latin typeface="Times New Roman" panose="02020603050405020304" pitchFamily="18" charset="0"/>
                <a:ea typeface="+mn-ea"/>
                <a:cs typeface="Times New Roman" panose="02020603050405020304" pitchFamily="18" charset="0"/>
              </a:rPr>
              <a:t>System Design</a:t>
            </a:r>
          </a:p>
        </p:txBody>
      </p:sp>
    </p:spTree>
    <p:extLst>
      <p:ext uri="{BB962C8B-B14F-4D97-AF65-F5344CB8AC3E}">
        <p14:creationId xmlns:p14="http://schemas.microsoft.com/office/powerpoint/2010/main" val="182348944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lusion">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5" name="title_3">
            <a:extLst>
              <a:ext uri="{FF2B5EF4-FFF2-40B4-BE49-F238E27FC236}">
                <a16:creationId xmlns:a16="http://schemas.microsoft.com/office/drawing/2014/main" id="{5E55DA65-B873-475F-868B-79475144CBDE}"/>
              </a:ext>
            </a:extLst>
          </p:cNvPr>
          <p:cNvSpPr/>
          <p:nvPr userDrawn="1"/>
        </p:nvSpPr>
        <p:spPr>
          <a:xfrm>
            <a:off x="164345" y="1553626"/>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Background</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71088" y="4734284"/>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59290" y="100560"/>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3">
            <a:extLst>
              <a:ext uri="{FF2B5EF4-FFF2-40B4-BE49-F238E27FC236}">
                <a16:creationId xmlns:a16="http://schemas.microsoft.com/office/drawing/2014/main" id="{8CFF7E95-41AC-404E-B336-6346B3159D85}"/>
              </a:ext>
            </a:extLst>
          </p:cNvPr>
          <p:cNvSpPr/>
          <p:nvPr userDrawn="1"/>
        </p:nvSpPr>
        <p:spPr>
          <a:xfrm>
            <a:off x="164345" y="2534326"/>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Algorithm Introduction</a:t>
            </a:r>
          </a:p>
        </p:txBody>
      </p:sp>
      <p:sp>
        <p:nvSpPr>
          <p:cNvPr id="16" name="title_3">
            <a:extLst>
              <a:ext uri="{FF2B5EF4-FFF2-40B4-BE49-F238E27FC236}">
                <a16:creationId xmlns:a16="http://schemas.microsoft.com/office/drawing/2014/main" id="{6045DDFB-338A-4A2E-AD2A-18C35F5B0068}"/>
              </a:ext>
            </a:extLst>
          </p:cNvPr>
          <p:cNvSpPr/>
          <p:nvPr userDrawn="1"/>
        </p:nvSpPr>
        <p:spPr>
          <a:xfrm>
            <a:off x="176226" y="3515026"/>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 System Design</a:t>
            </a:r>
          </a:p>
        </p:txBody>
      </p:sp>
      <p:sp>
        <p:nvSpPr>
          <p:cNvPr id="17" name="title_1_green">
            <a:extLst>
              <a:ext uri="{FF2B5EF4-FFF2-40B4-BE49-F238E27FC236}">
                <a16:creationId xmlns:a16="http://schemas.microsoft.com/office/drawing/2014/main" id="{0223E6DD-4173-4A05-8293-0FF4EE8C04B1}"/>
              </a:ext>
            </a:extLst>
          </p:cNvPr>
          <p:cNvSpPr/>
          <p:nvPr userDrawn="1"/>
        </p:nvSpPr>
        <p:spPr>
          <a:xfrm>
            <a:off x="176226" y="4495726"/>
            <a:ext cx="1584000" cy="684000"/>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b="1" kern="0">
                <a:solidFill>
                  <a:schemeClr val="bg1"/>
                </a:solidFill>
                <a:latin typeface="Times New Roman" panose="02020603050405020304" pitchFamily="18" charset="0"/>
                <a:ea typeface="+mn-ea"/>
                <a:cs typeface="Times New Roman" panose="02020603050405020304" pitchFamily="18" charset="0"/>
              </a:rPr>
              <a:t>Conclusion</a:t>
            </a:r>
          </a:p>
        </p:txBody>
      </p:sp>
    </p:spTree>
    <p:extLst>
      <p:ext uri="{BB962C8B-B14F-4D97-AF65-F5344CB8AC3E}">
        <p14:creationId xmlns:p14="http://schemas.microsoft.com/office/powerpoint/2010/main" val="130186284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2" name="title_1">
            <a:extLst>
              <a:ext uri="{FF2B5EF4-FFF2-40B4-BE49-F238E27FC236}">
                <a16:creationId xmlns:a16="http://schemas.microsoft.com/office/drawing/2014/main" id="{BC6F872F-AD2A-490B-BEC2-0FD82BB0032F}"/>
              </a:ext>
            </a:extLst>
          </p:cNvPr>
          <p:cNvSpPr/>
          <p:nvPr userDrawn="1"/>
        </p:nvSpPr>
        <p:spPr>
          <a:xfrm>
            <a:off x="187325" y="1717268"/>
            <a:ext cx="1485900" cy="49212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r>
              <a:rPr lang="zh-CN" altLang="en-US" sz="1867">
                <a:solidFill>
                  <a:schemeClr val="bg1"/>
                </a:solidFill>
                <a:latin typeface="微软雅黑 Light" panose="020B0502040204020203" pitchFamily="34" charset="-122"/>
                <a:ea typeface="微软雅黑 Light" panose="020B0502040204020203" pitchFamily="34" charset="-122"/>
              </a:rPr>
              <a:t>工作回顾</a:t>
            </a:r>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87325" y="1717268"/>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1" kern="0">
                <a:solidFill>
                  <a:schemeClr val="bg1"/>
                </a:solidFill>
                <a:latin typeface="微软雅黑" panose="020B0503020204020204" pitchFamily="34" charset="-122"/>
                <a:ea typeface="微软雅黑" panose="020B0503020204020204" pitchFamily="34" charset="-122"/>
              </a:rPr>
              <a:t>背景介绍</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87325" y="253693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0" kern="0">
                <a:solidFill>
                  <a:sysClr val="windowText" lastClr="000000"/>
                </a:solidFill>
                <a:latin typeface="微软雅黑" panose="020B0503020204020204" pitchFamily="34" charset="-122"/>
                <a:ea typeface="微软雅黑" panose="020B0503020204020204" pitchFamily="34" charset="-122"/>
              </a:rPr>
              <a:t>实现原理</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应用场景</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081" y="1859684"/>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Tree>
    <p:extLst>
      <p:ext uri="{BB962C8B-B14F-4D97-AF65-F5344CB8AC3E}">
        <p14:creationId xmlns:p14="http://schemas.microsoft.com/office/powerpoint/2010/main" val="194169992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分析与测试">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AAA47860-F3E4-42BB-AFD5-EC6EF4F11AD8}"/>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应用场景</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2679558"/>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2564405"/>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1" kern="0">
                <a:solidFill>
                  <a:schemeClr val="bg1"/>
                </a:solidFill>
                <a:latin typeface="微软雅黑" panose="020B0503020204020204" pitchFamily="34" charset="-122"/>
                <a:ea typeface="微软雅黑" panose="020B0503020204020204" pitchFamily="34" charset="-122"/>
                <a:cs typeface="+mn-cs"/>
              </a:rPr>
              <a:t>实现原理</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背景介绍</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5" name="Picture 10">
            <a:extLst>
              <a:ext uri="{FF2B5EF4-FFF2-40B4-BE49-F238E27FC236}">
                <a16:creationId xmlns:a16="http://schemas.microsoft.com/office/drawing/2014/main" id="{DB8A27FC-07E7-45CF-80A5-CBE5C45819D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23779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未来计划">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1CC0BBF9-A8AA-4AE5-ABD4-FA94125E8370}"/>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254400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实现原理</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350276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3360143"/>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1" kern="0">
                <a:solidFill>
                  <a:schemeClr val="bg1"/>
                </a:solidFill>
                <a:latin typeface="微软雅黑" panose="020B0503020204020204" pitchFamily="34" charset="-122"/>
                <a:ea typeface="微软雅黑" panose="020B0503020204020204" pitchFamily="34" charset="-122"/>
              </a:rPr>
              <a:t>应用场景</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背景介绍</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5" name="Picture 10">
            <a:extLst>
              <a:ext uri="{FF2B5EF4-FFF2-40B4-BE49-F238E27FC236}">
                <a16:creationId xmlns:a16="http://schemas.microsoft.com/office/drawing/2014/main" id="{1344C3B7-47A9-47B5-9573-79AE62A06A2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38445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想法介绍">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2" name="title_1">
            <a:extLst>
              <a:ext uri="{FF2B5EF4-FFF2-40B4-BE49-F238E27FC236}">
                <a16:creationId xmlns:a16="http://schemas.microsoft.com/office/drawing/2014/main" id="{BC6F872F-AD2A-490B-BEC2-0FD82BB0032F}"/>
              </a:ext>
            </a:extLst>
          </p:cNvPr>
          <p:cNvSpPr/>
          <p:nvPr userDrawn="1"/>
        </p:nvSpPr>
        <p:spPr>
          <a:xfrm>
            <a:off x="187325" y="1717268"/>
            <a:ext cx="1485900" cy="49212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r>
              <a:rPr lang="zh-CN" altLang="en-US" sz="1867">
                <a:solidFill>
                  <a:schemeClr val="bg1"/>
                </a:solidFill>
                <a:latin typeface="微软雅黑 Light" panose="020B0502040204020203" pitchFamily="34" charset="-122"/>
                <a:ea typeface="微软雅黑 Light" panose="020B0502040204020203" pitchFamily="34" charset="-122"/>
              </a:rPr>
              <a:t>工作回顾</a:t>
            </a:r>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87325" y="1717268"/>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1" kern="0">
                <a:solidFill>
                  <a:schemeClr val="bg1"/>
                </a:solidFill>
                <a:latin typeface="微软雅黑" panose="020B0503020204020204" pitchFamily="34" charset="-122"/>
                <a:ea typeface="微软雅黑" panose="020B0503020204020204" pitchFamily="34" charset="-122"/>
              </a:rPr>
              <a:t>想法介绍</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87325" y="253693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0" kern="0">
                <a:solidFill>
                  <a:sysClr val="windowText" lastClr="000000"/>
                </a:solidFill>
                <a:latin typeface="微软雅黑" panose="020B0503020204020204" pitchFamily="34" charset="-122"/>
                <a:ea typeface="微软雅黑" panose="020B0503020204020204" pitchFamily="34" charset="-122"/>
              </a:rPr>
              <a:t>实现效果</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未来计划</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081" y="1859684"/>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Tree>
    <p:extLst>
      <p:ext uri="{BB962C8B-B14F-4D97-AF65-F5344CB8AC3E}">
        <p14:creationId xmlns:p14="http://schemas.microsoft.com/office/powerpoint/2010/main" val="177457387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实现效果">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AAA47860-F3E4-42BB-AFD5-EC6EF4F11AD8}"/>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未来计划</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2679558"/>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2564405"/>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1" kern="0">
                <a:solidFill>
                  <a:schemeClr val="bg1"/>
                </a:solidFill>
                <a:latin typeface="微软雅黑" panose="020B0503020204020204" pitchFamily="34" charset="-122"/>
                <a:ea typeface="微软雅黑" panose="020B0503020204020204" pitchFamily="34" charset="-122"/>
                <a:cs typeface="+mn-cs"/>
              </a:rPr>
              <a:t>实现效果</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想法介绍</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5" name="Picture 10">
            <a:extLst>
              <a:ext uri="{FF2B5EF4-FFF2-40B4-BE49-F238E27FC236}">
                <a16:creationId xmlns:a16="http://schemas.microsoft.com/office/drawing/2014/main" id="{DB8A27FC-07E7-45CF-80A5-CBE5C45819D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8492899"/>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未来计划">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1CC0BBF9-A8AA-4AE5-ABD4-FA94125E8370}"/>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254400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实现效果</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350276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3360143"/>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1" kern="0">
                <a:solidFill>
                  <a:schemeClr val="bg1"/>
                </a:solidFill>
                <a:latin typeface="微软雅黑" panose="020B0503020204020204" pitchFamily="34" charset="-122"/>
                <a:ea typeface="微软雅黑" panose="020B0503020204020204" pitchFamily="34" charset="-122"/>
              </a:rPr>
              <a:t>未来计划</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想法介绍</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5" name="Picture 10">
            <a:extLst>
              <a:ext uri="{FF2B5EF4-FFF2-40B4-BE49-F238E27FC236}">
                <a16:creationId xmlns:a16="http://schemas.microsoft.com/office/drawing/2014/main" id="{1344C3B7-47A9-47B5-9573-79AE62A06A2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404058"/>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选题背景">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2" name="title_1">
            <a:extLst>
              <a:ext uri="{FF2B5EF4-FFF2-40B4-BE49-F238E27FC236}">
                <a16:creationId xmlns:a16="http://schemas.microsoft.com/office/drawing/2014/main" id="{BC6F872F-AD2A-490B-BEC2-0FD82BB0032F}"/>
              </a:ext>
            </a:extLst>
          </p:cNvPr>
          <p:cNvSpPr/>
          <p:nvPr userDrawn="1"/>
        </p:nvSpPr>
        <p:spPr>
          <a:xfrm>
            <a:off x="187325" y="1717268"/>
            <a:ext cx="1485900" cy="49212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r>
              <a:rPr lang="zh-CN" altLang="en-US" sz="1867">
                <a:solidFill>
                  <a:schemeClr val="bg1"/>
                </a:solidFill>
                <a:latin typeface="微软雅黑 Light" panose="020B0502040204020203" pitchFamily="34" charset="-122"/>
                <a:ea typeface="微软雅黑 Light" panose="020B0502040204020203" pitchFamily="34" charset="-122"/>
              </a:rPr>
              <a:t>工作回顾</a:t>
            </a:r>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87325" y="1717268"/>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当前进度</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87325" y="253693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实验结果</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未来计划</a:t>
            </a:r>
            <a:endParaRPr lang="en-US" altLang="zh-CN" kern="0">
              <a:solidFill>
                <a:sysClr val="windowText" lastClr="000000"/>
              </a:solidFill>
              <a:latin typeface="Calibri"/>
              <a:ea typeface="+mn-ea"/>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081" y="1859684"/>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Tree>
    <p:extLst>
      <p:ext uri="{BB962C8B-B14F-4D97-AF65-F5344CB8AC3E}">
        <p14:creationId xmlns:p14="http://schemas.microsoft.com/office/powerpoint/2010/main" val="1556671780"/>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选题背景">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未来计划</a:t>
            </a:r>
            <a:endParaRPr lang="en-US" altLang="zh-CN" kern="0">
              <a:solidFill>
                <a:sysClr val="windowText" lastClr="000000"/>
              </a:solidFill>
              <a:latin typeface="Calibri"/>
              <a:ea typeface="+mn-ea"/>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2679558"/>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2564405"/>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实验结果</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当前进度</a:t>
            </a:r>
            <a:endParaRPr lang="en-US" altLang="zh-CN" kern="0">
              <a:solidFill>
                <a:sysClr val="windowText" lastClr="000000"/>
              </a:solidFill>
              <a:latin typeface="Calibri"/>
              <a:ea typeface="+mn-ea"/>
            </a:endParaRPr>
          </a:p>
        </p:txBody>
      </p:sp>
    </p:spTree>
    <p:extLst>
      <p:ext uri="{BB962C8B-B14F-4D97-AF65-F5344CB8AC3E}">
        <p14:creationId xmlns:p14="http://schemas.microsoft.com/office/powerpoint/2010/main" val="680856297"/>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选题背景">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254400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实验结果</a:t>
            </a:r>
            <a:endParaRPr lang="en-US" altLang="zh-CN" kern="0">
              <a:solidFill>
                <a:sysClr val="windowText" lastClr="000000"/>
              </a:solidFill>
              <a:latin typeface="Calibri"/>
              <a:ea typeface="+mn-ea"/>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350276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3360143"/>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未来计划</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当前进度</a:t>
            </a:r>
            <a:endParaRPr lang="en-US" altLang="zh-CN" kern="0">
              <a:solidFill>
                <a:sysClr val="windowText" lastClr="000000"/>
              </a:solidFill>
              <a:latin typeface="Calibri"/>
              <a:ea typeface="+mn-ea"/>
            </a:endParaRPr>
          </a:p>
        </p:txBody>
      </p:sp>
    </p:spTree>
    <p:extLst>
      <p:ext uri="{BB962C8B-B14F-4D97-AF65-F5344CB8AC3E}">
        <p14:creationId xmlns:p14="http://schemas.microsoft.com/office/powerpoint/2010/main" val="181128815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选题背景">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254" y="255598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实验结果</a:t>
            </a:r>
            <a:endParaRPr lang="en-US" altLang="zh-CN" kern="0">
              <a:solidFill>
                <a:sysClr val="windowText" lastClr="000000"/>
              </a:solidFill>
              <a:latin typeface="Calibri"/>
              <a:ea typeface="+mn-ea"/>
            </a:endParaRPr>
          </a:p>
        </p:txBody>
      </p:sp>
      <p:sp>
        <p:nvSpPr>
          <p:cNvPr id="37" name="title_5">
            <a:extLst>
              <a:ext uri="{FF2B5EF4-FFF2-40B4-BE49-F238E27FC236}">
                <a16:creationId xmlns:a16="http://schemas.microsoft.com/office/drawing/2014/main" id="{8748D38F-B15B-4342-A5AF-2E53053EA955}"/>
              </a:ext>
            </a:extLst>
          </p:cNvPr>
          <p:cNvSpPr/>
          <p:nvPr userDrawn="1"/>
        </p:nvSpPr>
        <p:spPr>
          <a:xfrm>
            <a:off x="187254" y="342656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未来计划</a:t>
            </a: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4439770"/>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当前进度</a:t>
            </a:r>
            <a:endParaRPr lang="en-US" altLang="zh-CN" kern="0">
              <a:solidFill>
                <a:sysClr val="windowText" lastClr="000000"/>
              </a:solidFill>
              <a:latin typeface="Calibri"/>
              <a:ea typeface="+mn-ea"/>
            </a:endParaRPr>
          </a:p>
        </p:txBody>
      </p:sp>
      <p:sp>
        <p:nvSpPr>
          <p:cNvPr id="15" name="title_1_green">
            <a:extLst>
              <a:ext uri="{FF2B5EF4-FFF2-40B4-BE49-F238E27FC236}">
                <a16:creationId xmlns:a16="http://schemas.microsoft.com/office/drawing/2014/main" id="{ED9F3CD4-B0FB-40A5-8679-233F3092ACA4}"/>
              </a:ext>
            </a:extLst>
          </p:cNvPr>
          <p:cNvSpPr/>
          <p:nvPr userDrawn="1"/>
        </p:nvSpPr>
        <p:spPr>
          <a:xfrm>
            <a:off x="187254" y="4297150"/>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预期目标</a:t>
            </a:r>
          </a:p>
        </p:txBody>
      </p:sp>
    </p:spTree>
    <p:extLst>
      <p:ext uri="{BB962C8B-B14F-4D97-AF65-F5344CB8AC3E}">
        <p14:creationId xmlns:p14="http://schemas.microsoft.com/office/powerpoint/2010/main" val="418363533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研究现状">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85AF84CC-7C5D-4010-9FC1-0A9DDE716264}"/>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51" name="arrow_游标">
            <a:extLst>
              <a:ext uri="{FF2B5EF4-FFF2-40B4-BE49-F238E27FC236}">
                <a16:creationId xmlns:a16="http://schemas.microsoft.com/office/drawing/2014/main" id="{768FD2FD-8E19-46A2-B126-D05693AFB025}"/>
              </a:ext>
            </a:extLst>
          </p:cNvPr>
          <p:cNvGrpSpPr>
            <a:grpSpLocks noChangeAspect="1"/>
          </p:cNvGrpSpPr>
          <p:nvPr userDrawn="1"/>
        </p:nvGrpSpPr>
        <p:grpSpPr>
          <a:xfrm rot="10800000" flipH="1">
            <a:off x="1836031" y="2281632"/>
            <a:ext cx="206884" cy="206884"/>
            <a:chOff x="510977" y="1676698"/>
            <a:chExt cx="174686" cy="174686"/>
          </a:xfrm>
          <a:solidFill>
            <a:schemeClr val="bg1"/>
          </a:solidFill>
        </p:grpSpPr>
        <p:sp>
          <p:nvSpPr>
            <p:cNvPr id="52" name="椭圆 51">
              <a:extLst>
                <a:ext uri="{FF2B5EF4-FFF2-40B4-BE49-F238E27FC236}">
                  <a16:creationId xmlns:a16="http://schemas.microsoft.com/office/drawing/2014/main" id="{6E25375D-83DB-47A2-99C2-6BB0FB4E44C1}"/>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53" name="直接连接符 52">
              <a:extLst>
                <a:ext uri="{FF2B5EF4-FFF2-40B4-BE49-F238E27FC236}">
                  <a16:creationId xmlns:a16="http://schemas.microsoft.com/office/drawing/2014/main" id="{6B5EB2F4-B654-43B5-8383-5DCF5C318B1D}"/>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1AA13887-56D3-487D-B51A-E67F72EFFEBA}"/>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10F47D5F-995E-4E05-A856-ABE67C6C29B5}"/>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56" name="Picture 10">
            <a:extLst>
              <a:ext uri="{FF2B5EF4-FFF2-40B4-BE49-F238E27FC236}">
                <a16:creationId xmlns:a16="http://schemas.microsoft.com/office/drawing/2014/main" id="{448D6B4D-920E-42DB-BFBB-056F7154E5D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59" name="title_2">
            <a:extLst>
              <a:ext uri="{FF2B5EF4-FFF2-40B4-BE49-F238E27FC236}">
                <a16:creationId xmlns:a16="http://schemas.microsoft.com/office/drawing/2014/main" id="{E838677C-724C-4CAD-892B-CD9688C0D2D7}"/>
              </a:ext>
            </a:extLst>
          </p:cNvPr>
          <p:cNvSpPr/>
          <p:nvPr userDrawn="1"/>
        </p:nvSpPr>
        <p:spPr>
          <a:xfrm>
            <a:off x="168275" y="1516917"/>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60" name="title_3">
            <a:extLst>
              <a:ext uri="{FF2B5EF4-FFF2-40B4-BE49-F238E27FC236}">
                <a16:creationId xmlns:a16="http://schemas.microsoft.com/office/drawing/2014/main" id="{B7496C3B-3CDA-44E7-B989-1731A6148D7C}"/>
              </a:ext>
            </a:extLst>
          </p:cNvPr>
          <p:cNvSpPr/>
          <p:nvPr userDrawn="1"/>
        </p:nvSpPr>
        <p:spPr>
          <a:xfrm>
            <a:off x="168275" y="2744054"/>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研究内容</a:t>
            </a:r>
          </a:p>
        </p:txBody>
      </p:sp>
      <p:sp>
        <p:nvSpPr>
          <p:cNvPr id="61" name="title_4">
            <a:extLst>
              <a:ext uri="{FF2B5EF4-FFF2-40B4-BE49-F238E27FC236}">
                <a16:creationId xmlns:a16="http://schemas.microsoft.com/office/drawing/2014/main" id="{8A2DC838-06EF-4706-A5FE-597C379DF77F}"/>
              </a:ext>
            </a:extLst>
          </p:cNvPr>
          <p:cNvSpPr/>
          <p:nvPr userDrawn="1"/>
        </p:nvSpPr>
        <p:spPr>
          <a:xfrm>
            <a:off x="168275" y="335682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已完成工作</a:t>
            </a:r>
            <a:endParaRPr lang="en-US" altLang="zh-CN" kern="0">
              <a:solidFill>
                <a:sysClr val="windowText" lastClr="000000"/>
              </a:solidFill>
              <a:latin typeface="Calibri"/>
              <a:ea typeface="+mn-ea"/>
            </a:endParaRPr>
          </a:p>
        </p:txBody>
      </p:sp>
      <p:sp>
        <p:nvSpPr>
          <p:cNvPr id="62" name="title_5">
            <a:extLst>
              <a:ext uri="{FF2B5EF4-FFF2-40B4-BE49-F238E27FC236}">
                <a16:creationId xmlns:a16="http://schemas.microsoft.com/office/drawing/2014/main" id="{E4CC7404-7926-433E-B8AB-A6724478465A}"/>
              </a:ext>
            </a:extLst>
          </p:cNvPr>
          <p:cNvSpPr/>
          <p:nvPr userDrawn="1"/>
        </p:nvSpPr>
        <p:spPr>
          <a:xfrm>
            <a:off x="168275" y="3969604"/>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预期目标</a:t>
            </a:r>
          </a:p>
        </p:txBody>
      </p:sp>
      <p:sp>
        <p:nvSpPr>
          <p:cNvPr id="63" name="title_6">
            <a:extLst>
              <a:ext uri="{FF2B5EF4-FFF2-40B4-BE49-F238E27FC236}">
                <a16:creationId xmlns:a16="http://schemas.microsoft.com/office/drawing/2014/main" id="{AA086B6E-D8EE-4D6B-A9E4-ED7E933E49B1}"/>
              </a:ext>
            </a:extLst>
          </p:cNvPr>
          <p:cNvSpPr/>
          <p:nvPr userDrawn="1"/>
        </p:nvSpPr>
        <p:spPr>
          <a:xfrm>
            <a:off x="168275" y="4580791"/>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进度安排</a:t>
            </a:r>
          </a:p>
        </p:txBody>
      </p:sp>
      <p:sp>
        <p:nvSpPr>
          <p:cNvPr id="64" name="title_6">
            <a:extLst>
              <a:ext uri="{FF2B5EF4-FFF2-40B4-BE49-F238E27FC236}">
                <a16:creationId xmlns:a16="http://schemas.microsoft.com/office/drawing/2014/main" id="{15A25762-99EC-4815-B74E-0E49CE159310}"/>
              </a:ext>
            </a:extLst>
          </p:cNvPr>
          <p:cNvSpPr/>
          <p:nvPr userDrawn="1"/>
        </p:nvSpPr>
        <p:spPr>
          <a:xfrm>
            <a:off x="168275" y="519197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参考文献</a:t>
            </a:r>
          </a:p>
        </p:txBody>
      </p:sp>
      <p:sp>
        <p:nvSpPr>
          <p:cNvPr id="65" name="title_1_green">
            <a:extLst>
              <a:ext uri="{FF2B5EF4-FFF2-40B4-BE49-F238E27FC236}">
                <a16:creationId xmlns:a16="http://schemas.microsoft.com/office/drawing/2014/main" id="{EB64FB3E-E275-4A80-B447-73D6BC0C4E26}"/>
              </a:ext>
            </a:extLst>
          </p:cNvPr>
          <p:cNvSpPr/>
          <p:nvPr userDrawn="1"/>
        </p:nvSpPr>
        <p:spPr>
          <a:xfrm>
            <a:off x="168275" y="2131279"/>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研究现状</a:t>
            </a:r>
          </a:p>
        </p:txBody>
      </p:sp>
      <p:sp>
        <p:nvSpPr>
          <p:cNvPr id="18" name="五边形 8">
            <a:extLst>
              <a:ext uri="{FF2B5EF4-FFF2-40B4-BE49-F238E27FC236}">
                <a16:creationId xmlns:a16="http://schemas.microsoft.com/office/drawing/2014/main" id="{02D82F3A-8CEC-4A1D-BCF9-4207FED08D47}"/>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9" name="矩形 18">
            <a:extLst>
              <a:ext uri="{FF2B5EF4-FFF2-40B4-BE49-F238E27FC236}">
                <a16:creationId xmlns:a16="http://schemas.microsoft.com/office/drawing/2014/main" id="{8A513533-CB6F-420D-B18B-94945932F3E4}"/>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33000330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研究内容">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1E26D6CA-C99F-49E7-A957-6A57F0504B55}"/>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33" name="arrow_游标">
            <a:extLst>
              <a:ext uri="{FF2B5EF4-FFF2-40B4-BE49-F238E27FC236}">
                <a16:creationId xmlns:a16="http://schemas.microsoft.com/office/drawing/2014/main" id="{05966C0E-425A-4486-9911-D8B17FD5F4C9}"/>
              </a:ext>
            </a:extLst>
          </p:cNvPr>
          <p:cNvGrpSpPr>
            <a:grpSpLocks noChangeAspect="1"/>
          </p:cNvGrpSpPr>
          <p:nvPr userDrawn="1"/>
        </p:nvGrpSpPr>
        <p:grpSpPr>
          <a:xfrm rot="10800000" flipH="1">
            <a:off x="1836031" y="2882440"/>
            <a:ext cx="206884" cy="206884"/>
            <a:chOff x="510977" y="1676698"/>
            <a:chExt cx="174686" cy="174686"/>
          </a:xfrm>
          <a:solidFill>
            <a:schemeClr val="bg1"/>
          </a:solidFill>
        </p:grpSpPr>
        <p:sp>
          <p:nvSpPr>
            <p:cNvPr id="34" name="椭圆 33">
              <a:extLst>
                <a:ext uri="{FF2B5EF4-FFF2-40B4-BE49-F238E27FC236}">
                  <a16:creationId xmlns:a16="http://schemas.microsoft.com/office/drawing/2014/main" id="{A6A46C55-C764-4248-A5FB-DB732F2B8874}"/>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35" name="直接连接符 34">
              <a:extLst>
                <a:ext uri="{FF2B5EF4-FFF2-40B4-BE49-F238E27FC236}">
                  <a16:creationId xmlns:a16="http://schemas.microsoft.com/office/drawing/2014/main" id="{1EDA48D5-A4D0-468D-BB37-B4CD908F6478}"/>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058125E7-BEA4-45C3-AC39-9241C0DB5DF4}"/>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75FE7AF7-7BC3-4E53-9FDD-7D49579846B7}"/>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38" name="Picture 10">
            <a:extLst>
              <a:ext uri="{FF2B5EF4-FFF2-40B4-BE49-F238E27FC236}">
                <a16:creationId xmlns:a16="http://schemas.microsoft.com/office/drawing/2014/main" id="{E60BF3B1-5DD4-4FF2-B5F8-9761566AACD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40" name="title_2">
            <a:extLst>
              <a:ext uri="{FF2B5EF4-FFF2-40B4-BE49-F238E27FC236}">
                <a16:creationId xmlns:a16="http://schemas.microsoft.com/office/drawing/2014/main" id="{3FF2102D-B762-4BFD-8F33-B36B57342B23}"/>
              </a:ext>
            </a:extLst>
          </p:cNvPr>
          <p:cNvSpPr/>
          <p:nvPr userDrawn="1"/>
        </p:nvSpPr>
        <p:spPr>
          <a:xfrm>
            <a:off x="168275" y="1508125"/>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41" name="title_3">
            <a:extLst>
              <a:ext uri="{FF2B5EF4-FFF2-40B4-BE49-F238E27FC236}">
                <a16:creationId xmlns:a16="http://schemas.microsoft.com/office/drawing/2014/main" id="{C7E81876-2BBC-409F-A443-89392809A59F}"/>
              </a:ext>
            </a:extLst>
          </p:cNvPr>
          <p:cNvSpPr/>
          <p:nvPr userDrawn="1"/>
        </p:nvSpPr>
        <p:spPr>
          <a:xfrm>
            <a:off x="168275" y="212358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研究现状</a:t>
            </a:r>
          </a:p>
        </p:txBody>
      </p:sp>
      <p:sp>
        <p:nvSpPr>
          <p:cNvPr id="42" name="title_4">
            <a:extLst>
              <a:ext uri="{FF2B5EF4-FFF2-40B4-BE49-F238E27FC236}">
                <a16:creationId xmlns:a16="http://schemas.microsoft.com/office/drawing/2014/main" id="{FC18ECAB-B75D-424E-BB1F-8CA7D2813888}"/>
              </a:ext>
            </a:extLst>
          </p:cNvPr>
          <p:cNvSpPr/>
          <p:nvPr userDrawn="1"/>
        </p:nvSpPr>
        <p:spPr>
          <a:xfrm>
            <a:off x="168275" y="334803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已完成工作</a:t>
            </a:r>
            <a:endParaRPr lang="en-US" altLang="zh-CN" kern="0">
              <a:solidFill>
                <a:sysClr val="windowText" lastClr="000000"/>
              </a:solidFill>
              <a:latin typeface="Calibri"/>
              <a:ea typeface="+mn-ea"/>
            </a:endParaRPr>
          </a:p>
        </p:txBody>
      </p:sp>
      <p:sp>
        <p:nvSpPr>
          <p:cNvPr id="43" name="title_5">
            <a:extLst>
              <a:ext uri="{FF2B5EF4-FFF2-40B4-BE49-F238E27FC236}">
                <a16:creationId xmlns:a16="http://schemas.microsoft.com/office/drawing/2014/main" id="{4B475FFD-CFCD-47F0-ABA3-599CC3B89362}"/>
              </a:ext>
            </a:extLst>
          </p:cNvPr>
          <p:cNvSpPr/>
          <p:nvPr userDrawn="1"/>
        </p:nvSpPr>
        <p:spPr>
          <a:xfrm>
            <a:off x="168275" y="3960812"/>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预期目标</a:t>
            </a:r>
          </a:p>
        </p:txBody>
      </p:sp>
      <p:sp>
        <p:nvSpPr>
          <p:cNvPr id="44" name="title_6">
            <a:extLst>
              <a:ext uri="{FF2B5EF4-FFF2-40B4-BE49-F238E27FC236}">
                <a16:creationId xmlns:a16="http://schemas.microsoft.com/office/drawing/2014/main" id="{42AF8A51-0BC4-46FE-A35B-3621413716D4}"/>
              </a:ext>
            </a:extLst>
          </p:cNvPr>
          <p:cNvSpPr/>
          <p:nvPr userDrawn="1"/>
        </p:nvSpPr>
        <p:spPr>
          <a:xfrm>
            <a:off x="168275" y="457199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进度安排</a:t>
            </a:r>
          </a:p>
        </p:txBody>
      </p:sp>
      <p:sp>
        <p:nvSpPr>
          <p:cNvPr id="45" name="title_6">
            <a:extLst>
              <a:ext uri="{FF2B5EF4-FFF2-40B4-BE49-F238E27FC236}">
                <a16:creationId xmlns:a16="http://schemas.microsoft.com/office/drawing/2014/main" id="{22F84321-52F0-47D3-8034-208084E8D18F}"/>
              </a:ext>
            </a:extLst>
          </p:cNvPr>
          <p:cNvSpPr/>
          <p:nvPr userDrawn="1"/>
        </p:nvSpPr>
        <p:spPr>
          <a:xfrm>
            <a:off x="168275" y="518318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参考文献</a:t>
            </a:r>
          </a:p>
        </p:txBody>
      </p:sp>
      <p:sp>
        <p:nvSpPr>
          <p:cNvPr id="46" name="title_1_green">
            <a:extLst>
              <a:ext uri="{FF2B5EF4-FFF2-40B4-BE49-F238E27FC236}">
                <a16:creationId xmlns:a16="http://schemas.microsoft.com/office/drawing/2014/main" id="{B7382B30-CAC7-40F7-A359-45170C8B263F}"/>
              </a:ext>
            </a:extLst>
          </p:cNvPr>
          <p:cNvSpPr/>
          <p:nvPr userDrawn="1"/>
        </p:nvSpPr>
        <p:spPr>
          <a:xfrm>
            <a:off x="168275" y="2734163"/>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研究内容</a:t>
            </a:r>
          </a:p>
        </p:txBody>
      </p:sp>
      <p:sp>
        <p:nvSpPr>
          <p:cNvPr id="18" name="五边形 8">
            <a:extLst>
              <a:ext uri="{FF2B5EF4-FFF2-40B4-BE49-F238E27FC236}">
                <a16:creationId xmlns:a16="http://schemas.microsoft.com/office/drawing/2014/main" id="{F24F17E3-C30B-4558-9875-F07730B5AAAB}"/>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20" name="矩形 19">
            <a:extLst>
              <a:ext uri="{FF2B5EF4-FFF2-40B4-BE49-F238E27FC236}">
                <a16:creationId xmlns:a16="http://schemas.microsoft.com/office/drawing/2014/main" id="{40670E59-CE5D-4378-A243-C54455C2AE7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273232753"/>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已完成工作">
    <p:spTree>
      <p:nvGrpSpPr>
        <p:cNvPr id="1" name=""/>
        <p:cNvGrpSpPr/>
        <p:nvPr/>
      </p:nvGrpSpPr>
      <p:grpSpPr>
        <a:xfrm>
          <a:off x="0" y="0"/>
          <a:ext cx="0" cy="0"/>
          <a:chOff x="0" y="0"/>
          <a:chExt cx="0" cy="0"/>
        </a:xfrm>
      </p:grpSpPr>
      <p:cxnSp>
        <p:nvCxnSpPr>
          <p:cNvPr id="22" name="直接连接符 21">
            <a:extLst>
              <a:ext uri="{FF2B5EF4-FFF2-40B4-BE49-F238E27FC236}">
                <a16:creationId xmlns:a16="http://schemas.microsoft.com/office/drawing/2014/main" id="{43D0D28C-F871-4D64-8DD2-F89BD90684B5}"/>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1" name="arrow_游标">
            <a:extLst>
              <a:ext uri="{FF2B5EF4-FFF2-40B4-BE49-F238E27FC236}">
                <a16:creationId xmlns:a16="http://schemas.microsoft.com/office/drawing/2014/main" id="{B1E9A17C-8FBF-4337-89CB-8E006152EA95}"/>
              </a:ext>
            </a:extLst>
          </p:cNvPr>
          <p:cNvGrpSpPr>
            <a:grpSpLocks noChangeAspect="1"/>
          </p:cNvGrpSpPr>
          <p:nvPr userDrawn="1"/>
        </p:nvGrpSpPr>
        <p:grpSpPr>
          <a:xfrm rot="10800000" flipH="1">
            <a:off x="1836031" y="3504741"/>
            <a:ext cx="206884" cy="206884"/>
            <a:chOff x="510977" y="1676698"/>
            <a:chExt cx="174686" cy="174686"/>
          </a:xfrm>
          <a:solidFill>
            <a:schemeClr val="bg1"/>
          </a:solidFill>
        </p:grpSpPr>
        <p:sp>
          <p:nvSpPr>
            <p:cNvPr id="42" name="椭圆 41">
              <a:extLst>
                <a:ext uri="{FF2B5EF4-FFF2-40B4-BE49-F238E27FC236}">
                  <a16:creationId xmlns:a16="http://schemas.microsoft.com/office/drawing/2014/main" id="{A06F3A03-4688-417C-9C6D-1F3B96FF4EA8}"/>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3" name="直接连接符 42">
              <a:extLst>
                <a:ext uri="{FF2B5EF4-FFF2-40B4-BE49-F238E27FC236}">
                  <a16:creationId xmlns:a16="http://schemas.microsoft.com/office/drawing/2014/main" id="{1AA2C85F-68DD-4E4B-A7C7-C1A3F7DB5105}"/>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B23E441E-A817-4BF0-8717-A74A9B2A1E02}"/>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CA3C4E4D-B3AF-4C82-B8E1-3E9A497E9B69}"/>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6" name="Picture 10">
            <a:extLst>
              <a:ext uri="{FF2B5EF4-FFF2-40B4-BE49-F238E27FC236}">
                <a16:creationId xmlns:a16="http://schemas.microsoft.com/office/drawing/2014/main" id="{29B72CFE-97F8-4284-B0E3-89FFD511A1D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47" name="title_2">
            <a:extLst>
              <a:ext uri="{FF2B5EF4-FFF2-40B4-BE49-F238E27FC236}">
                <a16:creationId xmlns:a16="http://schemas.microsoft.com/office/drawing/2014/main" id="{0DACD02F-392B-4965-9B64-D794D019B4E4}"/>
              </a:ext>
            </a:extLst>
          </p:cNvPr>
          <p:cNvSpPr/>
          <p:nvPr userDrawn="1"/>
        </p:nvSpPr>
        <p:spPr>
          <a:xfrm>
            <a:off x="168275" y="1508125"/>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48" name="title_3">
            <a:extLst>
              <a:ext uri="{FF2B5EF4-FFF2-40B4-BE49-F238E27FC236}">
                <a16:creationId xmlns:a16="http://schemas.microsoft.com/office/drawing/2014/main" id="{279C359E-91B0-4E30-BFB7-57329280C31A}"/>
              </a:ext>
            </a:extLst>
          </p:cNvPr>
          <p:cNvSpPr/>
          <p:nvPr userDrawn="1"/>
        </p:nvSpPr>
        <p:spPr>
          <a:xfrm>
            <a:off x="168275" y="273843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研究内容</a:t>
            </a:r>
          </a:p>
        </p:txBody>
      </p:sp>
      <p:sp>
        <p:nvSpPr>
          <p:cNvPr id="49" name="title_4">
            <a:extLst>
              <a:ext uri="{FF2B5EF4-FFF2-40B4-BE49-F238E27FC236}">
                <a16:creationId xmlns:a16="http://schemas.microsoft.com/office/drawing/2014/main" id="{224C529D-B94B-4D42-829F-3B036ADD50DE}"/>
              </a:ext>
            </a:extLst>
          </p:cNvPr>
          <p:cNvSpPr/>
          <p:nvPr userDrawn="1"/>
        </p:nvSpPr>
        <p:spPr>
          <a:xfrm>
            <a:off x="168275" y="2124075"/>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研究现状</a:t>
            </a:r>
            <a:endParaRPr lang="en-US" altLang="zh-CN" kern="0">
              <a:solidFill>
                <a:sysClr val="windowText" lastClr="000000"/>
              </a:solidFill>
              <a:latin typeface="Calibri"/>
              <a:ea typeface="+mn-ea"/>
            </a:endParaRPr>
          </a:p>
        </p:txBody>
      </p:sp>
      <p:sp>
        <p:nvSpPr>
          <p:cNvPr id="50" name="title_5">
            <a:extLst>
              <a:ext uri="{FF2B5EF4-FFF2-40B4-BE49-F238E27FC236}">
                <a16:creationId xmlns:a16="http://schemas.microsoft.com/office/drawing/2014/main" id="{565C2400-1492-4BD6-AA93-EAAE1B9C3A57}"/>
              </a:ext>
            </a:extLst>
          </p:cNvPr>
          <p:cNvSpPr/>
          <p:nvPr userDrawn="1"/>
        </p:nvSpPr>
        <p:spPr>
          <a:xfrm>
            <a:off x="168275" y="396398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预期目标</a:t>
            </a:r>
          </a:p>
        </p:txBody>
      </p:sp>
      <p:sp>
        <p:nvSpPr>
          <p:cNvPr id="51" name="title_6">
            <a:extLst>
              <a:ext uri="{FF2B5EF4-FFF2-40B4-BE49-F238E27FC236}">
                <a16:creationId xmlns:a16="http://schemas.microsoft.com/office/drawing/2014/main" id="{5FA2C59A-57E7-48B4-9CBE-7AF4016CF48D}"/>
              </a:ext>
            </a:extLst>
          </p:cNvPr>
          <p:cNvSpPr/>
          <p:nvPr userDrawn="1"/>
        </p:nvSpPr>
        <p:spPr>
          <a:xfrm>
            <a:off x="168275" y="4575175"/>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进度安排</a:t>
            </a:r>
          </a:p>
        </p:txBody>
      </p:sp>
      <p:sp>
        <p:nvSpPr>
          <p:cNvPr id="52" name="title_6">
            <a:extLst>
              <a:ext uri="{FF2B5EF4-FFF2-40B4-BE49-F238E27FC236}">
                <a16:creationId xmlns:a16="http://schemas.microsoft.com/office/drawing/2014/main" id="{50C47F66-7700-41F6-A1BA-6B790CD959E2}"/>
              </a:ext>
            </a:extLst>
          </p:cNvPr>
          <p:cNvSpPr/>
          <p:nvPr userDrawn="1"/>
        </p:nvSpPr>
        <p:spPr>
          <a:xfrm>
            <a:off x="168275" y="5186362"/>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参考文献</a:t>
            </a:r>
          </a:p>
        </p:txBody>
      </p:sp>
      <p:sp>
        <p:nvSpPr>
          <p:cNvPr id="53" name="title_1_green">
            <a:extLst>
              <a:ext uri="{FF2B5EF4-FFF2-40B4-BE49-F238E27FC236}">
                <a16:creationId xmlns:a16="http://schemas.microsoft.com/office/drawing/2014/main" id="{0612F683-39BC-48BD-B8B9-AC9AEEA549B3}"/>
              </a:ext>
            </a:extLst>
          </p:cNvPr>
          <p:cNvSpPr/>
          <p:nvPr userDrawn="1"/>
        </p:nvSpPr>
        <p:spPr>
          <a:xfrm>
            <a:off x="168275" y="3349625"/>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已完成工作</a:t>
            </a:r>
          </a:p>
        </p:txBody>
      </p:sp>
      <p:sp>
        <p:nvSpPr>
          <p:cNvPr id="18" name="五边形 8">
            <a:extLst>
              <a:ext uri="{FF2B5EF4-FFF2-40B4-BE49-F238E27FC236}">
                <a16:creationId xmlns:a16="http://schemas.microsoft.com/office/drawing/2014/main" id="{A051EF04-FEB3-42BA-994C-C9685C5E8764}"/>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23" name="矩形 22">
            <a:extLst>
              <a:ext uri="{FF2B5EF4-FFF2-40B4-BE49-F238E27FC236}">
                <a16:creationId xmlns:a16="http://schemas.microsoft.com/office/drawing/2014/main" id="{F94B00A4-988B-455A-96A8-3B441DA9AAB8}"/>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1776487260"/>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预期目标">
    <p:spTree>
      <p:nvGrpSpPr>
        <p:cNvPr id="1" name=""/>
        <p:cNvGrpSpPr/>
        <p:nvPr/>
      </p:nvGrpSpPr>
      <p:grpSpPr>
        <a:xfrm>
          <a:off x="0" y="0"/>
          <a:ext cx="0" cy="0"/>
          <a:chOff x="0" y="0"/>
          <a:chExt cx="0" cy="0"/>
        </a:xfrm>
      </p:grpSpPr>
      <p:cxnSp>
        <p:nvCxnSpPr>
          <p:cNvPr id="18" name="直接连接符 17">
            <a:extLst>
              <a:ext uri="{FF2B5EF4-FFF2-40B4-BE49-F238E27FC236}">
                <a16:creationId xmlns:a16="http://schemas.microsoft.com/office/drawing/2014/main" id="{883996A1-AA0A-4761-A209-57746CB4EE13}"/>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27" name="arrow_游标">
            <a:extLst>
              <a:ext uri="{FF2B5EF4-FFF2-40B4-BE49-F238E27FC236}">
                <a16:creationId xmlns:a16="http://schemas.microsoft.com/office/drawing/2014/main" id="{AD3CC518-0B28-447B-BF79-5B7E6E5D7DAD}"/>
              </a:ext>
            </a:extLst>
          </p:cNvPr>
          <p:cNvGrpSpPr>
            <a:grpSpLocks noChangeAspect="1"/>
          </p:cNvGrpSpPr>
          <p:nvPr userDrawn="1"/>
        </p:nvGrpSpPr>
        <p:grpSpPr>
          <a:xfrm rot="10800000" flipH="1">
            <a:off x="1836031" y="4092115"/>
            <a:ext cx="206884" cy="206884"/>
            <a:chOff x="510977" y="1676698"/>
            <a:chExt cx="174686" cy="174686"/>
          </a:xfrm>
          <a:solidFill>
            <a:schemeClr val="bg1"/>
          </a:solidFill>
        </p:grpSpPr>
        <p:sp>
          <p:nvSpPr>
            <p:cNvPr id="28" name="椭圆 27">
              <a:extLst>
                <a:ext uri="{FF2B5EF4-FFF2-40B4-BE49-F238E27FC236}">
                  <a16:creationId xmlns:a16="http://schemas.microsoft.com/office/drawing/2014/main" id="{A9DE5797-D6ED-45AD-8544-AF5E100F2A91}"/>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29" name="直接连接符 28">
              <a:extLst>
                <a:ext uri="{FF2B5EF4-FFF2-40B4-BE49-F238E27FC236}">
                  <a16:creationId xmlns:a16="http://schemas.microsoft.com/office/drawing/2014/main" id="{030E10E1-4245-4041-8E76-D2E915841C80}"/>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51EE7DD-DDA2-4BA1-A5B7-A7682A7ABB9C}"/>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4184733-6272-4A62-8924-7A9C7F3B509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32" name="Picture 10">
            <a:extLst>
              <a:ext uri="{FF2B5EF4-FFF2-40B4-BE49-F238E27FC236}">
                <a16:creationId xmlns:a16="http://schemas.microsoft.com/office/drawing/2014/main" id="{0729201F-2A83-4147-A33E-C7766FB06056}"/>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40" name="title_2">
            <a:extLst>
              <a:ext uri="{FF2B5EF4-FFF2-40B4-BE49-F238E27FC236}">
                <a16:creationId xmlns:a16="http://schemas.microsoft.com/office/drawing/2014/main" id="{47B475DE-F9A3-44AC-B627-EEB611058906}"/>
              </a:ext>
            </a:extLst>
          </p:cNvPr>
          <p:cNvSpPr/>
          <p:nvPr userDrawn="1"/>
        </p:nvSpPr>
        <p:spPr>
          <a:xfrm>
            <a:off x="168275" y="1508125"/>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41" name="title_3">
            <a:extLst>
              <a:ext uri="{FF2B5EF4-FFF2-40B4-BE49-F238E27FC236}">
                <a16:creationId xmlns:a16="http://schemas.microsoft.com/office/drawing/2014/main" id="{DBDC64ED-1830-415B-A1D4-26A8A2CA151F}"/>
              </a:ext>
            </a:extLst>
          </p:cNvPr>
          <p:cNvSpPr/>
          <p:nvPr userDrawn="1"/>
        </p:nvSpPr>
        <p:spPr>
          <a:xfrm>
            <a:off x="168275" y="2735262"/>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研究内容</a:t>
            </a:r>
          </a:p>
        </p:txBody>
      </p:sp>
      <p:sp>
        <p:nvSpPr>
          <p:cNvPr id="42" name="title_4">
            <a:extLst>
              <a:ext uri="{FF2B5EF4-FFF2-40B4-BE49-F238E27FC236}">
                <a16:creationId xmlns:a16="http://schemas.microsoft.com/office/drawing/2014/main" id="{E82EE167-049D-4A74-A31F-6B2D9376157C}"/>
              </a:ext>
            </a:extLst>
          </p:cNvPr>
          <p:cNvSpPr/>
          <p:nvPr userDrawn="1"/>
        </p:nvSpPr>
        <p:spPr>
          <a:xfrm>
            <a:off x="168275" y="334803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已完成工作</a:t>
            </a:r>
            <a:endParaRPr lang="en-US" altLang="zh-CN" kern="0">
              <a:solidFill>
                <a:sysClr val="windowText" lastClr="000000"/>
              </a:solidFill>
              <a:latin typeface="Calibri"/>
              <a:ea typeface="+mn-ea"/>
            </a:endParaRPr>
          </a:p>
        </p:txBody>
      </p:sp>
      <p:sp>
        <p:nvSpPr>
          <p:cNvPr id="43" name="title_5">
            <a:extLst>
              <a:ext uri="{FF2B5EF4-FFF2-40B4-BE49-F238E27FC236}">
                <a16:creationId xmlns:a16="http://schemas.microsoft.com/office/drawing/2014/main" id="{4008366A-7DC5-402B-865F-C78CEB369A6A}"/>
              </a:ext>
            </a:extLst>
          </p:cNvPr>
          <p:cNvSpPr/>
          <p:nvPr userDrawn="1"/>
        </p:nvSpPr>
        <p:spPr>
          <a:xfrm>
            <a:off x="168275" y="212089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研究现状</a:t>
            </a:r>
          </a:p>
        </p:txBody>
      </p:sp>
      <p:sp>
        <p:nvSpPr>
          <p:cNvPr id="44" name="title_6">
            <a:extLst>
              <a:ext uri="{FF2B5EF4-FFF2-40B4-BE49-F238E27FC236}">
                <a16:creationId xmlns:a16="http://schemas.microsoft.com/office/drawing/2014/main" id="{9596935A-2952-43BA-8526-91739448E6BA}"/>
              </a:ext>
            </a:extLst>
          </p:cNvPr>
          <p:cNvSpPr/>
          <p:nvPr userDrawn="1"/>
        </p:nvSpPr>
        <p:spPr>
          <a:xfrm>
            <a:off x="168275" y="457199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进度安排</a:t>
            </a:r>
          </a:p>
        </p:txBody>
      </p:sp>
      <p:sp>
        <p:nvSpPr>
          <p:cNvPr id="45" name="title_6">
            <a:extLst>
              <a:ext uri="{FF2B5EF4-FFF2-40B4-BE49-F238E27FC236}">
                <a16:creationId xmlns:a16="http://schemas.microsoft.com/office/drawing/2014/main" id="{823B2198-9855-4C49-9955-B2C3D827FF6B}"/>
              </a:ext>
            </a:extLst>
          </p:cNvPr>
          <p:cNvSpPr/>
          <p:nvPr userDrawn="1"/>
        </p:nvSpPr>
        <p:spPr>
          <a:xfrm>
            <a:off x="168275" y="518318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参考文献</a:t>
            </a:r>
          </a:p>
        </p:txBody>
      </p:sp>
      <p:sp>
        <p:nvSpPr>
          <p:cNvPr id="46" name="title_1_green">
            <a:extLst>
              <a:ext uri="{FF2B5EF4-FFF2-40B4-BE49-F238E27FC236}">
                <a16:creationId xmlns:a16="http://schemas.microsoft.com/office/drawing/2014/main" id="{6870CF5B-3A2C-4907-A078-C6275908D4A8}"/>
              </a:ext>
            </a:extLst>
          </p:cNvPr>
          <p:cNvSpPr/>
          <p:nvPr userDrawn="1"/>
        </p:nvSpPr>
        <p:spPr>
          <a:xfrm>
            <a:off x="176884" y="3959224"/>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预期目标</a:t>
            </a:r>
          </a:p>
        </p:txBody>
      </p:sp>
      <p:sp>
        <p:nvSpPr>
          <p:cNvPr id="19" name="五边形 8">
            <a:extLst>
              <a:ext uri="{FF2B5EF4-FFF2-40B4-BE49-F238E27FC236}">
                <a16:creationId xmlns:a16="http://schemas.microsoft.com/office/drawing/2014/main" id="{05773393-73B7-4D56-8A6A-0148ECD0CECB}"/>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20" name="矩形 19">
            <a:extLst>
              <a:ext uri="{FF2B5EF4-FFF2-40B4-BE49-F238E27FC236}">
                <a16:creationId xmlns:a16="http://schemas.microsoft.com/office/drawing/2014/main" id="{FF70C837-D07D-4130-A16D-920007C5487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1417996970"/>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进度安排">
    <p:spTree>
      <p:nvGrpSpPr>
        <p:cNvPr id="1" name=""/>
        <p:cNvGrpSpPr/>
        <p:nvPr/>
      </p:nvGrpSpPr>
      <p:grpSpPr>
        <a:xfrm>
          <a:off x="0" y="0"/>
          <a:ext cx="0" cy="0"/>
          <a:chOff x="0" y="0"/>
          <a:chExt cx="0" cy="0"/>
        </a:xfrm>
      </p:grpSpPr>
      <p:cxnSp>
        <p:nvCxnSpPr>
          <p:cNvPr id="29" name="直接连接符 28">
            <a:extLst>
              <a:ext uri="{FF2B5EF4-FFF2-40B4-BE49-F238E27FC236}">
                <a16:creationId xmlns:a16="http://schemas.microsoft.com/office/drawing/2014/main" id="{F4ADD359-EEBB-4D29-BA3E-7656E489116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16" name="arrow_游标">
            <a:extLst>
              <a:ext uri="{FF2B5EF4-FFF2-40B4-BE49-F238E27FC236}">
                <a16:creationId xmlns:a16="http://schemas.microsoft.com/office/drawing/2014/main" id="{E56864B8-ADEA-41FC-80D1-2C40D4997B17}"/>
              </a:ext>
            </a:extLst>
          </p:cNvPr>
          <p:cNvGrpSpPr>
            <a:grpSpLocks noChangeAspect="1"/>
          </p:cNvGrpSpPr>
          <p:nvPr userDrawn="1"/>
        </p:nvGrpSpPr>
        <p:grpSpPr>
          <a:xfrm rot="10800000" flipH="1">
            <a:off x="1836031" y="4692190"/>
            <a:ext cx="206884" cy="206884"/>
            <a:chOff x="510977" y="1676698"/>
            <a:chExt cx="174686" cy="174686"/>
          </a:xfrm>
          <a:solidFill>
            <a:schemeClr val="bg1"/>
          </a:solidFill>
        </p:grpSpPr>
        <p:sp>
          <p:nvSpPr>
            <p:cNvPr id="17" name="椭圆 16">
              <a:extLst>
                <a:ext uri="{FF2B5EF4-FFF2-40B4-BE49-F238E27FC236}">
                  <a16:creationId xmlns:a16="http://schemas.microsoft.com/office/drawing/2014/main" id="{9CAD5C6A-872C-462B-83E8-3BF62D71DA88}"/>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18" name="直接连接符 17">
              <a:extLst>
                <a:ext uri="{FF2B5EF4-FFF2-40B4-BE49-F238E27FC236}">
                  <a16:creationId xmlns:a16="http://schemas.microsoft.com/office/drawing/2014/main" id="{97EFBA2A-F038-4EBA-A72A-184A3E51B002}"/>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B1FF8511-457F-4258-99E4-6F5B5FC1C950}"/>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DF80507-29DD-4131-908F-63E4268AD96F}"/>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1" name="Picture 10">
            <a:extLst>
              <a:ext uri="{FF2B5EF4-FFF2-40B4-BE49-F238E27FC236}">
                <a16:creationId xmlns:a16="http://schemas.microsoft.com/office/drawing/2014/main" id="{727B6868-A741-4D9E-BFC2-09C22930082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22" name="title_2">
            <a:extLst>
              <a:ext uri="{FF2B5EF4-FFF2-40B4-BE49-F238E27FC236}">
                <a16:creationId xmlns:a16="http://schemas.microsoft.com/office/drawing/2014/main" id="{B4195B67-BBFC-4092-AE2C-07FFA5F10459}"/>
              </a:ext>
            </a:extLst>
          </p:cNvPr>
          <p:cNvSpPr/>
          <p:nvPr userDrawn="1"/>
        </p:nvSpPr>
        <p:spPr>
          <a:xfrm>
            <a:off x="168275" y="1508125"/>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23" name="title_3">
            <a:extLst>
              <a:ext uri="{FF2B5EF4-FFF2-40B4-BE49-F238E27FC236}">
                <a16:creationId xmlns:a16="http://schemas.microsoft.com/office/drawing/2014/main" id="{58BD4344-A7A9-42F6-A8C6-9582A5FC9179}"/>
              </a:ext>
            </a:extLst>
          </p:cNvPr>
          <p:cNvSpPr/>
          <p:nvPr userDrawn="1"/>
        </p:nvSpPr>
        <p:spPr>
          <a:xfrm>
            <a:off x="168275" y="2735262"/>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研究内容</a:t>
            </a:r>
          </a:p>
        </p:txBody>
      </p:sp>
      <p:sp>
        <p:nvSpPr>
          <p:cNvPr id="24" name="title_4">
            <a:extLst>
              <a:ext uri="{FF2B5EF4-FFF2-40B4-BE49-F238E27FC236}">
                <a16:creationId xmlns:a16="http://schemas.microsoft.com/office/drawing/2014/main" id="{796ED851-E3E1-4A26-8CD8-02D0DAED8FF2}"/>
              </a:ext>
            </a:extLst>
          </p:cNvPr>
          <p:cNvSpPr/>
          <p:nvPr userDrawn="1"/>
        </p:nvSpPr>
        <p:spPr>
          <a:xfrm>
            <a:off x="168275" y="334803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已完成工作</a:t>
            </a:r>
            <a:endParaRPr lang="en-US" altLang="zh-CN" kern="0">
              <a:solidFill>
                <a:sysClr val="windowText" lastClr="000000"/>
              </a:solidFill>
              <a:latin typeface="Calibri"/>
              <a:ea typeface="+mn-ea"/>
            </a:endParaRPr>
          </a:p>
        </p:txBody>
      </p:sp>
      <p:sp>
        <p:nvSpPr>
          <p:cNvPr id="25" name="title_5">
            <a:extLst>
              <a:ext uri="{FF2B5EF4-FFF2-40B4-BE49-F238E27FC236}">
                <a16:creationId xmlns:a16="http://schemas.microsoft.com/office/drawing/2014/main" id="{88253BB6-2E3B-4165-AF58-42FEAB1AF134}"/>
              </a:ext>
            </a:extLst>
          </p:cNvPr>
          <p:cNvSpPr/>
          <p:nvPr userDrawn="1"/>
        </p:nvSpPr>
        <p:spPr>
          <a:xfrm>
            <a:off x="168275" y="212089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研究现状</a:t>
            </a:r>
          </a:p>
        </p:txBody>
      </p:sp>
      <p:sp>
        <p:nvSpPr>
          <p:cNvPr id="26" name="title_6">
            <a:extLst>
              <a:ext uri="{FF2B5EF4-FFF2-40B4-BE49-F238E27FC236}">
                <a16:creationId xmlns:a16="http://schemas.microsoft.com/office/drawing/2014/main" id="{11D12D69-2F4A-40E2-8337-89373EB439B2}"/>
              </a:ext>
            </a:extLst>
          </p:cNvPr>
          <p:cNvSpPr/>
          <p:nvPr userDrawn="1"/>
        </p:nvSpPr>
        <p:spPr>
          <a:xfrm>
            <a:off x="168275" y="395641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预期目标</a:t>
            </a:r>
          </a:p>
        </p:txBody>
      </p:sp>
      <p:sp>
        <p:nvSpPr>
          <p:cNvPr id="27" name="title_6">
            <a:extLst>
              <a:ext uri="{FF2B5EF4-FFF2-40B4-BE49-F238E27FC236}">
                <a16:creationId xmlns:a16="http://schemas.microsoft.com/office/drawing/2014/main" id="{5271A8D3-1064-4B0C-9279-D2EC7142057C}"/>
              </a:ext>
            </a:extLst>
          </p:cNvPr>
          <p:cNvSpPr/>
          <p:nvPr userDrawn="1"/>
        </p:nvSpPr>
        <p:spPr>
          <a:xfrm>
            <a:off x="168275" y="518318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参考文献</a:t>
            </a:r>
          </a:p>
        </p:txBody>
      </p:sp>
      <p:sp>
        <p:nvSpPr>
          <p:cNvPr id="28" name="title_1_green">
            <a:extLst>
              <a:ext uri="{FF2B5EF4-FFF2-40B4-BE49-F238E27FC236}">
                <a16:creationId xmlns:a16="http://schemas.microsoft.com/office/drawing/2014/main" id="{40CB4765-B928-4DCA-8D71-5ADF362DD793}"/>
              </a:ext>
            </a:extLst>
          </p:cNvPr>
          <p:cNvSpPr/>
          <p:nvPr userDrawn="1"/>
        </p:nvSpPr>
        <p:spPr>
          <a:xfrm>
            <a:off x="168275" y="4574806"/>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进度安排</a:t>
            </a:r>
          </a:p>
        </p:txBody>
      </p:sp>
      <p:sp>
        <p:nvSpPr>
          <p:cNvPr id="30" name="五边形 8">
            <a:extLst>
              <a:ext uri="{FF2B5EF4-FFF2-40B4-BE49-F238E27FC236}">
                <a16:creationId xmlns:a16="http://schemas.microsoft.com/office/drawing/2014/main" id="{688AFFDC-98EA-4493-973C-9A5F69937790}"/>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31" name="矩形 30">
            <a:extLst>
              <a:ext uri="{FF2B5EF4-FFF2-40B4-BE49-F238E27FC236}">
                <a16:creationId xmlns:a16="http://schemas.microsoft.com/office/drawing/2014/main" id="{34132558-E7F2-4148-82B7-7EB835560189}"/>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43045710"/>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参考文献">
    <p:spTree>
      <p:nvGrpSpPr>
        <p:cNvPr id="1" name=""/>
        <p:cNvGrpSpPr/>
        <p:nvPr/>
      </p:nvGrpSpPr>
      <p:grpSpPr>
        <a:xfrm>
          <a:off x="0" y="0"/>
          <a:ext cx="0" cy="0"/>
          <a:chOff x="0" y="0"/>
          <a:chExt cx="0" cy="0"/>
        </a:xfrm>
      </p:grpSpPr>
      <p:cxnSp>
        <p:nvCxnSpPr>
          <p:cNvPr id="29" name="直接连接符 28">
            <a:extLst>
              <a:ext uri="{FF2B5EF4-FFF2-40B4-BE49-F238E27FC236}">
                <a16:creationId xmlns:a16="http://schemas.microsoft.com/office/drawing/2014/main" id="{66196417-BCA7-4B6A-B473-E34FB72D43BE}"/>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16" name="arrow_游标">
            <a:extLst>
              <a:ext uri="{FF2B5EF4-FFF2-40B4-BE49-F238E27FC236}">
                <a16:creationId xmlns:a16="http://schemas.microsoft.com/office/drawing/2014/main" id="{E56864B8-ADEA-41FC-80D1-2C40D4997B17}"/>
              </a:ext>
            </a:extLst>
          </p:cNvPr>
          <p:cNvGrpSpPr>
            <a:grpSpLocks noChangeAspect="1"/>
          </p:cNvGrpSpPr>
          <p:nvPr userDrawn="1"/>
        </p:nvGrpSpPr>
        <p:grpSpPr>
          <a:xfrm rot="10800000" flipH="1">
            <a:off x="1834895" y="5315797"/>
            <a:ext cx="206884" cy="206884"/>
            <a:chOff x="510977" y="1676698"/>
            <a:chExt cx="174686" cy="174686"/>
          </a:xfrm>
          <a:solidFill>
            <a:schemeClr val="bg1"/>
          </a:solidFill>
        </p:grpSpPr>
        <p:sp>
          <p:nvSpPr>
            <p:cNvPr id="17" name="椭圆 16">
              <a:extLst>
                <a:ext uri="{FF2B5EF4-FFF2-40B4-BE49-F238E27FC236}">
                  <a16:creationId xmlns:a16="http://schemas.microsoft.com/office/drawing/2014/main" id="{9CAD5C6A-872C-462B-83E8-3BF62D71DA88}"/>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18" name="直接连接符 17">
              <a:extLst>
                <a:ext uri="{FF2B5EF4-FFF2-40B4-BE49-F238E27FC236}">
                  <a16:creationId xmlns:a16="http://schemas.microsoft.com/office/drawing/2014/main" id="{97EFBA2A-F038-4EBA-A72A-184A3E51B002}"/>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B1FF8511-457F-4258-99E4-6F5B5FC1C950}"/>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DF80507-29DD-4131-908F-63E4268AD96F}"/>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1" name="Picture 10">
            <a:extLst>
              <a:ext uri="{FF2B5EF4-FFF2-40B4-BE49-F238E27FC236}">
                <a16:creationId xmlns:a16="http://schemas.microsoft.com/office/drawing/2014/main" id="{727B6868-A741-4D9E-BFC2-09C22930082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22" name="title_2">
            <a:extLst>
              <a:ext uri="{FF2B5EF4-FFF2-40B4-BE49-F238E27FC236}">
                <a16:creationId xmlns:a16="http://schemas.microsoft.com/office/drawing/2014/main" id="{B4195B67-BBFC-4092-AE2C-07FFA5F10459}"/>
              </a:ext>
            </a:extLst>
          </p:cNvPr>
          <p:cNvSpPr/>
          <p:nvPr userDrawn="1"/>
        </p:nvSpPr>
        <p:spPr>
          <a:xfrm>
            <a:off x="168275" y="1508125"/>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23" name="title_3">
            <a:extLst>
              <a:ext uri="{FF2B5EF4-FFF2-40B4-BE49-F238E27FC236}">
                <a16:creationId xmlns:a16="http://schemas.microsoft.com/office/drawing/2014/main" id="{58BD4344-A7A9-42F6-A8C6-9582A5FC9179}"/>
              </a:ext>
            </a:extLst>
          </p:cNvPr>
          <p:cNvSpPr/>
          <p:nvPr userDrawn="1"/>
        </p:nvSpPr>
        <p:spPr>
          <a:xfrm>
            <a:off x="168275" y="2735262"/>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研究内容</a:t>
            </a:r>
          </a:p>
        </p:txBody>
      </p:sp>
      <p:sp>
        <p:nvSpPr>
          <p:cNvPr id="24" name="title_4">
            <a:extLst>
              <a:ext uri="{FF2B5EF4-FFF2-40B4-BE49-F238E27FC236}">
                <a16:creationId xmlns:a16="http://schemas.microsoft.com/office/drawing/2014/main" id="{796ED851-E3E1-4A26-8CD8-02D0DAED8FF2}"/>
              </a:ext>
            </a:extLst>
          </p:cNvPr>
          <p:cNvSpPr/>
          <p:nvPr userDrawn="1"/>
        </p:nvSpPr>
        <p:spPr>
          <a:xfrm>
            <a:off x="168275" y="334803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已完成工作</a:t>
            </a:r>
            <a:endParaRPr lang="en-US" altLang="zh-CN" kern="0">
              <a:solidFill>
                <a:sysClr val="windowText" lastClr="000000"/>
              </a:solidFill>
              <a:latin typeface="Calibri"/>
              <a:ea typeface="+mn-ea"/>
            </a:endParaRPr>
          </a:p>
        </p:txBody>
      </p:sp>
      <p:sp>
        <p:nvSpPr>
          <p:cNvPr id="25" name="title_5">
            <a:extLst>
              <a:ext uri="{FF2B5EF4-FFF2-40B4-BE49-F238E27FC236}">
                <a16:creationId xmlns:a16="http://schemas.microsoft.com/office/drawing/2014/main" id="{88253BB6-2E3B-4165-AF58-42FEAB1AF134}"/>
              </a:ext>
            </a:extLst>
          </p:cNvPr>
          <p:cNvSpPr/>
          <p:nvPr userDrawn="1"/>
        </p:nvSpPr>
        <p:spPr>
          <a:xfrm>
            <a:off x="168275" y="212089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研究现状</a:t>
            </a:r>
          </a:p>
        </p:txBody>
      </p:sp>
      <p:sp>
        <p:nvSpPr>
          <p:cNvPr id="26" name="title_6">
            <a:extLst>
              <a:ext uri="{FF2B5EF4-FFF2-40B4-BE49-F238E27FC236}">
                <a16:creationId xmlns:a16="http://schemas.microsoft.com/office/drawing/2014/main" id="{11D12D69-2F4A-40E2-8337-89373EB439B2}"/>
              </a:ext>
            </a:extLst>
          </p:cNvPr>
          <p:cNvSpPr/>
          <p:nvPr userDrawn="1"/>
        </p:nvSpPr>
        <p:spPr>
          <a:xfrm>
            <a:off x="168275" y="395641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预期目标</a:t>
            </a:r>
          </a:p>
        </p:txBody>
      </p:sp>
      <p:sp>
        <p:nvSpPr>
          <p:cNvPr id="27" name="title_6">
            <a:extLst>
              <a:ext uri="{FF2B5EF4-FFF2-40B4-BE49-F238E27FC236}">
                <a16:creationId xmlns:a16="http://schemas.microsoft.com/office/drawing/2014/main" id="{5271A8D3-1064-4B0C-9279-D2EC7142057C}"/>
              </a:ext>
            </a:extLst>
          </p:cNvPr>
          <p:cNvSpPr/>
          <p:nvPr userDrawn="1"/>
        </p:nvSpPr>
        <p:spPr>
          <a:xfrm>
            <a:off x="168275" y="456479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进度安排</a:t>
            </a:r>
          </a:p>
        </p:txBody>
      </p:sp>
      <p:sp>
        <p:nvSpPr>
          <p:cNvPr id="28" name="title_1_green">
            <a:extLst>
              <a:ext uri="{FF2B5EF4-FFF2-40B4-BE49-F238E27FC236}">
                <a16:creationId xmlns:a16="http://schemas.microsoft.com/office/drawing/2014/main" id="{40CB4765-B928-4DCA-8D71-5ADF362DD793}"/>
              </a:ext>
            </a:extLst>
          </p:cNvPr>
          <p:cNvSpPr/>
          <p:nvPr userDrawn="1"/>
        </p:nvSpPr>
        <p:spPr>
          <a:xfrm>
            <a:off x="168275" y="5173177"/>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参考文献</a:t>
            </a:r>
          </a:p>
        </p:txBody>
      </p:sp>
      <p:sp>
        <p:nvSpPr>
          <p:cNvPr id="30" name="五边形 8">
            <a:extLst>
              <a:ext uri="{FF2B5EF4-FFF2-40B4-BE49-F238E27FC236}">
                <a16:creationId xmlns:a16="http://schemas.microsoft.com/office/drawing/2014/main" id="{E375F342-5C0F-4ED7-9D03-BF347DFB8074}"/>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31" name="矩形 30">
            <a:extLst>
              <a:ext uri="{FF2B5EF4-FFF2-40B4-BE49-F238E27FC236}">
                <a16:creationId xmlns:a16="http://schemas.microsoft.com/office/drawing/2014/main" id="{144E1970-92B9-426C-8174-524680E0615B}"/>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227376817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3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027310"/>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chemeClr val="bg1"/>
                </a:solidFill>
                <a:latin typeface="微软雅黑" panose="020B0503020204020204" pitchFamily="34" charset="-122"/>
                <a:ea typeface="微软雅黑" panose="020B0503020204020204" pitchFamily="34" charset="-122"/>
              </a:rPr>
              <a:t>客观存在</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6606" y="1928264"/>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rPr>
              <a:t>与人共存</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829218"/>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病毒消失</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哲学意义</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总结</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8466" y="1169930"/>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5059507"/>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4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929639"/>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chemeClr val="bg1"/>
                </a:solidFill>
                <a:latin typeface="微软雅黑" panose="020B0503020204020204" pitchFamily="34" charset="-122"/>
                <a:ea typeface="微软雅黑" panose="020B0503020204020204" pitchFamily="34" charset="-122"/>
              </a:rPr>
              <a:t>与人共存</a:t>
            </a:r>
            <a:endParaRPr lang="en-US" altLang="zh-CN" sz="1600" b="1" kern="0" spc="120" baseline="0" dirty="0">
              <a:solidFill>
                <a:schemeClr val="bg1"/>
              </a:solidFill>
              <a:latin typeface="微软雅黑" panose="020B0503020204020204" pitchFamily="34" charset="-122"/>
              <a:ea typeface="微软雅黑" panose="020B0503020204020204" pitchFamily="34" charset="-122"/>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rPr>
              <a:t>客观存在</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829218"/>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病毒消失</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哲学意义</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总结</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9098" y="2072259"/>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2376234"/>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5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67290" y="2829218"/>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chemeClr val="bg1"/>
                </a:solidFill>
                <a:latin typeface="微软雅黑" panose="020B0503020204020204" pitchFamily="34" charset="-122"/>
                <a:ea typeface="微软雅黑" panose="020B0503020204020204" pitchFamily="34" charset="-122"/>
              </a:rPr>
              <a:t>病毒消失</a:t>
            </a:r>
            <a:endParaRPr lang="en-US" altLang="zh-CN" sz="1600" b="1" kern="0" spc="120" baseline="0" dirty="0">
              <a:solidFill>
                <a:schemeClr val="bg1"/>
              </a:solidFill>
              <a:latin typeface="微软雅黑" panose="020B0503020204020204" pitchFamily="34" charset="-122"/>
              <a:ea typeface="微软雅黑" panose="020B0503020204020204" pitchFamily="34" charset="-122"/>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rPr>
              <a:t>客观存在</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与人共存</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哲学意义</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总结</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2971838"/>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11803438"/>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6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80924" y="3728797"/>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chemeClr val="bg1"/>
                </a:solidFill>
                <a:latin typeface="微软雅黑" panose="020B0503020204020204" pitchFamily="34" charset="-122"/>
                <a:ea typeface="微软雅黑" panose="020B0503020204020204" pitchFamily="34" charset="-122"/>
              </a:rPr>
              <a:t>哲学意义</a:t>
            </a:r>
            <a:endParaRPr lang="en-US" altLang="zh-CN" sz="1600" b="1" kern="0" spc="120" baseline="0" dirty="0">
              <a:solidFill>
                <a:schemeClr val="bg1"/>
              </a:solidFill>
              <a:latin typeface="微软雅黑" panose="020B0503020204020204" pitchFamily="34" charset="-122"/>
              <a:ea typeface="微软雅黑" panose="020B0503020204020204" pitchFamily="34" charset="-122"/>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rPr>
              <a:t>客观存在</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与人共存</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81027" y="282502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病毒消失</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总结</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3871417"/>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9220368"/>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7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4615809"/>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chemeClr val="bg1"/>
                </a:solidFill>
                <a:latin typeface="微软雅黑" panose="020B0503020204020204" pitchFamily="34" charset="-122"/>
                <a:ea typeface="微软雅黑" panose="020B0503020204020204" pitchFamily="34" charset="-122"/>
              </a:rPr>
              <a:t>总结</a:t>
            </a:r>
            <a:endParaRPr lang="en-US" altLang="zh-CN" sz="1600" b="1" kern="0" spc="120" baseline="0" dirty="0">
              <a:solidFill>
                <a:schemeClr val="bg1"/>
              </a:solidFill>
              <a:latin typeface="微软雅黑" panose="020B0503020204020204" pitchFamily="34" charset="-122"/>
              <a:ea typeface="微软雅黑" panose="020B0503020204020204" pitchFamily="34" charset="-122"/>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rPr>
              <a:t>客观存在</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与人共存</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81027" y="282502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病毒消失</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372041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哲学意义</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4758429"/>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31059257"/>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332704"/>
      </p:ext>
    </p:extLst>
  </p:cSld>
  <p:clrMap bg1="lt1" tx1="dk1" bg2="lt2" tx2="dk2" accent1="accent1" accent2="accent2" accent3="accent3" accent4="accent4" accent5="accent5" accent6="accent6" hlink="hlink" folHlink="folHlink"/>
  <p:sldLayoutIdLst>
    <p:sldLayoutId id="2147483671" r:id="rId1"/>
    <p:sldLayoutId id="2147483695" r:id="rId2"/>
    <p:sldLayoutId id="2147483703" r:id="rId3"/>
    <p:sldLayoutId id="2147483704" r:id="rId4"/>
    <p:sldLayoutId id="2147483705" r:id="rId5"/>
    <p:sldLayoutId id="2147483706" r:id="rId6"/>
    <p:sldLayoutId id="2147483702" r:id="rId7"/>
    <p:sldLayoutId id="2147483696" r:id="rId8"/>
    <p:sldLayoutId id="2147483697" r:id="rId9"/>
    <p:sldLayoutId id="2147483698" r:id="rId10"/>
    <p:sldLayoutId id="2147483699" r:id="rId11"/>
    <p:sldLayoutId id="2147483700" r:id="rId12"/>
    <p:sldLayoutId id="2147483701" r:id="rId13"/>
    <p:sldLayoutId id="2147483674" r:id="rId14"/>
    <p:sldLayoutId id="2147483686" r:id="rId15"/>
    <p:sldLayoutId id="2147483687" r:id="rId16"/>
    <p:sldLayoutId id="2147483688" r:id="rId17"/>
    <p:sldLayoutId id="2147483692" r:id="rId18"/>
    <p:sldLayoutId id="2147483693" r:id="rId19"/>
    <p:sldLayoutId id="2147483694" r:id="rId20"/>
    <p:sldLayoutId id="2147483689" r:id="rId21"/>
    <p:sldLayoutId id="2147483690" r:id="rId22"/>
    <p:sldLayoutId id="2147483691" r:id="rId23"/>
    <p:sldLayoutId id="2147483685" r:id="rId24"/>
    <p:sldLayoutId id="2147483681" r:id="rId25"/>
    <p:sldLayoutId id="2147483684" r:id="rId26"/>
    <p:sldLayoutId id="2147483683" r:id="rId27"/>
    <p:sldLayoutId id="2147483675" r:id="rId28"/>
    <p:sldLayoutId id="2147483676" r:id="rId29"/>
    <p:sldLayoutId id="2147483677" r:id="rId30"/>
    <p:sldLayoutId id="2147483678" r:id="rId31"/>
    <p:sldLayoutId id="2147483679" r:id="rId32"/>
    <p:sldLayoutId id="2147483680" r:id="rId33"/>
    <p:sldLayoutId id="2147483707" r:id="rId34"/>
    <p:sldLayoutId id="2147483708" r:id="rId35"/>
    <p:sldLayoutId id="2147483709" r:id="rId36"/>
    <p:sldLayoutId id="2147483710" r:id="rId37"/>
    <p:sldLayoutId id="2147483711" r:id="rId38"/>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214207"/>
            <a:ext cx="12192000" cy="46815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8" name="文本框 47"/>
          <p:cNvSpPr txBox="1">
            <a:spLocks noChangeArrowheads="1"/>
          </p:cNvSpPr>
          <p:nvPr/>
        </p:nvSpPr>
        <p:spPr bwMode="auto">
          <a:xfrm>
            <a:off x="-89333" y="2453795"/>
            <a:ext cx="12370666" cy="814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algn="ctr">
              <a:lnSpc>
                <a:spcPct val="130000"/>
              </a:lnSpc>
            </a:pPr>
            <a:r>
              <a:rPr lang="en-US" altLang="zh-CN" sz="4000" b="1" spc="12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XRP: In-Kernel Storage Functions with </a:t>
            </a:r>
            <a:r>
              <a:rPr lang="en-US" altLang="zh-CN" sz="4000" b="1" spc="120" dirty="0" err="1">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eBPF</a:t>
            </a:r>
            <a:endParaRPr lang="en-US" altLang="zh-CN" sz="4000" b="1" spc="12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34" name="Picture 10">
            <a:extLst>
              <a:ext uri="{FF2B5EF4-FFF2-40B4-BE49-F238E27FC236}">
                <a16:creationId xmlns:a16="http://schemas.microsoft.com/office/drawing/2014/main" id="{00E4792B-22AA-47AF-BE59-E47383E085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4171" y="100470"/>
            <a:ext cx="2230404" cy="2038989"/>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51">
            <a:extLst>
              <a:ext uri="{FF2B5EF4-FFF2-40B4-BE49-F238E27FC236}">
                <a16:creationId xmlns:a16="http://schemas.microsoft.com/office/drawing/2014/main" id="{DAF92616-1E1E-4B90-8AC5-891E8B8C4593}"/>
              </a:ext>
            </a:extLst>
          </p:cNvPr>
          <p:cNvSpPr txBox="1">
            <a:spLocks noChangeArrowheads="1"/>
          </p:cNvSpPr>
          <p:nvPr/>
        </p:nvSpPr>
        <p:spPr bwMode="auto">
          <a:xfrm>
            <a:off x="3611018" y="5235595"/>
            <a:ext cx="463670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algn="ctr" eaLnBrk="1" hangingPunct="1"/>
            <a:r>
              <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2024/3/8 </a:t>
            </a:r>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组会分享</a:t>
            </a:r>
            <a:endParaRPr lang="en-US" altLang="zh-CN"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r>
              <a:rPr lang="zh-CN" altLang="en-US" sz="2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董云升</a:t>
            </a:r>
          </a:p>
        </p:txBody>
      </p:sp>
    </p:spTree>
    <p:extLst>
      <p:ext uri="{BB962C8B-B14F-4D97-AF65-F5344CB8AC3E}">
        <p14:creationId xmlns:p14="http://schemas.microsoft.com/office/powerpoint/2010/main" val="342597373"/>
      </p:ext>
    </p:extLst>
  </p:cSld>
  <p:clrMapOvr>
    <a:masterClrMapping/>
  </p:clrMapOvr>
  <p:transition spd="slow" advClick="0">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0FD81F7F-6C97-C0C1-A2E3-3B463A325872}"/>
              </a:ext>
            </a:extLst>
          </p:cNvPr>
          <p:cNvSpPr/>
          <p:nvPr/>
        </p:nvSpPr>
        <p:spPr>
          <a:xfrm>
            <a:off x="1693532" y="148262"/>
            <a:ext cx="5558606"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Introduction</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822E4A26-AA76-E7E6-EFE4-3F05187D8E79}"/>
              </a:ext>
            </a:extLst>
          </p:cNvPr>
          <p:cNvSpPr txBox="1"/>
          <p:nvPr/>
        </p:nvSpPr>
        <p:spPr>
          <a:xfrm>
            <a:off x="2069394" y="1360519"/>
            <a:ext cx="9855905" cy="277576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内核的软件正在成为存储的瓶颈</a:t>
            </a:r>
            <a:endParaRPr lang="en-US" altLang="zh-CN" sz="2400"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随着高性能设备的发展，新型的</a:t>
            </a:r>
            <a:r>
              <a:rPr lang="en-US" altLang="zh-CN" sz="2400" dirty="0">
                <a:latin typeface="宋体" panose="02010600030101010101" pitchFamily="2" charset="-122"/>
                <a:ea typeface="宋体" panose="02010600030101010101" pitchFamily="2" charset="-122"/>
              </a:rPr>
              <a:t>NVME</a:t>
            </a:r>
            <a:r>
              <a:rPr lang="zh-CN" altLang="en-US" sz="2400" dirty="0">
                <a:latin typeface="宋体" panose="02010600030101010101" pitchFamily="2" charset="-122"/>
                <a:ea typeface="宋体" panose="02010600030101010101" pitchFamily="2" charset="-122"/>
              </a:rPr>
              <a:t>存储设备可以达到至多</a:t>
            </a:r>
            <a:r>
              <a:rPr lang="en-US" altLang="zh-CN" sz="2400" dirty="0">
                <a:latin typeface="宋体" panose="02010600030101010101" pitchFamily="2" charset="-122"/>
                <a:ea typeface="宋体" panose="02010600030101010101" pitchFamily="2" charset="-122"/>
              </a:rPr>
              <a:t>7GB/s</a:t>
            </a:r>
            <a:r>
              <a:rPr lang="zh-CN" altLang="en-US" sz="2400" dirty="0">
                <a:latin typeface="宋体" panose="02010600030101010101" pitchFamily="2" charset="-122"/>
                <a:ea typeface="宋体" panose="02010600030101010101" pitchFamily="2" charset="-122"/>
              </a:rPr>
              <a:t>的带宽和至少</a:t>
            </a:r>
            <a:r>
              <a:rPr lang="en-US" altLang="zh-CN" sz="2400" dirty="0">
                <a:latin typeface="宋体" panose="02010600030101010101" pitchFamily="2" charset="-122"/>
                <a:ea typeface="宋体" panose="02010600030101010101" pitchFamily="2" charset="-122"/>
              </a:rPr>
              <a:t>3us</a:t>
            </a:r>
            <a:r>
              <a:rPr lang="zh-CN" altLang="en-US" sz="2400" dirty="0">
                <a:latin typeface="宋体" panose="02010600030101010101" pitchFamily="2" charset="-122"/>
                <a:ea typeface="宋体" panose="02010600030101010101" pitchFamily="2" charset="-122"/>
              </a:rPr>
              <a:t>的延迟</a:t>
            </a:r>
            <a:endParaRPr lang="en-US" altLang="zh-CN" sz="2400"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目前存在方法解决这个问题，但是这些方法都有缺陷，这篇文章打算用</a:t>
            </a:r>
            <a:r>
              <a:rPr lang="en-US" altLang="zh-CN" sz="2400" dirty="0" err="1">
                <a:latin typeface="宋体" panose="02010600030101010101" pitchFamily="2" charset="-122"/>
                <a:ea typeface="宋体" panose="02010600030101010101" pitchFamily="2" charset="-122"/>
              </a:rPr>
              <a:t>eBPF</a:t>
            </a:r>
            <a:r>
              <a:rPr lang="zh-CN" altLang="en-US" sz="2400" dirty="0">
                <a:latin typeface="宋体" panose="02010600030101010101" pitchFamily="2" charset="-122"/>
                <a:ea typeface="宋体" panose="02010600030101010101" pitchFamily="2" charset="-122"/>
              </a:rPr>
              <a:t>来解决这个问题，但是在解决的过程中又发现了新的挑战</a:t>
            </a:r>
          </a:p>
        </p:txBody>
      </p:sp>
    </p:spTree>
    <p:extLst>
      <p:ext uri="{BB962C8B-B14F-4D97-AF65-F5344CB8AC3E}">
        <p14:creationId xmlns:p14="http://schemas.microsoft.com/office/powerpoint/2010/main" val="12060835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0FD81F7F-6C97-C0C1-A2E3-3B463A325872}"/>
              </a:ext>
            </a:extLst>
          </p:cNvPr>
          <p:cNvSpPr/>
          <p:nvPr/>
        </p:nvSpPr>
        <p:spPr>
          <a:xfrm>
            <a:off x="1693532" y="148262"/>
            <a:ext cx="10417404"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Software is Now the Storage Bottleneck</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E7C5B1C2-E0BD-9B60-C46D-32ACC7D17CFC}"/>
              </a:ext>
            </a:extLst>
          </p:cNvPr>
          <p:cNvPicPr>
            <a:picLocks noChangeAspect="1"/>
          </p:cNvPicPr>
          <p:nvPr/>
        </p:nvPicPr>
        <p:blipFill>
          <a:blip r:embed="rId3"/>
          <a:stretch>
            <a:fillRect/>
          </a:stretch>
        </p:blipFill>
        <p:spPr>
          <a:xfrm>
            <a:off x="2658963" y="1062964"/>
            <a:ext cx="8167299" cy="3420189"/>
          </a:xfrm>
          <a:prstGeom prst="rect">
            <a:avLst/>
          </a:prstGeom>
        </p:spPr>
      </p:pic>
      <p:sp>
        <p:nvSpPr>
          <p:cNvPr id="4" name="文本框 3">
            <a:extLst>
              <a:ext uri="{FF2B5EF4-FFF2-40B4-BE49-F238E27FC236}">
                <a16:creationId xmlns:a16="http://schemas.microsoft.com/office/drawing/2014/main" id="{EC024B01-9C1B-3C26-1A7B-267D2A270C9E}"/>
              </a:ext>
            </a:extLst>
          </p:cNvPr>
          <p:cNvSpPr txBox="1"/>
          <p:nvPr/>
        </p:nvSpPr>
        <p:spPr>
          <a:xfrm>
            <a:off x="1968689" y="4737371"/>
            <a:ext cx="9867089" cy="166776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在不同存储设备上发送一次</a:t>
            </a:r>
            <a:r>
              <a:rPr lang="en-US" altLang="zh-CN" sz="2400" dirty="0">
                <a:latin typeface="宋体" panose="02010600030101010101" pitchFamily="2" charset="-122"/>
                <a:ea typeface="宋体" panose="02010600030101010101" pitchFamily="2" charset="-122"/>
              </a:rPr>
              <a:t>512B</a:t>
            </a:r>
            <a:r>
              <a:rPr lang="zh-CN" altLang="en-US" sz="2400" dirty="0">
                <a:latin typeface="宋体" panose="02010600030101010101" pitchFamily="2" charset="-122"/>
                <a:ea typeface="宋体" panose="02010600030101010101" pitchFamily="2" charset="-122"/>
              </a:rPr>
              <a:t>随机读</a:t>
            </a:r>
            <a:r>
              <a:rPr lang="en-US" altLang="zh-CN" sz="2400" dirty="0">
                <a:latin typeface="宋体" panose="02010600030101010101" pitchFamily="2" charset="-122"/>
                <a:ea typeface="宋体" panose="02010600030101010101" pitchFamily="2" charset="-122"/>
              </a:rPr>
              <a:t>IO</a:t>
            </a:r>
            <a:r>
              <a:rPr lang="zh-CN" altLang="en-US" sz="2400" dirty="0">
                <a:latin typeface="宋体" panose="02010600030101010101" pitchFamily="2" charset="-122"/>
                <a:ea typeface="宋体" panose="02010600030101010101" pitchFamily="2" charset="-122"/>
              </a:rPr>
              <a:t>，导致在</a:t>
            </a:r>
            <a:r>
              <a:rPr lang="en-US" altLang="zh-CN" sz="2400" dirty="0">
                <a:latin typeface="宋体" panose="02010600030101010101" pitchFamily="2" charset="-122"/>
                <a:ea typeface="宋体" panose="02010600030101010101" pitchFamily="2" charset="-122"/>
              </a:rPr>
              <a:t>Linux</a:t>
            </a:r>
            <a:r>
              <a:rPr lang="zh-CN" altLang="en-US" sz="2400" dirty="0">
                <a:latin typeface="宋体" panose="02010600030101010101" pitchFamily="2" charset="-122"/>
                <a:ea typeface="宋体" panose="02010600030101010101" pitchFamily="2" charset="-122"/>
              </a:rPr>
              <a:t>中花费的时间</a:t>
            </a:r>
            <a:endParaRPr lang="en-US" altLang="zh-CN" sz="2400"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尽管在之前软件层面的占比非常少，但是在最新的设备中</a:t>
            </a:r>
            <a:r>
              <a:rPr lang="en-US" altLang="zh-CN" sz="2400" dirty="0">
                <a:latin typeface="宋体" panose="02010600030101010101" pitchFamily="2" charset="-122"/>
                <a:ea typeface="宋体" panose="02010600030101010101" pitchFamily="2" charset="-122"/>
              </a:rPr>
              <a:t>kernel</a:t>
            </a:r>
            <a:r>
              <a:rPr lang="zh-CN" altLang="en-US" sz="2400" dirty="0">
                <a:latin typeface="宋体" panose="02010600030101010101" pitchFamily="2" charset="-122"/>
                <a:ea typeface="宋体" panose="02010600030101010101" pitchFamily="2" charset="-122"/>
              </a:rPr>
              <a:t>的开销已经达到了几乎一半</a:t>
            </a:r>
          </a:p>
        </p:txBody>
      </p:sp>
    </p:spTree>
    <p:extLst>
      <p:ext uri="{BB962C8B-B14F-4D97-AF65-F5344CB8AC3E}">
        <p14:creationId xmlns:p14="http://schemas.microsoft.com/office/powerpoint/2010/main" val="87187495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0FD81F7F-6C97-C0C1-A2E3-3B463A325872}"/>
              </a:ext>
            </a:extLst>
          </p:cNvPr>
          <p:cNvSpPr/>
          <p:nvPr/>
        </p:nvSpPr>
        <p:spPr>
          <a:xfrm>
            <a:off x="1693532" y="148262"/>
            <a:ext cx="700850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Average Latency Breakdown</a:t>
            </a:r>
          </a:p>
        </p:txBody>
      </p:sp>
      <p:pic>
        <p:nvPicPr>
          <p:cNvPr id="4" name="图片 3">
            <a:extLst>
              <a:ext uri="{FF2B5EF4-FFF2-40B4-BE49-F238E27FC236}">
                <a16:creationId xmlns:a16="http://schemas.microsoft.com/office/drawing/2014/main" id="{C8F28092-589C-E265-6867-249A614F01DC}"/>
              </a:ext>
            </a:extLst>
          </p:cNvPr>
          <p:cNvPicPr>
            <a:picLocks noChangeAspect="1"/>
          </p:cNvPicPr>
          <p:nvPr/>
        </p:nvPicPr>
        <p:blipFill rotWithShape="1">
          <a:blip r:embed="rId3"/>
          <a:srcRect l="373" t="3249"/>
          <a:stretch/>
        </p:blipFill>
        <p:spPr>
          <a:xfrm>
            <a:off x="3356366" y="810858"/>
            <a:ext cx="6624065" cy="4084320"/>
          </a:xfrm>
          <a:prstGeom prst="rect">
            <a:avLst/>
          </a:prstGeom>
        </p:spPr>
      </p:pic>
      <p:sp>
        <p:nvSpPr>
          <p:cNvPr id="5" name="文本框 4">
            <a:extLst>
              <a:ext uri="{FF2B5EF4-FFF2-40B4-BE49-F238E27FC236}">
                <a16:creationId xmlns:a16="http://schemas.microsoft.com/office/drawing/2014/main" id="{E86A1E34-98B8-4631-315B-CC0AE40372C9}"/>
              </a:ext>
            </a:extLst>
          </p:cNvPr>
          <p:cNvSpPr txBox="1"/>
          <p:nvPr/>
        </p:nvSpPr>
        <p:spPr>
          <a:xfrm>
            <a:off x="2101173" y="5214026"/>
            <a:ext cx="9182911" cy="113633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最多的开销是文件系统，其次是</a:t>
            </a:r>
            <a:r>
              <a:rPr lang="en-US" altLang="zh-CN" sz="2400" dirty="0">
                <a:latin typeface="宋体" panose="02010600030101010101" pitchFamily="2" charset="-122"/>
                <a:ea typeface="宋体" panose="02010600030101010101" pitchFamily="2" charset="-122"/>
              </a:rPr>
              <a:t>bio</a:t>
            </a:r>
            <a:r>
              <a:rPr lang="zh-CN" altLang="en-US" sz="2400" dirty="0">
                <a:latin typeface="宋体" panose="02010600030101010101" pitchFamily="2" charset="-122"/>
                <a:ea typeface="宋体" panose="02010600030101010101" pitchFamily="2" charset="-122"/>
              </a:rPr>
              <a:t>、和切换到内核态的开销</a:t>
            </a:r>
            <a:endParaRPr lang="en-US" altLang="zh-CN" sz="2400"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总的</a:t>
            </a:r>
            <a:r>
              <a:rPr lang="en-US" altLang="zh-CN" sz="2400" dirty="0">
                <a:latin typeface="宋体" panose="02010600030101010101" pitchFamily="2" charset="-122"/>
                <a:ea typeface="宋体" panose="02010600030101010101" pitchFamily="2" charset="-122"/>
              </a:rPr>
              <a:t>kernel</a:t>
            </a:r>
            <a:r>
              <a:rPr lang="zh-CN" altLang="en-US" sz="2400" dirty="0">
                <a:latin typeface="宋体" panose="02010600030101010101" pitchFamily="2" charset="-122"/>
                <a:ea typeface="宋体" panose="02010600030101010101" pitchFamily="2" charset="-122"/>
              </a:rPr>
              <a:t>软件导致的延迟大概达到了平均延迟的</a:t>
            </a:r>
            <a:r>
              <a:rPr lang="en-US" altLang="zh-CN" sz="2400" dirty="0">
                <a:latin typeface="宋体" panose="02010600030101010101" pitchFamily="2" charset="-122"/>
                <a:ea typeface="宋体" panose="02010600030101010101" pitchFamily="2" charset="-122"/>
              </a:rPr>
              <a:t>48.6%</a:t>
            </a:r>
            <a:endParaRPr lang="zh-CN" altLang="en-US"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96822025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0FD81F7F-6C97-C0C1-A2E3-3B463A325872}"/>
              </a:ext>
            </a:extLst>
          </p:cNvPr>
          <p:cNvSpPr/>
          <p:nvPr/>
        </p:nvSpPr>
        <p:spPr>
          <a:xfrm>
            <a:off x="1693531" y="148262"/>
            <a:ext cx="8860979"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Why not just bypass the kernel?</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5126CF5E-578A-10B4-600F-5717045082E6}"/>
              </a:ext>
            </a:extLst>
          </p:cNvPr>
          <p:cNvPicPr>
            <a:picLocks noChangeAspect="1"/>
          </p:cNvPicPr>
          <p:nvPr/>
        </p:nvPicPr>
        <p:blipFill>
          <a:blip r:embed="rId3"/>
          <a:stretch>
            <a:fillRect/>
          </a:stretch>
        </p:blipFill>
        <p:spPr>
          <a:xfrm>
            <a:off x="1776072" y="1113110"/>
            <a:ext cx="4653912" cy="2681739"/>
          </a:xfrm>
          <a:prstGeom prst="rect">
            <a:avLst/>
          </a:prstGeom>
        </p:spPr>
      </p:pic>
      <p:sp>
        <p:nvSpPr>
          <p:cNvPr id="5" name="文本框 4">
            <a:extLst>
              <a:ext uri="{FF2B5EF4-FFF2-40B4-BE49-F238E27FC236}">
                <a16:creationId xmlns:a16="http://schemas.microsoft.com/office/drawing/2014/main" id="{91EADF43-E55B-3F4B-AF26-F194C66CADFA}"/>
              </a:ext>
            </a:extLst>
          </p:cNvPr>
          <p:cNvSpPr txBox="1"/>
          <p:nvPr/>
        </p:nvSpPr>
        <p:spPr>
          <a:xfrm>
            <a:off x="6250291" y="1642184"/>
            <a:ext cx="6391071" cy="1113766"/>
          </a:xfrm>
          <a:prstGeom prst="rect">
            <a:avLst/>
          </a:prstGeom>
          <a:noFill/>
        </p:spPr>
        <p:txBody>
          <a:bodyPr wrap="square" rtlCol="0">
            <a:spAutoFit/>
          </a:bodyPr>
          <a:lstStyle/>
          <a:p>
            <a:pPr>
              <a:lnSpc>
                <a:spcPct val="150000"/>
              </a:lnSpc>
            </a:pPr>
            <a:r>
              <a:rPr lang="zh-CN" altLang="en-US" sz="2400" dirty="0">
                <a:latin typeface="宋体" panose="02010600030101010101" pitchFamily="2" charset="-122"/>
                <a:ea typeface="宋体" panose="02010600030101010101" pitchFamily="2" charset="-122"/>
              </a:rPr>
              <a:t>一种减少软件层面开销的方法是完全绕过它</a:t>
            </a:r>
            <a:endParaRPr lang="en-US" altLang="zh-CN" sz="2400" dirty="0">
              <a:latin typeface="宋体" panose="02010600030101010101" pitchFamily="2" charset="-122"/>
              <a:ea typeface="宋体" panose="02010600030101010101" pitchFamily="2" charset="-122"/>
            </a:endParaRPr>
          </a:p>
          <a:p>
            <a:pPr>
              <a:lnSpc>
                <a:spcPct val="150000"/>
              </a:lnSpc>
            </a:pPr>
            <a:r>
              <a:rPr lang="en-US" altLang="zh-CN" sz="2400" dirty="0">
                <a:latin typeface="宋体" panose="02010600030101010101" pitchFamily="2" charset="-122"/>
                <a:ea typeface="宋体" panose="02010600030101010101" pitchFamily="2" charset="-122"/>
              </a:rPr>
              <a:t>Kernel bypass </a:t>
            </a:r>
            <a:r>
              <a:rPr lang="zh-CN" altLang="en-US" sz="2400" dirty="0">
                <a:latin typeface="宋体" panose="02010600030101010101" pitchFamily="2" charset="-122"/>
                <a:ea typeface="宋体" panose="02010600030101010101" pitchFamily="2" charset="-122"/>
              </a:rPr>
              <a:t>能减少大量的开销</a:t>
            </a:r>
          </a:p>
        </p:txBody>
      </p:sp>
      <p:pic>
        <p:nvPicPr>
          <p:cNvPr id="15" name="图片 14">
            <a:extLst>
              <a:ext uri="{FF2B5EF4-FFF2-40B4-BE49-F238E27FC236}">
                <a16:creationId xmlns:a16="http://schemas.microsoft.com/office/drawing/2014/main" id="{0F88F26A-4D92-B8A2-3723-BB2C895B564E}"/>
              </a:ext>
            </a:extLst>
          </p:cNvPr>
          <p:cNvPicPr>
            <a:picLocks noChangeAspect="1"/>
          </p:cNvPicPr>
          <p:nvPr/>
        </p:nvPicPr>
        <p:blipFill>
          <a:blip r:embed="rId4"/>
          <a:stretch>
            <a:fillRect/>
          </a:stretch>
        </p:blipFill>
        <p:spPr>
          <a:xfrm>
            <a:off x="2341159" y="3891063"/>
            <a:ext cx="3068285" cy="2889115"/>
          </a:xfrm>
          <a:prstGeom prst="rect">
            <a:avLst/>
          </a:prstGeom>
        </p:spPr>
      </p:pic>
      <p:sp>
        <p:nvSpPr>
          <p:cNvPr id="16" name="文本框 15">
            <a:extLst>
              <a:ext uri="{FF2B5EF4-FFF2-40B4-BE49-F238E27FC236}">
                <a16:creationId xmlns:a16="http://schemas.microsoft.com/office/drawing/2014/main" id="{A2C2FFD0-B0F1-3FED-0041-D38396DA0085}"/>
              </a:ext>
            </a:extLst>
          </p:cNvPr>
          <p:cNvSpPr txBox="1"/>
          <p:nvPr/>
        </p:nvSpPr>
        <p:spPr>
          <a:xfrm>
            <a:off x="7380590" y="3039746"/>
            <a:ext cx="5771745" cy="461665"/>
          </a:xfrm>
          <a:prstGeom prst="rect">
            <a:avLst/>
          </a:prstGeom>
          <a:noFill/>
        </p:spPr>
        <p:txBody>
          <a:bodyPr wrap="square" rtlCol="0">
            <a:spAutoFit/>
          </a:bodyPr>
          <a:lstStyle/>
          <a:p>
            <a:r>
              <a:rPr lang="en-US" altLang="zh-CN" sz="2400" b="1" i="1" dirty="0">
                <a:solidFill>
                  <a:srgbClr val="FF0000"/>
                </a:solidFill>
              </a:rPr>
              <a:t>Kernel Bypass is Not a Panacea</a:t>
            </a:r>
            <a:endParaRPr lang="zh-CN" altLang="en-US" sz="2400" b="1" i="1" dirty="0">
              <a:solidFill>
                <a:srgbClr val="FF0000"/>
              </a:solidFill>
            </a:endParaRPr>
          </a:p>
        </p:txBody>
      </p:sp>
      <p:sp>
        <p:nvSpPr>
          <p:cNvPr id="17" name="文本框 16">
            <a:extLst>
              <a:ext uri="{FF2B5EF4-FFF2-40B4-BE49-F238E27FC236}">
                <a16:creationId xmlns:a16="http://schemas.microsoft.com/office/drawing/2014/main" id="{F0F27B2D-883C-304B-F1DF-0E84485E4DB7}"/>
              </a:ext>
            </a:extLst>
          </p:cNvPr>
          <p:cNvSpPr txBox="1"/>
          <p:nvPr/>
        </p:nvSpPr>
        <p:spPr>
          <a:xfrm>
            <a:off x="5489643" y="3528242"/>
            <a:ext cx="6702357" cy="3329758"/>
          </a:xfrm>
          <a:prstGeom prst="rect">
            <a:avLst/>
          </a:prstGeom>
          <a:noFill/>
        </p:spPr>
        <p:txBody>
          <a:bodyPr wrap="square" rtlCol="0">
            <a:spAutoFit/>
          </a:bodyPr>
          <a:lstStyle/>
          <a:p>
            <a:pPr>
              <a:lnSpc>
                <a:spcPct val="150000"/>
              </a:lnSpc>
            </a:pPr>
            <a:r>
              <a:rPr lang="zh-CN" altLang="en-US" sz="2400" dirty="0">
                <a:solidFill>
                  <a:srgbClr val="00B0F0"/>
                </a:solidFill>
                <a:latin typeface="宋体" panose="02010600030101010101" pitchFamily="2" charset="-122"/>
                <a:ea typeface="宋体" panose="02010600030101010101" pitchFamily="2" charset="-122"/>
              </a:rPr>
              <a:t>不会再带来</a:t>
            </a:r>
            <a:r>
              <a:rPr lang="en-US" altLang="zh-CN" sz="2400" dirty="0">
                <a:solidFill>
                  <a:srgbClr val="00B0F0"/>
                </a:solidFill>
                <a:latin typeface="宋体" panose="02010600030101010101" pitchFamily="2" charset="-122"/>
                <a:ea typeface="宋体" panose="02010600030101010101" pitchFamily="2" charset="-122"/>
              </a:rPr>
              <a:t>kernel</a:t>
            </a:r>
            <a:r>
              <a:rPr lang="zh-CN" altLang="en-US" sz="2400" dirty="0">
                <a:solidFill>
                  <a:srgbClr val="00B0F0"/>
                </a:solidFill>
                <a:latin typeface="宋体" panose="02010600030101010101" pitchFamily="2" charset="-122"/>
                <a:ea typeface="宋体" panose="02010600030101010101" pitchFamily="2" charset="-122"/>
              </a:rPr>
              <a:t>存储栈的开销</a:t>
            </a:r>
            <a:endParaRPr lang="en-US" altLang="zh-CN" sz="2400" dirty="0">
              <a:solidFill>
                <a:srgbClr val="00B0F0"/>
              </a:solidFill>
              <a:latin typeface="宋体" panose="02010600030101010101" pitchFamily="2" charset="-122"/>
              <a:ea typeface="宋体" panose="02010600030101010101" pitchFamily="2" charset="-122"/>
            </a:endParaRPr>
          </a:p>
          <a:p>
            <a:pPr>
              <a:lnSpc>
                <a:spcPct val="150000"/>
              </a:lnSpc>
            </a:pPr>
            <a:r>
              <a:rPr lang="zh-CN" altLang="en-US" sz="2400" dirty="0">
                <a:solidFill>
                  <a:srgbClr val="FF0000"/>
                </a:solidFill>
                <a:latin typeface="宋体" panose="02010600030101010101" pitchFamily="2" charset="-122"/>
                <a:ea typeface="宋体" panose="02010600030101010101" pitchFamily="2" charset="-122"/>
              </a:rPr>
              <a:t>每个程序必须自己实现用户态文件系统，彼此之间可以访问的设备的地址相互分隔</a:t>
            </a:r>
            <a:endParaRPr lang="en-US" altLang="zh-CN" sz="2400" dirty="0">
              <a:solidFill>
                <a:srgbClr val="FF0000"/>
              </a:solidFill>
              <a:latin typeface="宋体" panose="02010600030101010101" pitchFamily="2" charset="-122"/>
              <a:ea typeface="宋体" panose="02010600030101010101" pitchFamily="2" charset="-122"/>
            </a:endParaRPr>
          </a:p>
          <a:p>
            <a:pPr>
              <a:lnSpc>
                <a:spcPct val="150000"/>
              </a:lnSpc>
            </a:pPr>
            <a:r>
              <a:rPr lang="zh-CN" altLang="en-US" sz="2400" dirty="0">
                <a:solidFill>
                  <a:srgbClr val="FF0000"/>
                </a:solidFill>
                <a:latin typeface="宋体" panose="02010600030101010101" pitchFamily="2" charset="-122"/>
                <a:ea typeface="宋体" panose="02010600030101010101" pitchFamily="2" charset="-122"/>
              </a:rPr>
              <a:t>没有细粒度的权限控制</a:t>
            </a:r>
            <a:endParaRPr lang="en-US" altLang="zh-CN" sz="2400" dirty="0">
              <a:solidFill>
                <a:srgbClr val="FF0000"/>
              </a:solidFill>
              <a:latin typeface="宋体" panose="02010600030101010101" pitchFamily="2" charset="-122"/>
              <a:ea typeface="宋体" panose="02010600030101010101" pitchFamily="2" charset="-122"/>
            </a:endParaRPr>
          </a:p>
          <a:p>
            <a:pPr>
              <a:lnSpc>
                <a:spcPct val="150000"/>
              </a:lnSpc>
            </a:pPr>
            <a:r>
              <a:rPr lang="zh-CN" altLang="en-US" sz="2400" dirty="0">
                <a:solidFill>
                  <a:srgbClr val="FF0000"/>
                </a:solidFill>
                <a:latin typeface="宋体" panose="02010600030101010101" pitchFamily="2" charset="-122"/>
                <a:ea typeface="宋体" panose="02010600030101010101" pitchFamily="2" charset="-122"/>
              </a:rPr>
              <a:t>必须轮询等待结果，在此期间</a:t>
            </a:r>
            <a:r>
              <a:rPr lang="en-US" altLang="zh-CN" sz="2400" dirty="0">
                <a:solidFill>
                  <a:srgbClr val="FF0000"/>
                </a:solidFill>
                <a:latin typeface="宋体" panose="02010600030101010101" pitchFamily="2" charset="-122"/>
                <a:ea typeface="宋体" panose="02010600030101010101" pitchFamily="2" charset="-122"/>
              </a:rPr>
              <a:t>CPU</a:t>
            </a:r>
            <a:r>
              <a:rPr lang="zh-CN" altLang="en-US" sz="2400" dirty="0">
                <a:solidFill>
                  <a:srgbClr val="FF0000"/>
                </a:solidFill>
                <a:latin typeface="宋体" panose="02010600030101010101" pitchFamily="2" charset="-122"/>
                <a:ea typeface="宋体" panose="02010600030101010101" pitchFamily="2" charset="-122"/>
              </a:rPr>
              <a:t>不能切换任务：</a:t>
            </a:r>
            <a:r>
              <a:rPr lang="en-US" altLang="zh-CN" sz="2400" dirty="0">
                <a:solidFill>
                  <a:srgbClr val="FF0000"/>
                </a:solidFill>
                <a:latin typeface="宋体" panose="02010600030101010101" pitchFamily="2" charset="-122"/>
                <a:ea typeface="宋体" panose="02010600030101010101" pitchFamily="2" charset="-122"/>
              </a:rPr>
              <a:t>CPU</a:t>
            </a:r>
            <a:r>
              <a:rPr lang="zh-CN" altLang="en-US" sz="2400" dirty="0">
                <a:solidFill>
                  <a:srgbClr val="FF0000"/>
                </a:solidFill>
                <a:latin typeface="宋体" panose="02010600030101010101" pitchFamily="2" charset="-122"/>
                <a:ea typeface="宋体" panose="02010600030101010101" pitchFamily="2" charset="-122"/>
              </a:rPr>
              <a:t>利用率低，</a:t>
            </a:r>
            <a:r>
              <a:rPr lang="en-US" altLang="zh-CN" sz="2400" dirty="0">
                <a:solidFill>
                  <a:srgbClr val="FF0000"/>
                </a:solidFill>
                <a:latin typeface="宋体" panose="02010600030101010101" pitchFamily="2" charset="-122"/>
                <a:ea typeface="宋体" panose="02010600030101010101" pitchFamily="2" charset="-122"/>
              </a:rPr>
              <a:t>CPU</a:t>
            </a:r>
            <a:r>
              <a:rPr lang="zh-CN" altLang="en-US" sz="2400" dirty="0">
                <a:solidFill>
                  <a:srgbClr val="FF0000"/>
                </a:solidFill>
                <a:latin typeface="宋体" panose="02010600030101010101" pitchFamily="2" charset="-122"/>
                <a:ea typeface="宋体" panose="02010600030101010101" pitchFamily="2" charset="-122"/>
              </a:rPr>
              <a:t>不能有效地被多个进程共享</a:t>
            </a:r>
            <a:endParaRPr lang="en-US" altLang="zh-CN" sz="2400"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5372135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0FD81F7F-6C97-C0C1-A2E3-3B463A325872}"/>
              </a:ext>
            </a:extLst>
          </p:cNvPr>
          <p:cNvSpPr/>
          <p:nvPr/>
        </p:nvSpPr>
        <p:spPr>
          <a:xfrm>
            <a:off x="1693532" y="148262"/>
            <a:ext cx="64344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BPF Primer</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a:extLst>
              <a:ext uri="{FF2B5EF4-FFF2-40B4-BE49-F238E27FC236}">
                <a16:creationId xmlns:a16="http://schemas.microsoft.com/office/drawing/2014/main" id="{718BF421-CDAB-6EAB-C13A-E626FA411B7D}"/>
              </a:ext>
            </a:extLst>
          </p:cNvPr>
          <p:cNvPicPr>
            <a:picLocks noChangeAspect="1"/>
          </p:cNvPicPr>
          <p:nvPr/>
        </p:nvPicPr>
        <p:blipFill rotWithShape="1">
          <a:blip r:embed="rId3"/>
          <a:srcRect b="21504"/>
          <a:stretch/>
        </p:blipFill>
        <p:spPr>
          <a:xfrm>
            <a:off x="3146796" y="1067796"/>
            <a:ext cx="7735830" cy="3056732"/>
          </a:xfrm>
          <a:prstGeom prst="rect">
            <a:avLst/>
          </a:prstGeom>
        </p:spPr>
      </p:pic>
      <p:sp>
        <p:nvSpPr>
          <p:cNvPr id="11" name="文本框 10">
            <a:extLst>
              <a:ext uri="{FF2B5EF4-FFF2-40B4-BE49-F238E27FC236}">
                <a16:creationId xmlns:a16="http://schemas.microsoft.com/office/drawing/2014/main" id="{84DC57E8-975E-F9B2-362F-3FCC9F6E45C6}"/>
              </a:ext>
            </a:extLst>
          </p:cNvPr>
          <p:cNvSpPr txBox="1"/>
          <p:nvPr/>
        </p:nvSpPr>
        <p:spPr>
          <a:xfrm>
            <a:off x="2081718" y="4410649"/>
            <a:ext cx="9572018" cy="166776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400" dirty="0" err="1">
                <a:latin typeface="宋体" panose="02010600030101010101" pitchFamily="2" charset="-122"/>
                <a:ea typeface="宋体" panose="02010600030101010101" pitchFamily="2" charset="-122"/>
              </a:rPr>
              <a:t>ebpf</a:t>
            </a:r>
            <a:r>
              <a:rPr lang="zh-CN" altLang="en-US" sz="2400" dirty="0">
                <a:latin typeface="宋体" panose="02010600030101010101" pitchFamily="2" charset="-122"/>
                <a:ea typeface="宋体" panose="02010600030101010101" pitchFamily="2" charset="-122"/>
              </a:rPr>
              <a:t>能够允许用户将一段简单的程序加载到内核中执行</a:t>
            </a:r>
            <a:endParaRPr lang="en-US" altLang="zh-CN" sz="2400"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en-US" altLang="zh-CN" sz="2400" dirty="0" err="1">
                <a:latin typeface="宋体" panose="02010600030101010101" pitchFamily="2" charset="-122"/>
                <a:ea typeface="宋体" panose="02010600030101010101" pitchFamily="2" charset="-122"/>
              </a:rPr>
              <a:t>eBPF</a:t>
            </a:r>
            <a:r>
              <a:rPr lang="zh-CN" altLang="en-US" sz="2400" dirty="0">
                <a:latin typeface="宋体" panose="02010600030101010101" pitchFamily="2" charset="-122"/>
                <a:ea typeface="宋体" panose="02010600030101010101" pitchFamily="2" charset="-122"/>
              </a:rPr>
              <a:t>函数在安装的时候会被验证是否安全，在验证之后就可以被正常地调用了</a:t>
            </a:r>
            <a:endParaRPr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1782257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0FD81F7F-6C97-C0C1-A2E3-3B463A325872}"/>
              </a:ext>
            </a:extLst>
          </p:cNvPr>
          <p:cNvSpPr/>
          <p:nvPr/>
        </p:nvSpPr>
        <p:spPr>
          <a:xfrm>
            <a:off x="1693532" y="148262"/>
            <a:ext cx="64344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Introduction</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2B9A93F5-3A1C-14CE-4C38-C687FE7D4C2C}"/>
              </a:ext>
            </a:extLst>
          </p:cNvPr>
          <p:cNvPicPr>
            <a:picLocks noChangeAspect="1"/>
          </p:cNvPicPr>
          <p:nvPr/>
        </p:nvPicPr>
        <p:blipFill>
          <a:blip r:embed="rId3"/>
          <a:stretch>
            <a:fillRect/>
          </a:stretch>
        </p:blipFill>
        <p:spPr>
          <a:xfrm>
            <a:off x="2064850" y="883659"/>
            <a:ext cx="8760781" cy="4270458"/>
          </a:xfrm>
          <a:prstGeom prst="rect">
            <a:avLst/>
          </a:prstGeom>
        </p:spPr>
      </p:pic>
      <p:sp>
        <p:nvSpPr>
          <p:cNvPr id="3" name="文本框 2">
            <a:extLst>
              <a:ext uri="{FF2B5EF4-FFF2-40B4-BE49-F238E27FC236}">
                <a16:creationId xmlns:a16="http://schemas.microsoft.com/office/drawing/2014/main" id="{33176EC6-CC38-4663-2810-B3CF4753EC5C}"/>
              </a:ext>
            </a:extLst>
          </p:cNvPr>
          <p:cNvSpPr txBox="1"/>
          <p:nvPr/>
        </p:nvSpPr>
        <p:spPr>
          <a:xfrm>
            <a:off x="2221418" y="5520639"/>
            <a:ext cx="9572018" cy="574581"/>
          </a:xfrm>
          <a:prstGeom prst="rect">
            <a:avLst/>
          </a:prstGeom>
          <a:noFill/>
        </p:spPr>
        <p:txBody>
          <a:bodyPr wrap="square" rtlCol="0">
            <a:spAutoFit/>
          </a:bodyPr>
          <a:lstStyle/>
          <a:p>
            <a:pPr>
              <a:lnSpc>
                <a:spcPct val="150000"/>
              </a:lnSpc>
            </a:pPr>
            <a:r>
              <a:rPr lang="zh-CN" altLang="en-US" sz="2400" dirty="0">
                <a:latin typeface="宋体" panose="02010600030101010101" pitchFamily="2" charset="-122"/>
                <a:ea typeface="宋体" panose="02010600030101010101" pitchFamily="2" charset="-122"/>
              </a:rPr>
              <a:t>将应用访问数据的逻辑转移到</a:t>
            </a:r>
            <a:r>
              <a:rPr lang="en-US" altLang="zh-CN" sz="2400" dirty="0">
                <a:latin typeface="宋体" panose="02010600030101010101" pitchFamily="2" charset="-122"/>
                <a:ea typeface="宋体" panose="02010600030101010101" pitchFamily="2" charset="-122"/>
              </a:rPr>
              <a:t>kernel</a:t>
            </a:r>
            <a:r>
              <a:rPr lang="zh-CN" altLang="en-US" sz="2400" dirty="0">
                <a:latin typeface="宋体" panose="02010600030101010101" pitchFamily="2" charset="-122"/>
                <a:ea typeface="宋体" panose="02010600030101010101" pitchFamily="2" charset="-122"/>
              </a:rPr>
              <a:t>中的驱动能够极大地减少开销</a:t>
            </a:r>
            <a:endParaRPr lang="zh-CN" altLang="en-US" dirty="0"/>
          </a:p>
        </p:txBody>
      </p:sp>
    </p:spTree>
    <p:extLst>
      <p:ext uri="{BB962C8B-B14F-4D97-AF65-F5344CB8AC3E}">
        <p14:creationId xmlns:p14="http://schemas.microsoft.com/office/powerpoint/2010/main" val="334687022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23A5F3D-5712-4A14-84F1-CD6BDAB3ACC2}"/>
              </a:ext>
            </a:extLst>
          </p:cNvPr>
          <p:cNvSpPr/>
          <p:nvPr/>
        </p:nvSpPr>
        <p:spPr>
          <a:xfrm>
            <a:off x="1693532" y="90684"/>
            <a:ext cx="96856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B+ Tree Index Lookup from User Space</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D2FA1CB9-C98B-C306-8FFC-1A20D868CFE1}"/>
              </a:ext>
            </a:extLst>
          </p:cNvPr>
          <p:cNvPicPr>
            <a:picLocks noChangeAspect="1"/>
          </p:cNvPicPr>
          <p:nvPr/>
        </p:nvPicPr>
        <p:blipFill>
          <a:blip r:embed="rId2"/>
          <a:stretch>
            <a:fillRect/>
          </a:stretch>
        </p:blipFill>
        <p:spPr>
          <a:xfrm>
            <a:off x="2075468" y="962543"/>
            <a:ext cx="9430191" cy="4446359"/>
          </a:xfrm>
          <a:prstGeom prst="rect">
            <a:avLst/>
          </a:prstGeom>
        </p:spPr>
      </p:pic>
      <p:sp>
        <p:nvSpPr>
          <p:cNvPr id="3" name="文本框 2">
            <a:extLst>
              <a:ext uri="{FF2B5EF4-FFF2-40B4-BE49-F238E27FC236}">
                <a16:creationId xmlns:a16="http://schemas.microsoft.com/office/drawing/2014/main" id="{6CC3B512-8D6C-1045-797D-C9008B229E14}"/>
              </a:ext>
            </a:extLst>
          </p:cNvPr>
          <p:cNvSpPr txBox="1"/>
          <p:nvPr/>
        </p:nvSpPr>
        <p:spPr>
          <a:xfrm>
            <a:off x="2130357" y="5525311"/>
            <a:ext cx="9248843"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常规的</a:t>
            </a:r>
            <a:r>
              <a:rPr lang="en-US" altLang="zh-CN" sz="2400" dirty="0">
                <a:latin typeface="宋体" panose="02010600030101010101" pitchFamily="2" charset="-122"/>
                <a:ea typeface="宋体" panose="02010600030101010101" pitchFamily="2" charset="-122"/>
              </a:rPr>
              <a:t>B+ tree</a:t>
            </a:r>
            <a:r>
              <a:rPr lang="zh-CN" altLang="en-US" sz="2400" dirty="0">
                <a:latin typeface="宋体" panose="02010600030101010101" pitchFamily="2" charset="-122"/>
                <a:ea typeface="宋体" panose="02010600030101010101" pitchFamily="2" charset="-122"/>
              </a:rPr>
              <a:t>搜索方式</a:t>
            </a:r>
          </a:p>
        </p:txBody>
      </p:sp>
    </p:spTree>
    <p:extLst>
      <p:ext uri="{BB962C8B-B14F-4D97-AF65-F5344CB8AC3E}">
        <p14:creationId xmlns:p14="http://schemas.microsoft.com/office/powerpoint/2010/main" val="270966238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23A5F3D-5712-4A14-84F1-CD6BDAB3ACC2}"/>
              </a:ext>
            </a:extLst>
          </p:cNvPr>
          <p:cNvSpPr/>
          <p:nvPr/>
        </p:nvSpPr>
        <p:spPr>
          <a:xfrm>
            <a:off x="1693532" y="90684"/>
            <a:ext cx="96856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Index Lookup With In-kernel </a:t>
            </a:r>
            <a:r>
              <a:rPr lang="en-US" altLang="zh-CN" sz="3200" b="1" spc="300" dirty="0" err="1">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Fucntion</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E0C63A7C-3961-CFD5-89E9-DBDF4AE28183}"/>
              </a:ext>
            </a:extLst>
          </p:cNvPr>
          <p:cNvPicPr>
            <a:picLocks noChangeAspect="1"/>
          </p:cNvPicPr>
          <p:nvPr/>
        </p:nvPicPr>
        <p:blipFill>
          <a:blip r:embed="rId2"/>
          <a:stretch>
            <a:fillRect/>
          </a:stretch>
        </p:blipFill>
        <p:spPr>
          <a:xfrm>
            <a:off x="1933468" y="825146"/>
            <a:ext cx="9921275" cy="4507315"/>
          </a:xfrm>
          <a:prstGeom prst="rect">
            <a:avLst/>
          </a:prstGeom>
        </p:spPr>
      </p:pic>
      <p:sp>
        <p:nvSpPr>
          <p:cNvPr id="6" name="文本框 5">
            <a:extLst>
              <a:ext uri="{FF2B5EF4-FFF2-40B4-BE49-F238E27FC236}">
                <a16:creationId xmlns:a16="http://schemas.microsoft.com/office/drawing/2014/main" id="{039531D8-1A22-17AA-C284-C95B019C792A}"/>
              </a:ext>
            </a:extLst>
          </p:cNvPr>
          <p:cNvSpPr txBox="1"/>
          <p:nvPr/>
        </p:nvSpPr>
        <p:spPr>
          <a:xfrm>
            <a:off x="2130357" y="5525311"/>
            <a:ext cx="9248843" cy="830997"/>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如果在内核中有相应的函数，就可以减少很多无效的</a:t>
            </a:r>
            <a:r>
              <a:rPr lang="en-US" altLang="zh-CN" sz="2400" dirty="0">
                <a:latin typeface="宋体" panose="02010600030101010101" pitchFamily="2" charset="-122"/>
                <a:ea typeface="宋体" panose="02010600030101010101" pitchFamily="2" charset="-122"/>
              </a:rPr>
              <a:t>IO</a:t>
            </a:r>
            <a:r>
              <a:rPr lang="zh-CN" altLang="en-US" sz="2400" dirty="0">
                <a:latin typeface="宋体" panose="02010600030101010101" pitchFamily="2" charset="-122"/>
                <a:ea typeface="宋体" panose="02010600030101010101" pitchFamily="2" charset="-122"/>
              </a:rPr>
              <a:t>以及无效数据的搬运</a:t>
            </a:r>
          </a:p>
        </p:txBody>
      </p:sp>
    </p:spTree>
    <p:extLst>
      <p:ext uri="{BB962C8B-B14F-4D97-AF65-F5344CB8AC3E}">
        <p14:creationId xmlns:p14="http://schemas.microsoft.com/office/powerpoint/2010/main" val="227377255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23A5F3D-5712-4A14-84F1-CD6BDAB3ACC2}"/>
              </a:ext>
            </a:extLst>
          </p:cNvPr>
          <p:cNvSpPr/>
          <p:nvPr/>
        </p:nvSpPr>
        <p:spPr>
          <a:xfrm>
            <a:off x="1693532" y="90684"/>
            <a:ext cx="96856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Index Lookup With In-kernel </a:t>
            </a:r>
            <a:r>
              <a:rPr lang="en-US" altLang="zh-CN" sz="3200" b="1" spc="300" dirty="0" err="1">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Fucntion</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E0C80C9B-ED93-D38A-19D9-95BDFB6932C8}"/>
              </a:ext>
            </a:extLst>
          </p:cNvPr>
          <p:cNvSpPr txBox="1"/>
          <p:nvPr/>
        </p:nvSpPr>
        <p:spPr>
          <a:xfrm>
            <a:off x="2276422" y="1521333"/>
            <a:ext cx="9775878" cy="332975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链式的独立的读请求是非常普遍的</a:t>
            </a:r>
            <a:endParaRPr lang="en-US" altLang="zh-CN" sz="2400"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比如说</a:t>
            </a:r>
            <a:r>
              <a:rPr lang="en-US" altLang="zh-CN" sz="2400" dirty="0">
                <a:latin typeface="宋体" panose="02010600030101010101" pitchFamily="2" charset="-122"/>
                <a:ea typeface="宋体" panose="02010600030101010101" pitchFamily="2" charset="-122"/>
              </a:rPr>
              <a:t>B tree </a:t>
            </a:r>
            <a:r>
              <a:rPr lang="zh-CN" altLang="en-US" sz="2400" dirty="0">
                <a:latin typeface="宋体" panose="02010600030101010101" pitchFamily="2" charset="-122"/>
                <a:ea typeface="宋体" panose="02010600030101010101" pitchFamily="2" charset="-122"/>
              </a:rPr>
              <a:t>和 </a:t>
            </a:r>
            <a:r>
              <a:rPr lang="en-US" altLang="zh-CN" sz="2400" dirty="0">
                <a:latin typeface="宋体" panose="02010600030101010101" pitchFamily="2" charset="-122"/>
                <a:ea typeface="宋体" panose="02010600030101010101" pitchFamily="2" charset="-122"/>
              </a:rPr>
              <a:t>LSM Tree </a:t>
            </a:r>
            <a:r>
              <a:rPr lang="zh-CN" altLang="en-US" sz="2400" dirty="0">
                <a:latin typeface="宋体" panose="02010600030101010101" pitchFamily="2" charset="-122"/>
                <a:ea typeface="宋体" panose="02010600030101010101" pitchFamily="2" charset="-122"/>
              </a:rPr>
              <a:t>都是用独立的读请求来执行查找操作的</a:t>
            </a:r>
            <a:endParaRPr lang="en-US" altLang="zh-CN" sz="2400"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在这种操作中，最终只需要一个结果或者只需要一小部分结果，而很多中间结果最后都是需要被丢弃的</a:t>
            </a:r>
            <a:endParaRPr lang="en-US" altLang="zh-CN" sz="2400"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因此可以用</a:t>
            </a:r>
            <a:r>
              <a:rPr lang="en-US" altLang="zh-CN" sz="2400" dirty="0" err="1">
                <a:latin typeface="宋体" panose="02010600030101010101" pitchFamily="2" charset="-122"/>
                <a:ea typeface="宋体" panose="02010600030101010101" pitchFamily="2" charset="-122"/>
              </a:rPr>
              <a:t>eBPF</a:t>
            </a:r>
            <a:r>
              <a:rPr lang="zh-CN" altLang="en-US" sz="2400" dirty="0">
                <a:latin typeface="宋体" panose="02010600030101010101" pitchFamily="2" charset="-122"/>
                <a:ea typeface="宋体" panose="02010600030101010101" pitchFamily="2" charset="-122"/>
              </a:rPr>
              <a:t>，减少产生中间结果的额外开销，从而提高存储引擎的速度</a:t>
            </a:r>
          </a:p>
        </p:txBody>
      </p:sp>
    </p:spTree>
    <p:extLst>
      <p:ext uri="{BB962C8B-B14F-4D97-AF65-F5344CB8AC3E}">
        <p14:creationId xmlns:p14="http://schemas.microsoft.com/office/powerpoint/2010/main" val="367753385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23A5F3D-5712-4A14-84F1-CD6BDAB3ACC2}"/>
              </a:ext>
            </a:extLst>
          </p:cNvPr>
          <p:cNvSpPr/>
          <p:nvPr/>
        </p:nvSpPr>
        <p:spPr>
          <a:xfrm>
            <a:off x="1693532" y="90684"/>
            <a:ext cx="96856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Place </a:t>
            </a:r>
            <a:r>
              <a:rPr lang="en-US" altLang="zh-CN" sz="3200" b="1" spc="300" dirty="0" err="1">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eBPF</a:t>
            </a: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 in the </a:t>
            </a:r>
            <a:r>
              <a:rPr lang="en-US" altLang="zh-CN" sz="3200" b="1" spc="300" dirty="0" err="1">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NVMe</a:t>
            </a: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 driver</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a:extLst>
              <a:ext uri="{FF2B5EF4-FFF2-40B4-BE49-F238E27FC236}">
                <a16:creationId xmlns:a16="http://schemas.microsoft.com/office/drawing/2014/main" id="{653EA296-7EC7-C9A5-802D-35E13B949E8F}"/>
              </a:ext>
            </a:extLst>
          </p:cNvPr>
          <p:cNvPicPr>
            <a:picLocks noChangeAspect="1"/>
          </p:cNvPicPr>
          <p:nvPr/>
        </p:nvPicPr>
        <p:blipFill>
          <a:blip r:embed="rId2"/>
          <a:stretch>
            <a:fillRect/>
          </a:stretch>
        </p:blipFill>
        <p:spPr>
          <a:xfrm>
            <a:off x="1922114" y="1144030"/>
            <a:ext cx="5203518" cy="4420192"/>
          </a:xfrm>
          <a:prstGeom prst="rect">
            <a:avLst/>
          </a:prstGeom>
        </p:spPr>
      </p:pic>
      <p:pic>
        <p:nvPicPr>
          <p:cNvPr id="10" name="图片 9">
            <a:extLst>
              <a:ext uri="{FF2B5EF4-FFF2-40B4-BE49-F238E27FC236}">
                <a16:creationId xmlns:a16="http://schemas.microsoft.com/office/drawing/2014/main" id="{DEB87AAD-0490-25E5-5FFC-3161F8F0B36F}"/>
              </a:ext>
            </a:extLst>
          </p:cNvPr>
          <p:cNvPicPr>
            <a:picLocks noChangeAspect="1"/>
          </p:cNvPicPr>
          <p:nvPr/>
        </p:nvPicPr>
        <p:blipFill>
          <a:blip r:embed="rId3"/>
          <a:stretch>
            <a:fillRect/>
          </a:stretch>
        </p:blipFill>
        <p:spPr>
          <a:xfrm>
            <a:off x="7235434" y="1070959"/>
            <a:ext cx="4705592" cy="1155759"/>
          </a:xfrm>
          <a:prstGeom prst="rect">
            <a:avLst/>
          </a:prstGeom>
        </p:spPr>
      </p:pic>
      <p:sp>
        <p:nvSpPr>
          <p:cNvPr id="11" name="文本框 10">
            <a:extLst>
              <a:ext uri="{FF2B5EF4-FFF2-40B4-BE49-F238E27FC236}">
                <a16:creationId xmlns:a16="http://schemas.microsoft.com/office/drawing/2014/main" id="{1A9B168E-64D0-C331-EDE8-A0ABE58F462D}"/>
              </a:ext>
            </a:extLst>
          </p:cNvPr>
          <p:cNvSpPr txBox="1"/>
          <p:nvPr/>
        </p:nvSpPr>
        <p:spPr>
          <a:xfrm>
            <a:off x="7235434" y="2957209"/>
            <a:ext cx="4705592" cy="1569660"/>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在不同位置使用</a:t>
            </a:r>
            <a:r>
              <a:rPr lang="en-US" altLang="zh-CN" sz="2400" dirty="0" err="1">
                <a:latin typeface="宋体" panose="02010600030101010101" pitchFamily="2" charset="-122"/>
                <a:ea typeface="宋体" panose="02010600030101010101" pitchFamily="2" charset="-122"/>
              </a:rPr>
              <a:t>eBPF</a:t>
            </a:r>
            <a:r>
              <a:rPr lang="zh-CN" altLang="en-US" sz="2400" dirty="0">
                <a:latin typeface="宋体" panose="02010600030101010101" pitchFamily="2" charset="-122"/>
                <a:ea typeface="宋体" panose="02010600030101010101" pitchFamily="2" charset="-122"/>
              </a:rPr>
              <a:t>对性能的提升不同</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越靠近底层设备，跳过的软件栈越多，提升就越大</a:t>
            </a:r>
          </a:p>
        </p:txBody>
      </p:sp>
    </p:spTree>
    <p:extLst>
      <p:ext uri="{BB962C8B-B14F-4D97-AF65-F5344CB8AC3E}">
        <p14:creationId xmlns:p14="http://schemas.microsoft.com/office/powerpoint/2010/main" val="339139738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D827BB1-ADF8-1549-5C24-FEFA6BB1EBDA}"/>
              </a:ext>
            </a:extLst>
          </p:cNvPr>
          <p:cNvSpPr/>
          <p:nvPr/>
        </p:nvSpPr>
        <p:spPr>
          <a:xfrm>
            <a:off x="1693532" y="90684"/>
            <a:ext cx="6462496"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Challenges</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302703AD-405E-1CA8-E827-AC46566A7BCE}"/>
              </a:ext>
            </a:extLst>
          </p:cNvPr>
          <p:cNvSpPr txBox="1"/>
          <p:nvPr/>
        </p:nvSpPr>
        <p:spPr>
          <a:xfrm>
            <a:off x="2042809" y="1132474"/>
            <a:ext cx="9173182" cy="4154984"/>
          </a:xfrm>
          <a:prstGeom prst="rect">
            <a:avLst/>
          </a:prstGeom>
          <a:noFill/>
        </p:spPr>
        <p:txBody>
          <a:bodyPr wrap="square" rtlCol="0">
            <a:spAutoFit/>
          </a:bodyPr>
          <a:lstStyle/>
          <a:p>
            <a:r>
              <a:rPr lang="en-US" altLang="zh-CN" sz="2400" b="1" dirty="0">
                <a:latin typeface="宋体" panose="02010600030101010101" pitchFamily="2" charset="-122"/>
                <a:ea typeface="宋体" panose="02010600030101010101" pitchFamily="2" charset="-122"/>
              </a:rPr>
              <a:t>Challenge1:</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Address</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Translation and Security</a:t>
            </a:r>
          </a:p>
          <a:p>
            <a:pPr marL="342900" indent="-342900">
              <a:buFont typeface="Arial" panose="020B0604020202020204" pitchFamily="34" charset="0"/>
              <a:buChar char="•"/>
            </a:pPr>
            <a:r>
              <a:rPr lang="en-US" altLang="zh-CN" sz="2400" dirty="0" err="1">
                <a:latin typeface="宋体" panose="02010600030101010101" pitchFamily="2" charset="-122"/>
                <a:ea typeface="宋体" panose="02010600030101010101" pitchFamily="2" charset="-122"/>
              </a:rPr>
              <a:t>NVMe</a:t>
            </a:r>
            <a:r>
              <a:rPr lang="en-US" altLang="zh-CN" sz="2400" dirty="0">
                <a:latin typeface="宋体" panose="02010600030101010101" pitchFamily="2" charset="-122"/>
                <a:ea typeface="宋体" panose="02010600030101010101" pitchFamily="2" charset="-122"/>
              </a:rPr>
              <a:t> driver </a:t>
            </a:r>
            <a:r>
              <a:rPr lang="zh-CN" altLang="en-US" sz="2400" dirty="0">
                <a:latin typeface="宋体" panose="02010600030101010101" pitchFamily="2" charset="-122"/>
                <a:ea typeface="宋体" panose="02010600030101010101" pitchFamily="2" charset="-122"/>
              </a:rPr>
              <a:t>没有文件系统的元数据，所以无法知道具体在磁盘上应该访问哪个地址</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即使能将实际访问的物理地址放到调用中，也会有安全的问题，因为</a:t>
            </a:r>
            <a:r>
              <a:rPr lang="en-US" altLang="zh-CN" sz="2400" dirty="0">
                <a:latin typeface="宋体" panose="02010600030101010101" pitchFamily="2" charset="-122"/>
                <a:ea typeface="宋体" panose="02010600030101010101" pitchFamily="2" charset="-122"/>
              </a:rPr>
              <a:t>BPF</a:t>
            </a:r>
            <a:r>
              <a:rPr lang="zh-CN" altLang="en-US" sz="2400" dirty="0">
                <a:latin typeface="宋体" panose="02010600030101010101" pitchFamily="2" charset="-122"/>
                <a:ea typeface="宋体" panose="02010600030101010101" pitchFamily="2" charset="-122"/>
              </a:rPr>
              <a:t>函数能够访问磁盘上的任何一个数据块，即使是这个用户没有访问权限</a:t>
            </a:r>
            <a:endParaRPr lang="en-US" altLang="zh-CN"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a:p>
            <a:r>
              <a:rPr lang="en-US" altLang="zh-CN" sz="2400" b="1" dirty="0">
                <a:latin typeface="宋体" panose="02010600030101010101" pitchFamily="2" charset="-122"/>
                <a:ea typeface="宋体" panose="02010600030101010101" pitchFamily="2" charset="-122"/>
              </a:rPr>
              <a:t>Challenge2: Concurrency and Caching</a:t>
            </a: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写操作会修改数据，如果有并行的读请求的话如果没有足够的锁可能会导致得到错误的结果，但是在</a:t>
            </a:r>
            <a:r>
              <a:rPr lang="en-US" altLang="zh-CN" sz="2400" dirty="0" err="1">
                <a:latin typeface="宋体" panose="02010600030101010101" pitchFamily="2" charset="-122"/>
                <a:ea typeface="宋体" panose="02010600030101010101" pitchFamily="2" charset="-122"/>
              </a:rPr>
              <a:t>NVMe</a:t>
            </a:r>
            <a:r>
              <a:rPr lang="en-US" altLang="zh-CN" sz="2400" dirty="0">
                <a:latin typeface="宋体" panose="02010600030101010101" pitchFamily="2" charset="-122"/>
                <a:ea typeface="宋体" panose="02010600030101010101" pitchFamily="2" charset="-122"/>
              </a:rPr>
              <a:t> interrupt handler</a:t>
            </a:r>
            <a:r>
              <a:rPr lang="zh-CN" altLang="en-US" sz="2400" dirty="0">
                <a:latin typeface="宋体" panose="02010600030101010101" pitchFamily="2" charset="-122"/>
                <a:ea typeface="宋体" panose="02010600030101010101" pitchFamily="2" charset="-122"/>
              </a:rPr>
              <a:t>中直接加锁开销非常大</a:t>
            </a:r>
          </a:p>
        </p:txBody>
      </p:sp>
    </p:spTree>
    <p:extLst>
      <p:ext uri="{BB962C8B-B14F-4D97-AF65-F5344CB8AC3E}">
        <p14:creationId xmlns:p14="http://schemas.microsoft.com/office/powerpoint/2010/main" val="36217727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D827BB1-ADF8-1549-5C24-FEFA6BB1EBDA}"/>
              </a:ext>
            </a:extLst>
          </p:cNvPr>
          <p:cNvSpPr/>
          <p:nvPr/>
        </p:nvSpPr>
        <p:spPr>
          <a:xfrm>
            <a:off x="1693532" y="90684"/>
            <a:ext cx="87839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Observation &amp; Design Principles</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1FE9CDB7-4D74-AA3D-5F8D-1D4F4A09A611}"/>
              </a:ext>
            </a:extLst>
          </p:cNvPr>
          <p:cNvSpPr txBox="1"/>
          <p:nvPr/>
        </p:nvSpPr>
        <p:spPr>
          <a:xfrm>
            <a:off x="2030109" y="1678574"/>
            <a:ext cx="9173182" cy="1200329"/>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通过调查发现许多存储引擎底层的文件（如</a:t>
            </a:r>
            <a:r>
              <a:rPr lang="en-US" altLang="zh-CN" sz="2400" dirty="0">
                <a:latin typeface="宋体" panose="02010600030101010101" pitchFamily="2" charset="-122"/>
                <a:ea typeface="宋体" panose="02010600030101010101" pitchFamily="2" charset="-122"/>
              </a:rPr>
              <a:t>B tree</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LSM tree</a:t>
            </a:r>
            <a:r>
              <a:rPr lang="zh-CN" altLang="en-US" sz="2400" dirty="0">
                <a:latin typeface="宋体" panose="02010600030101010101" pitchFamily="2" charset="-122"/>
                <a:ea typeface="宋体" panose="02010600030101010101" pitchFamily="2" charset="-122"/>
              </a:rPr>
              <a:t>）都会维持一个比较稳定的状态，发生改变的次数相对来说比较少，因此可以考虑使用</a:t>
            </a:r>
            <a:r>
              <a:rPr lang="en-US" altLang="zh-CN" sz="2400" dirty="0">
                <a:latin typeface="宋体" panose="02010600030101010101" pitchFamily="2" charset="-122"/>
                <a:ea typeface="宋体" panose="02010600030101010101" pitchFamily="2" charset="-122"/>
              </a:rPr>
              <a:t>cache</a:t>
            </a:r>
            <a:r>
              <a:rPr lang="zh-CN" altLang="en-US" sz="2400" dirty="0">
                <a:latin typeface="宋体" panose="02010600030101010101" pitchFamily="2" charset="-122"/>
                <a:ea typeface="宋体" panose="02010600030101010101" pitchFamily="2" charset="-122"/>
              </a:rPr>
              <a:t>的方法将文件系统的元数据</a:t>
            </a:r>
            <a:r>
              <a:rPr lang="en-US" altLang="zh-CN" sz="2400" dirty="0">
                <a:latin typeface="宋体" panose="02010600030101010101" pitchFamily="2" charset="-122"/>
                <a:ea typeface="宋体" panose="02010600030101010101" pitchFamily="2" charset="-122"/>
              </a:rPr>
              <a:t>cache</a:t>
            </a:r>
            <a:r>
              <a:rPr lang="zh-CN" altLang="en-US" sz="2400" dirty="0">
                <a:latin typeface="宋体" panose="02010600030101010101" pitchFamily="2" charset="-122"/>
                <a:ea typeface="宋体" panose="02010600030101010101" pitchFamily="2" charset="-122"/>
              </a:rPr>
              <a:t>起来</a:t>
            </a:r>
            <a:endParaRPr lang="en-US" altLang="zh-CN" sz="2400" dirty="0">
              <a:latin typeface="宋体" panose="02010600030101010101" pitchFamily="2" charset="-122"/>
              <a:ea typeface="宋体" panose="02010600030101010101" pitchFamily="2" charset="-122"/>
            </a:endParaRPr>
          </a:p>
        </p:txBody>
      </p:sp>
      <p:sp>
        <p:nvSpPr>
          <p:cNvPr id="4" name="文本框 3">
            <a:extLst>
              <a:ext uri="{FF2B5EF4-FFF2-40B4-BE49-F238E27FC236}">
                <a16:creationId xmlns:a16="http://schemas.microsoft.com/office/drawing/2014/main" id="{25539FA0-1B55-D43F-11A3-8534AAC4029E}"/>
              </a:ext>
            </a:extLst>
          </p:cNvPr>
          <p:cNvSpPr txBox="1"/>
          <p:nvPr/>
        </p:nvSpPr>
        <p:spPr>
          <a:xfrm>
            <a:off x="2032000" y="1073487"/>
            <a:ext cx="4686300" cy="461665"/>
          </a:xfrm>
          <a:prstGeom prst="rect">
            <a:avLst/>
          </a:prstGeom>
          <a:noFill/>
        </p:spPr>
        <p:txBody>
          <a:bodyPr wrap="square" rtlCol="0">
            <a:spAutoFit/>
          </a:bodyPr>
          <a:lstStyle/>
          <a:p>
            <a:r>
              <a:rPr lang="en-US" altLang="zh-CN" sz="2400" b="1" dirty="0">
                <a:solidFill>
                  <a:srgbClr val="FF0000"/>
                </a:solidFill>
              </a:rPr>
              <a:t>Observation</a:t>
            </a:r>
            <a:endParaRPr lang="zh-CN" altLang="en-US" sz="2400" b="1" dirty="0">
              <a:solidFill>
                <a:srgbClr val="FF0000"/>
              </a:solidFill>
            </a:endParaRPr>
          </a:p>
        </p:txBody>
      </p:sp>
      <p:sp>
        <p:nvSpPr>
          <p:cNvPr id="5" name="文本框 4">
            <a:extLst>
              <a:ext uri="{FF2B5EF4-FFF2-40B4-BE49-F238E27FC236}">
                <a16:creationId xmlns:a16="http://schemas.microsoft.com/office/drawing/2014/main" id="{5CBBD04E-EB1A-CB8B-6F0D-D31619B97F8B}"/>
              </a:ext>
            </a:extLst>
          </p:cNvPr>
          <p:cNvSpPr txBox="1"/>
          <p:nvPr/>
        </p:nvSpPr>
        <p:spPr>
          <a:xfrm>
            <a:off x="2032000" y="3014523"/>
            <a:ext cx="4686300" cy="461665"/>
          </a:xfrm>
          <a:prstGeom prst="rect">
            <a:avLst/>
          </a:prstGeom>
          <a:noFill/>
        </p:spPr>
        <p:txBody>
          <a:bodyPr wrap="square" rtlCol="0">
            <a:spAutoFit/>
          </a:bodyPr>
          <a:lstStyle/>
          <a:p>
            <a:r>
              <a:rPr lang="en-US" altLang="zh-CN" sz="2400" b="1" dirty="0">
                <a:solidFill>
                  <a:srgbClr val="FF0000"/>
                </a:solidFill>
              </a:rPr>
              <a:t>Design Principles</a:t>
            </a:r>
            <a:endParaRPr lang="zh-CN" altLang="en-US" sz="2400" b="1" dirty="0">
              <a:solidFill>
                <a:srgbClr val="FF0000"/>
              </a:solidFill>
            </a:endParaRPr>
          </a:p>
        </p:txBody>
      </p:sp>
      <p:sp>
        <p:nvSpPr>
          <p:cNvPr id="6" name="文本框 5">
            <a:extLst>
              <a:ext uri="{FF2B5EF4-FFF2-40B4-BE49-F238E27FC236}">
                <a16:creationId xmlns:a16="http://schemas.microsoft.com/office/drawing/2014/main" id="{2C1F428C-8177-2F26-464F-C7EB3BDBDF45}"/>
              </a:ext>
            </a:extLst>
          </p:cNvPr>
          <p:cNvSpPr txBox="1"/>
          <p:nvPr/>
        </p:nvSpPr>
        <p:spPr>
          <a:xfrm>
            <a:off x="2030109" y="3611808"/>
            <a:ext cx="9173182" cy="3046988"/>
          </a:xfrm>
          <a:prstGeom prst="rect">
            <a:avLst/>
          </a:prstGeom>
          <a:noFill/>
        </p:spPr>
        <p:txBody>
          <a:bodyPr wrap="square" rtlCol="0">
            <a:spAutoFit/>
          </a:bodyPr>
          <a:lstStyle/>
          <a:p>
            <a:pPr marL="342900" indent="-342900">
              <a:buFont typeface="Arial" panose="020B0604020202020204" pitchFamily="34" charset="0"/>
              <a:buChar char="•"/>
            </a:pPr>
            <a:r>
              <a:rPr lang="en-US" altLang="zh-CN" sz="2400" b="1" dirty="0">
                <a:latin typeface="宋体" panose="02010600030101010101" pitchFamily="2" charset="-122"/>
                <a:ea typeface="宋体" panose="02010600030101010101" pitchFamily="2" charset="-122"/>
              </a:rPr>
              <a:t>One file at a time</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 限制</a:t>
            </a:r>
            <a:r>
              <a:rPr lang="en-US" altLang="zh-CN" sz="2400" dirty="0">
                <a:latin typeface="宋体" panose="02010600030101010101" pitchFamily="2" charset="-122"/>
                <a:ea typeface="宋体" panose="02010600030101010101" pitchFamily="2" charset="-122"/>
              </a:rPr>
              <a:t>chained-resubmission</a:t>
            </a:r>
            <a:r>
              <a:rPr lang="zh-CN" altLang="en-US" sz="2400" dirty="0">
                <a:latin typeface="宋体" panose="02010600030101010101" pitchFamily="2" charset="-122"/>
                <a:ea typeface="宋体" panose="02010600030101010101" pitchFamily="2" charset="-122"/>
              </a:rPr>
              <a:t>在同一个文件上，简化并发控制与地址转换</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en-US" altLang="zh-CN" sz="2400" b="1" dirty="0">
                <a:latin typeface="宋体" panose="02010600030101010101" pitchFamily="2" charset="-122"/>
                <a:ea typeface="宋体" panose="02010600030101010101" pitchFamily="2" charset="-122"/>
              </a:rPr>
              <a:t>Stable data structures</a:t>
            </a:r>
            <a:r>
              <a:rPr lang="en-US" altLang="zh-CN" sz="2400" dirty="0">
                <a:latin typeface="宋体" panose="02010600030101010101" pitchFamily="2" charset="-122"/>
                <a:ea typeface="宋体" panose="02010600030101010101" pitchFamily="2" charset="-122"/>
              </a:rPr>
              <a:t>: XRP</a:t>
            </a:r>
            <a:r>
              <a:rPr lang="zh-CN" altLang="en-US" sz="2400" dirty="0">
                <a:latin typeface="宋体" panose="02010600030101010101" pitchFamily="2" charset="-122"/>
                <a:ea typeface="宋体" panose="02010600030101010101" pitchFamily="2" charset="-122"/>
              </a:rPr>
              <a:t>针对的数据结构最好能维持一段时间不变（至少能维持几秒）</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en-US" altLang="zh-CN" sz="2400" b="1" dirty="0">
                <a:latin typeface="宋体" panose="02010600030101010101" pitchFamily="2" charset="-122"/>
                <a:ea typeface="宋体" panose="02010600030101010101" pitchFamily="2" charset="-122"/>
              </a:rPr>
              <a:t>User-managed caches</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 不和</a:t>
            </a:r>
            <a:r>
              <a:rPr lang="en-US" altLang="zh-CN" sz="2400" dirty="0">
                <a:latin typeface="宋体" panose="02010600030101010101" pitchFamily="2" charset="-122"/>
                <a:ea typeface="宋体" panose="02010600030101010101" pitchFamily="2" charset="-122"/>
              </a:rPr>
              <a:t>page cache</a:t>
            </a:r>
            <a:r>
              <a:rPr lang="zh-CN" altLang="en-US" sz="2400" dirty="0">
                <a:latin typeface="宋体" panose="02010600030101010101" pitchFamily="2" charset="-122"/>
                <a:ea typeface="宋体" panose="02010600030101010101" pitchFamily="2" charset="-122"/>
              </a:rPr>
              <a:t>打交道，因为通常许多存储引擎也会维护自己的</a:t>
            </a:r>
            <a:r>
              <a:rPr lang="en-US" altLang="zh-CN" sz="2400" dirty="0">
                <a:latin typeface="宋体" panose="02010600030101010101" pitchFamily="2" charset="-122"/>
                <a:ea typeface="宋体" panose="02010600030101010101" pitchFamily="2" charset="-122"/>
              </a:rPr>
              <a:t>cache</a:t>
            </a:r>
          </a:p>
          <a:p>
            <a:pPr marL="342900" indent="-342900">
              <a:buFont typeface="Arial" panose="020B0604020202020204" pitchFamily="34" charset="0"/>
              <a:buChar char="•"/>
            </a:pPr>
            <a:r>
              <a:rPr lang="en-US" altLang="zh-CN" sz="2400" b="1" dirty="0">
                <a:latin typeface="宋体" panose="02010600030101010101" pitchFamily="2" charset="-122"/>
                <a:ea typeface="宋体" panose="02010600030101010101" pitchFamily="2" charset="-122"/>
              </a:rPr>
              <a:t>Slow path fallback</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是</a:t>
            </a:r>
            <a:r>
              <a:rPr lang="en-US" altLang="zh-CN" sz="2400" dirty="0">
                <a:latin typeface="宋体" panose="02010600030101010101" pitchFamily="2" charset="-122"/>
                <a:ea typeface="宋体" panose="02010600030101010101" pitchFamily="2" charset="-122"/>
              </a:rPr>
              <a:t>best-effort</a:t>
            </a:r>
            <a:r>
              <a:rPr lang="zh-CN" altLang="en-US" sz="2400" dirty="0">
                <a:latin typeface="宋体" panose="02010600030101010101" pitchFamily="2" charset="-122"/>
                <a:ea typeface="宋体" panose="02010600030101010101" pitchFamily="2" charset="-122"/>
              </a:rPr>
              <a:t>的，如果遍历因为某种原因失败，那么应用程序必须重试或者回退</a:t>
            </a:r>
            <a:endParaRPr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56017083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D827BB1-ADF8-1549-5C24-FEFA6BB1EBDA}"/>
              </a:ext>
            </a:extLst>
          </p:cNvPr>
          <p:cNvSpPr/>
          <p:nvPr/>
        </p:nvSpPr>
        <p:spPr>
          <a:xfrm>
            <a:off x="1693532" y="90684"/>
            <a:ext cx="6462496"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Resubmission Logic</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05F0AD40-5CD2-8944-7C42-D27966B63619}"/>
              </a:ext>
            </a:extLst>
          </p:cNvPr>
          <p:cNvPicPr>
            <a:picLocks noChangeAspect="1"/>
          </p:cNvPicPr>
          <p:nvPr/>
        </p:nvPicPr>
        <p:blipFill>
          <a:blip r:embed="rId3"/>
          <a:stretch>
            <a:fillRect/>
          </a:stretch>
        </p:blipFill>
        <p:spPr>
          <a:xfrm>
            <a:off x="1977460" y="943561"/>
            <a:ext cx="4510425" cy="5823755"/>
          </a:xfrm>
          <a:prstGeom prst="rect">
            <a:avLst/>
          </a:prstGeom>
        </p:spPr>
      </p:pic>
      <p:sp>
        <p:nvSpPr>
          <p:cNvPr id="3" name="文本框 2">
            <a:extLst>
              <a:ext uri="{FF2B5EF4-FFF2-40B4-BE49-F238E27FC236}">
                <a16:creationId xmlns:a16="http://schemas.microsoft.com/office/drawing/2014/main" id="{32F16C20-6171-1F10-2899-E3266D763D5E}"/>
              </a:ext>
            </a:extLst>
          </p:cNvPr>
          <p:cNvSpPr txBox="1"/>
          <p:nvPr/>
        </p:nvSpPr>
        <p:spPr>
          <a:xfrm>
            <a:off x="6642538" y="1429407"/>
            <a:ext cx="5675586" cy="452431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当</a:t>
            </a:r>
            <a:r>
              <a:rPr lang="en-US" altLang="zh-CN" sz="2400" dirty="0" err="1">
                <a:latin typeface="宋体" panose="02010600030101010101" pitchFamily="2" charset="-122"/>
                <a:ea typeface="宋体" panose="02010600030101010101" pitchFamily="2" charset="-122"/>
              </a:rPr>
              <a:t>NVMe</a:t>
            </a:r>
            <a:r>
              <a:rPr lang="zh-CN" altLang="en-US" sz="2400" dirty="0">
                <a:latin typeface="宋体" panose="02010600030101010101" pitchFamily="2" charset="-122"/>
                <a:ea typeface="宋体" panose="02010600030101010101" pitchFamily="2" charset="-122"/>
              </a:rPr>
              <a:t>请求结束的时候，设备会生成一个中断；</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在中断的时候，</a:t>
            </a: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会调用相关的</a:t>
            </a:r>
            <a:r>
              <a:rPr lang="en-US" altLang="zh-CN" sz="2400" dirty="0">
                <a:latin typeface="宋体" panose="02010600030101010101" pitchFamily="2" charset="-122"/>
                <a:ea typeface="宋体" panose="02010600030101010101" pitchFamily="2" charset="-122"/>
              </a:rPr>
              <a:t>BPF</a:t>
            </a:r>
            <a:r>
              <a:rPr lang="zh-CN" altLang="en-US" sz="2400" dirty="0">
                <a:latin typeface="宋体" panose="02010600030101010101" pitchFamily="2" charset="-122"/>
                <a:ea typeface="宋体" panose="02010600030101010101" pitchFamily="2" charset="-122"/>
              </a:rPr>
              <a:t>函数；</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调用之后</a:t>
            </a: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会结合</a:t>
            </a:r>
            <a:r>
              <a:rPr lang="en-US" altLang="zh-CN" sz="2400" dirty="0">
                <a:latin typeface="宋体" panose="02010600030101010101" pitchFamily="2" charset="-122"/>
                <a:ea typeface="宋体" panose="02010600030101010101" pitchFamily="2" charset="-122"/>
              </a:rPr>
              <a:t>metadata digest</a:t>
            </a:r>
            <a:r>
              <a:rPr lang="zh-CN" altLang="en-US" sz="2400" dirty="0">
                <a:latin typeface="宋体" panose="02010600030101010101" pitchFamily="2" charset="-122"/>
                <a:ea typeface="宋体" panose="02010600030101010101" pitchFamily="2" charset="-122"/>
              </a:rPr>
              <a:t>将逻辑地址转化为实际的物理地址；</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最终</a:t>
            </a: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会准备下一次的</a:t>
            </a:r>
            <a:r>
              <a:rPr lang="en-US" altLang="zh-CN" sz="2400" dirty="0" err="1">
                <a:latin typeface="宋体" panose="02010600030101010101" pitchFamily="2" charset="-122"/>
                <a:ea typeface="宋体" panose="02010600030101010101" pitchFamily="2" charset="-122"/>
              </a:rPr>
              <a:t>NVMe</a:t>
            </a:r>
            <a:r>
              <a:rPr lang="zh-CN" altLang="en-US" sz="2400" dirty="0">
                <a:latin typeface="宋体" panose="02010600030101010101" pitchFamily="2" charset="-122"/>
                <a:ea typeface="宋体" panose="02010600030101010101" pitchFamily="2" charset="-122"/>
              </a:rPr>
              <a:t>指令，并将其继续加入提交队列中（</a:t>
            </a:r>
            <a:r>
              <a:rPr lang="en-US" altLang="zh-CN" sz="2400" dirty="0">
                <a:latin typeface="宋体" panose="02010600030101010101" pitchFamily="2" charset="-122"/>
                <a:ea typeface="宋体" panose="02010600030101010101" pitchFamily="2" charset="-122"/>
              </a:rPr>
              <a:t>Resubmission)</a:t>
            </a:r>
          </a:p>
          <a:p>
            <a:pPr marL="342900" indent="-342900">
              <a:buFont typeface="Arial" panose="020B0604020202020204" pitchFamily="34" charset="0"/>
              <a:buChar char="•"/>
            </a:pPr>
            <a:r>
              <a:rPr lang="en-US" altLang="zh-CN" sz="2400" dirty="0">
                <a:latin typeface="宋体" panose="02010600030101010101" pitchFamily="2" charset="-122"/>
                <a:ea typeface="宋体" panose="02010600030101010101" pitchFamily="2" charset="-122"/>
              </a:rPr>
              <a:t>Resubmission</a:t>
            </a:r>
            <a:r>
              <a:rPr lang="zh-CN" altLang="en-US" sz="2400" dirty="0">
                <a:latin typeface="宋体" panose="02010600030101010101" pitchFamily="2" charset="-122"/>
                <a:ea typeface="宋体" panose="02010600030101010101" pitchFamily="2" charset="-122"/>
              </a:rPr>
              <a:t>过程会根据需要不断迭代，比如上述提到的寻找叶子节点操作</a:t>
            </a:r>
            <a:endParaRPr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94871597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D827BB1-ADF8-1549-5C24-FEFA6BB1EBDA}"/>
              </a:ext>
            </a:extLst>
          </p:cNvPr>
          <p:cNvSpPr/>
          <p:nvPr/>
        </p:nvSpPr>
        <p:spPr>
          <a:xfrm>
            <a:off x="1693532" y="90684"/>
            <a:ext cx="6462496"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Architecture</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0432BBAB-2979-0338-3D6D-9CF492157A8D}"/>
              </a:ext>
            </a:extLst>
          </p:cNvPr>
          <p:cNvPicPr>
            <a:picLocks noChangeAspect="1"/>
          </p:cNvPicPr>
          <p:nvPr/>
        </p:nvPicPr>
        <p:blipFill>
          <a:blip r:embed="rId3"/>
          <a:stretch>
            <a:fillRect/>
          </a:stretch>
        </p:blipFill>
        <p:spPr>
          <a:xfrm>
            <a:off x="2141967" y="972376"/>
            <a:ext cx="9707235" cy="4552124"/>
          </a:xfrm>
          <a:prstGeom prst="rect">
            <a:avLst/>
          </a:prstGeom>
        </p:spPr>
      </p:pic>
    </p:spTree>
    <p:extLst>
      <p:ext uri="{BB962C8B-B14F-4D97-AF65-F5344CB8AC3E}">
        <p14:creationId xmlns:p14="http://schemas.microsoft.com/office/powerpoint/2010/main" val="199883509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D827BB1-ADF8-1549-5C24-FEFA6BB1EBDA}"/>
              </a:ext>
            </a:extLst>
          </p:cNvPr>
          <p:cNvSpPr/>
          <p:nvPr/>
        </p:nvSpPr>
        <p:spPr>
          <a:xfrm>
            <a:off x="1693532" y="90684"/>
            <a:ext cx="6462496"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Metadata Digest</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7852A505-21AD-E279-0F6E-E45A9F31CBC4}"/>
              </a:ext>
            </a:extLst>
          </p:cNvPr>
          <p:cNvSpPr txBox="1"/>
          <p:nvPr/>
        </p:nvSpPr>
        <p:spPr>
          <a:xfrm>
            <a:off x="2165130" y="1313793"/>
            <a:ext cx="9506169" cy="3416320"/>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在传统的存储栈当中，逻辑的地址通常会被文件系统翻译成物理地址，这个转换的过程也强制进行了权限控制和安全控制（避免访问不该访问的物理地址）</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无法访问文件系统，为了解决这个问题设置了一个</a:t>
            </a:r>
            <a:r>
              <a:rPr lang="en-US" altLang="zh-CN" sz="2400" dirty="0">
                <a:latin typeface="宋体" panose="02010600030101010101" pitchFamily="2" charset="-122"/>
                <a:ea typeface="宋体" panose="02010600030101010101" pitchFamily="2" charset="-122"/>
              </a:rPr>
              <a:t>metadata digest</a:t>
            </a:r>
            <a:r>
              <a:rPr lang="zh-CN" altLang="en-US" sz="2400" dirty="0">
                <a:latin typeface="宋体" panose="02010600030101010101" pitchFamily="2" charset="-122"/>
                <a:ea typeface="宋体" panose="02010600030101010101" pitchFamily="2" charset="-122"/>
              </a:rPr>
              <a:t>，用来缓存文件系统中的逻辑</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物理块的</a:t>
            </a:r>
            <a:r>
              <a:rPr lang="en-US" altLang="zh-CN" sz="2400" dirty="0">
                <a:latin typeface="宋体" panose="02010600030101010101" pitchFamily="2" charset="-122"/>
                <a:ea typeface="宋体" panose="02010600030101010101" pitchFamily="2" charset="-122"/>
              </a:rPr>
              <a:t>mapping</a:t>
            </a: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在这篇文章的实现中，</a:t>
            </a:r>
            <a:r>
              <a:rPr lang="en-US" altLang="zh-CN" sz="2400" dirty="0">
                <a:latin typeface="宋体" panose="02010600030101010101" pitchFamily="2" charset="-122"/>
                <a:ea typeface="宋体" panose="02010600030101010101" pitchFamily="2" charset="-122"/>
              </a:rPr>
              <a:t>metadata digest</a:t>
            </a:r>
            <a:r>
              <a:rPr lang="zh-CN" altLang="en-US" sz="2400" dirty="0">
                <a:latin typeface="宋体" panose="02010600030101010101" pitchFamily="2" charset="-122"/>
                <a:ea typeface="宋体" panose="02010600030101010101" pitchFamily="2" charset="-122"/>
              </a:rPr>
              <a:t>包含了</a:t>
            </a:r>
            <a:r>
              <a:rPr lang="en-US" altLang="zh-CN" sz="2400" dirty="0">
                <a:latin typeface="宋体" panose="02010600030101010101" pitchFamily="2" charset="-122"/>
                <a:ea typeface="宋体" panose="02010600030101010101" pitchFamily="2" charset="-122"/>
              </a:rPr>
              <a:t>extent status tree</a:t>
            </a:r>
            <a:r>
              <a:rPr lang="zh-CN" altLang="en-US" sz="2400" dirty="0">
                <a:latin typeface="宋体" panose="02010600030101010101" pitchFamily="2" charset="-122"/>
                <a:ea typeface="宋体" panose="02010600030101010101" pitchFamily="2" charset="-122"/>
              </a:rPr>
              <a:t>，用</a:t>
            </a:r>
            <a:r>
              <a:rPr lang="en-US" altLang="zh-CN" sz="2400" dirty="0">
                <a:latin typeface="宋体" panose="02010600030101010101" pitchFamily="2" charset="-122"/>
                <a:ea typeface="宋体" panose="02010600030101010101" pitchFamily="2" charset="-122"/>
              </a:rPr>
              <a:t>RCU</a:t>
            </a:r>
            <a:r>
              <a:rPr lang="zh-CN" altLang="en-US" sz="2400" dirty="0">
                <a:latin typeface="宋体" panose="02010600030101010101" pitchFamily="2" charset="-122"/>
                <a:ea typeface="宋体" panose="02010600030101010101" pitchFamily="2" charset="-122"/>
              </a:rPr>
              <a:t>来做并发控制</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当</a:t>
            </a:r>
            <a:r>
              <a:rPr lang="en-US" altLang="zh-CN" sz="2400" dirty="0">
                <a:latin typeface="宋体" panose="02010600030101010101" pitchFamily="2" charset="-122"/>
                <a:ea typeface="宋体" panose="02010600030101010101" pitchFamily="2" charset="-122"/>
              </a:rPr>
              <a:t>extent status tree</a:t>
            </a:r>
            <a:r>
              <a:rPr lang="zh-CN" altLang="en-US" sz="2400" dirty="0">
                <a:latin typeface="宋体" panose="02010600030101010101" pitchFamily="2" charset="-122"/>
                <a:ea typeface="宋体" panose="02010600030101010101" pitchFamily="2" charset="-122"/>
              </a:rPr>
              <a:t>更新的时候缓存下来的</a:t>
            </a:r>
            <a:r>
              <a:rPr lang="en-US" altLang="zh-CN" sz="2400" dirty="0">
                <a:latin typeface="宋体" panose="02010600030101010101" pitchFamily="2" charset="-122"/>
                <a:ea typeface="宋体" panose="02010600030101010101" pitchFamily="2" charset="-122"/>
              </a:rPr>
              <a:t>metadata digest</a:t>
            </a:r>
            <a:r>
              <a:rPr lang="zh-CN" altLang="en-US" sz="2400" dirty="0">
                <a:latin typeface="宋体" panose="02010600030101010101" pitchFamily="2" charset="-122"/>
                <a:ea typeface="宋体" panose="02010600030101010101" pitchFamily="2" charset="-122"/>
              </a:rPr>
              <a:t>也会更新</a:t>
            </a:r>
            <a:endParaRPr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64279873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D827BB1-ADF8-1549-5C24-FEFA6BB1EBDA}"/>
              </a:ext>
            </a:extLst>
          </p:cNvPr>
          <p:cNvSpPr/>
          <p:nvPr/>
        </p:nvSpPr>
        <p:spPr>
          <a:xfrm>
            <a:off x="1693532" y="90684"/>
            <a:ext cx="6462496"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Example</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FB164D22-A0FE-67C4-E85D-D81B97DED396}"/>
              </a:ext>
            </a:extLst>
          </p:cNvPr>
          <p:cNvPicPr>
            <a:picLocks noChangeAspect="1"/>
          </p:cNvPicPr>
          <p:nvPr/>
        </p:nvPicPr>
        <p:blipFill>
          <a:blip r:embed="rId3"/>
          <a:stretch>
            <a:fillRect/>
          </a:stretch>
        </p:blipFill>
        <p:spPr>
          <a:xfrm>
            <a:off x="2113946" y="1318076"/>
            <a:ext cx="9144470" cy="3759393"/>
          </a:xfrm>
          <a:prstGeom prst="rect">
            <a:avLst/>
          </a:prstGeom>
        </p:spPr>
      </p:pic>
    </p:spTree>
    <p:extLst>
      <p:ext uri="{BB962C8B-B14F-4D97-AF65-F5344CB8AC3E}">
        <p14:creationId xmlns:p14="http://schemas.microsoft.com/office/powerpoint/2010/main" val="174347278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53DEC8CC-585F-4731-B472-B3C24C444A8D}"/>
              </a:ext>
            </a:extLst>
          </p:cNvPr>
          <p:cNvSpPr/>
          <p:nvPr/>
        </p:nvSpPr>
        <p:spPr>
          <a:xfrm>
            <a:off x="1693532" y="90684"/>
            <a:ext cx="73361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Evaluation</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2DDD0BCD-2B31-AFEB-9F4A-2B8ED0244F1A}"/>
              </a:ext>
            </a:extLst>
          </p:cNvPr>
          <p:cNvSpPr txBox="1"/>
          <p:nvPr/>
        </p:nvSpPr>
        <p:spPr>
          <a:xfrm>
            <a:off x="2020710" y="1196622"/>
            <a:ext cx="9031111" cy="4893647"/>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实验平台：</a:t>
            </a:r>
            <a:r>
              <a:rPr lang="en-US" altLang="zh-CN" sz="2400" dirty="0">
                <a:latin typeface="宋体" panose="02010600030101010101" pitchFamily="2" charset="-122"/>
                <a:ea typeface="宋体" panose="02010600030101010101" pitchFamily="2" charset="-122"/>
              </a:rPr>
              <a:t>6-core i5-8500 3GHz server with 16GB of memory, using Ubuntu 20.04, and Linux 5.12.0 with an Intel Optane 5800X prototype</a:t>
            </a:r>
          </a:p>
          <a:p>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对比对象</a:t>
            </a:r>
            <a:r>
              <a:rPr lang="en-US" altLang="zh-CN" sz="2400" dirty="0">
                <a:latin typeface="宋体" panose="02010600030101010101" pitchFamily="2" charset="-122"/>
                <a:ea typeface="宋体" panose="02010600030101010101" pitchFamily="2" charset="-122"/>
              </a:rPr>
              <a:t>:</a:t>
            </a:r>
          </a:p>
          <a:p>
            <a:r>
              <a:rPr lang="en-US" altLang="zh-CN" sz="2400" dirty="0">
                <a:latin typeface="宋体" panose="02010600030101010101" pitchFamily="2" charset="-122"/>
                <a:ea typeface="宋体" panose="02010600030101010101" pitchFamily="2" charset="-122"/>
              </a:rPr>
              <a:t>1.XRP</a:t>
            </a:r>
          </a:p>
          <a:p>
            <a:r>
              <a:rPr lang="en-US" altLang="zh-CN" sz="2400" dirty="0">
                <a:latin typeface="宋体" panose="02010600030101010101" pitchFamily="2" charset="-122"/>
                <a:ea typeface="宋体" panose="02010600030101010101" pitchFamily="2" charset="-122"/>
              </a:rPr>
              <a:t>2.SPDK</a:t>
            </a:r>
          </a:p>
          <a:p>
            <a:r>
              <a:rPr lang="en-US" altLang="zh-CN" sz="2400" dirty="0">
                <a:latin typeface="宋体" panose="02010600030101010101" pitchFamily="2" charset="-122"/>
                <a:ea typeface="宋体" panose="02010600030101010101" pitchFamily="2" charset="-122"/>
              </a:rPr>
              <a:t>3.Standard read() system calls</a:t>
            </a:r>
          </a:p>
          <a:p>
            <a:r>
              <a:rPr lang="en-US" altLang="zh-CN" sz="2400" dirty="0">
                <a:latin typeface="宋体" panose="02010600030101010101" pitchFamily="2" charset="-122"/>
                <a:ea typeface="宋体" panose="02010600030101010101" pitchFamily="2" charset="-122"/>
              </a:rPr>
              <a:t>4.Standard </a:t>
            </a:r>
            <a:r>
              <a:rPr lang="en-US" altLang="zh-CN" sz="2400" dirty="0" err="1">
                <a:latin typeface="宋体" panose="02010600030101010101" pitchFamily="2" charset="-122"/>
                <a:ea typeface="宋体" panose="02010600030101010101" pitchFamily="2" charset="-122"/>
              </a:rPr>
              <a:t>io_uring</a:t>
            </a:r>
            <a:r>
              <a:rPr lang="en-US" altLang="zh-CN" sz="2400" dirty="0">
                <a:latin typeface="宋体" panose="02010600030101010101" pitchFamily="2" charset="-122"/>
                <a:ea typeface="宋体" panose="02010600030101010101" pitchFamily="2" charset="-122"/>
              </a:rPr>
              <a:t> system calls</a:t>
            </a:r>
          </a:p>
          <a:p>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测试方法：将</a:t>
            </a: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集成到了两个</a:t>
            </a:r>
            <a:r>
              <a:rPr lang="en-US" altLang="zh-CN" sz="2400" dirty="0">
                <a:latin typeface="宋体" panose="02010600030101010101" pitchFamily="2" charset="-122"/>
                <a:ea typeface="宋体" panose="02010600030101010101" pitchFamily="2" charset="-122"/>
              </a:rPr>
              <a:t>KV</a:t>
            </a:r>
            <a:r>
              <a:rPr lang="zh-CN" altLang="en-US" sz="2400" dirty="0">
                <a:latin typeface="宋体" panose="02010600030101010101" pitchFamily="2" charset="-122"/>
                <a:ea typeface="宋体" panose="02010600030101010101" pitchFamily="2" charset="-122"/>
              </a:rPr>
              <a:t>系统中，</a:t>
            </a:r>
            <a:r>
              <a:rPr lang="en-US" altLang="zh-CN" sz="2400" dirty="0">
                <a:latin typeface="宋体" panose="02010600030101010101" pitchFamily="2" charset="-122"/>
                <a:ea typeface="宋体" panose="02010600030101010101" pitchFamily="2" charset="-122"/>
              </a:rPr>
              <a:t>BPF-KV</a:t>
            </a:r>
            <a:r>
              <a:rPr lang="zh-CN" altLang="en-US" sz="2400" dirty="0">
                <a:latin typeface="宋体" panose="02010600030101010101" pitchFamily="2" charset="-122"/>
                <a:ea typeface="宋体" panose="02010600030101010101" pitchFamily="2" charset="-122"/>
              </a:rPr>
              <a:t>是自己实现的一个简单的</a:t>
            </a:r>
            <a:r>
              <a:rPr lang="en-US" altLang="zh-CN" sz="2400" dirty="0">
                <a:latin typeface="宋体" panose="02010600030101010101" pitchFamily="2" charset="-122"/>
                <a:ea typeface="宋体" panose="02010600030101010101" pitchFamily="2" charset="-122"/>
              </a:rPr>
              <a:t>B+ tree </a:t>
            </a:r>
            <a:r>
              <a:rPr lang="en-US" altLang="zh-CN" sz="2400" dirty="0" err="1">
                <a:latin typeface="宋体" panose="02010600030101010101" pitchFamily="2" charset="-122"/>
                <a:ea typeface="宋体" panose="02010600030101010101" pitchFamily="2" charset="-122"/>
              </a:rPr>
              <a:t>kv</a:t>
            </a:r>
            <a:r>
              <a:rPr lang="en-US" altLang="zh-CN" sz="2400" dirty="0">
                <a:latin typeface="宋体" panose="02010600030101010101" pitchFamily="2" charset="-122"/>
                <a:ea typeface="宋体" panose="02010600030101010101" pitchFamily="2" charset="-122"/>
              </a:rPr>
              <a:t> store, WIREDTIGER</a:t>
            </a:r>
            <a:r>
              <a:rPr lang="zh-CN" altLang="en-US" sz="2400" dirty="0">
                <a:latin typeface="宋体" panose="02010600030101010101" pitchFamily="2" charset="-122"/>
                <a:ea typeface="宋体" panose="02010600030101010101" pitchFamily="2" charset="-122"/>
              </a:rPr>
              <a:t>是一个常用的</a:t>
            </a:r>
            <a:r>
              <a:rPr lang="en-US" altLang="zh-CN" sz="2400" dirty="0">
                <a:latin typeface="宋体" panose="02010600030101010101" pitchFamily="2" charset="-122"/>
                <a:ea typeface="宋体" panose="02010600030101010101" pitchFamily="2" charset="-122"/>
              </a:rPr>
              <a:t>LSM-tree</a:t>
            </a:r>
            <a:r>
              <a:rPr lang="zh-CN" altLang="en-US" sz="2400" dirty="0">
                <a:latin typeface="宋体" panose="02010600030101010101" pitchFamily="2" charset="-122"/>
                <a:ea typeface="宋体" panose="02010600030101010101" pitchFamily="2" charset="-122"/>
              </a:rPr>
              <a:t>为基础的</a:t>
            </a:r>
            <a:r>
              <a:rPr lang="en-US" altLang="zh-CN" sz="2400" dirty="0" err="1">
                <a:latin typeface="宋体" panose="02010600030101010101" pitchFamily="2" charset="-122"/>
                <a:ea typeface="宋体" panose="02010600030101010101" pitchFamily="2" charset="-122"/>
              </a:rPr>
              <a:t>kv</a:t>
            </a:r>
            <a:r>
              <a:rPr lang="en-US" altLang="zh-CN" sz="2400" dirty="0">
                <a:latin typeface="宋体" panose="02010600030101010101" pitchFamily="2" charset="-122"/>
                <a:ea typeface="宋体" panose="02010600030101010101" pitchFamily="2" charset="-122"/>
              </a:rPr>
              <a:t> store</a:t>
            </a:r>
          </a:p>
        </p:txBody>
      </p:sp>
    </p:spTree>
    <p:extLst>
      <p:ext uri="{BB962C8B-B14F-4D97-AF65-F5344CB8AC3E}">
        <p14:creationId xmlns:p14="http://schemas.microsoft.com/office/powerpoint/2010/main" val="181220505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53DEC8CC-585F-4731-B472-B3C24C444A8D}"/>
              </a:ext>
            </a:extLst>
          </p:cNvPr>
          <p:cNvSpPr/>
          <p:nvPr/>
        </p:nvSpPr>
        <p:spPr>
          <a:xfrm>
            <a:off x="1693532" y="90684"/>
            <a:ext cx="73361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Evaluation--BPF-</a:t>
            </a:r>
            <a:r>
              <a:rPr lang="en-US" altLang="zh-CN" sz="3200" b="1" spc="300" dirty="0" err="1">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kv</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9CED3AB9-8636-B1DF-DC84-9F11E342B7C8}"/>
              </a:ext>
            </a:extLst>
          </p:cNvPr>
          <p:cNvPicPr>
            <a:picLocks noChangeAspect="1"/>
          </p:cNvPicPr>
          <p:nvPr/>
        </p:nvPicPr>
        <p:blipFill>
          <a:blip r:embed="rId3"/>
          <a:stretch>
            <a:fillRect/>
          </a:stretch>
        </p:blipFill>
        <p:spPr>
          <a:xfrm>
            <a:off x="1891771" y="873271"/>
            <a:ext cx="10300229" cy="2921150"/>
          </a:xfrm>
          <a:prstGeom prst="rect">
            <a:avLst/>
          </a:prstGeom>
        </p:spPr>
      </p:pic>
      <p:sp>
        <p:nvSpPr>
          <p:cNvPr id="6" name="文本框 5">
            <a:extLst>
              <a:ext uri="{FF2B5EF4-FFF2-40B4-BE49-F238E27FC236}">
                <a16:creationId xmlns:a16="http://schemas.microsoft.com/office/drawing/2014/main" id="{367A6483-B75A-C37F-D2BA-D2930E9625EC}"/>
              </a:ext>
            </a:extLst>
          </p:cNvPr>
          <p:cNvSpPr txBox="1"/>
          <p:nvPr/>
        </p:nvSpPr>
        <p:spPr>
          <a:xfrm>
            <a:off x="1661810" y="4415069"/>
            <a:ext cx="10760149" cy="1569660"/>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与</a:t>
            </a:r>
            <a:r>
              <a:rPr lang="en-US" altLang="zh-CN" sz="2400" dirty="0">
                <a:latin typeface="宋体" panose="02010600030101010101" pitchFamily="2" charset="-122"/>
                <a:ea typeface="宋体" panose="02010600030101010101" pitchFamily="2" charset="-122"/>
              </a:rPr>
              <a:t>read</a:t>
            </a:r>
            <a:r>
              <a:rPr lang="zh-CN" altLang="en-US" sz="2400" dirty="0">
                <a:latin typeface="宋体" panose="02010600030101010101" pitchFamily="2" charset="-122"/>
                <a:ea typeface="宋体" panose="02010600030101010101" pitchFamily="2" charset="-122"/>
              </a:rPr>
              <a:t>调用比较，</a:t>
            </a: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提升了至多</a:t>
            </a:r>
            <a:r>
              <a:rPr lang="en-US" altLang="zh-CN" sz="2400" dirty="0">
                <a:latin typeface="宋体" panose="02010600030101010101" pitchFamily="2" charset="-122"/>
                <a:ea typeface="宋体" panose="02010600030101010101" pitchFamily="2" charset="-122"/>
              </a:rPr>
              <a:t>45%</a:t>
            </a:r>
          </a:p>
          <a:p>
            <a:pPr marL="285750" indent="-285750">
              <a:buFont typeface="Arial" panose="020B0604020202020204" pitchFamily="34" charset="0"/>
              <a:buChar char="•"/>
            </a:pP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的尾延迟在线程数超过核的数量的</a:t>
            </a:r>
            <a:r>
              <a:rPr lang="en-US" altLang="zh-CN" sz="2400" dirty="0">
                <a:latin typeface="宋体" panose="02010600030101010101" pitchFamily="2" charset="-122"/>
                <a:ea typeface="宋体" panose="02010600030101010101" pitchFamily="2" charset="-122"/>
              </a:rPr>
              <a:t>1.5</a:t>
            </a:r>
            <a:r>
              <a:rPr lang="zh-CN" altLang="en-US" sz="2400" dirty="0">
                <a:latin typeface="宋体" panose="02010600030101010101" pitchFamily="2" charset="-122"/>
                <a:ea typeface="宋体" panose="02010600030101010101" pitchFamily="2" charset="-122"/>
              </a:rPr>
              <a:t>倍（</a:t>
            </a:r>
            <a:r>
              <a:rPr lang="en-US" altLang="zh-CN" sz="2400" dirty="0">
                <a:latin typeface="宋体" panose="02010600030101010101" pitchFamily="2" charset="-122"/>
                <a:ea typeface="宋体" panose="02010600030101010101" pitchFamily="2" charset="-122"/>
              </a:rPr>
              <a:t>9</a:t>
            </a:r>
            <a:r>
              <a:rPr lang="zh-CN" altLang="en-US" sz="2400" dirty="0">
                <a:latin typeface="宋体" panose="02010600030101010101" pitchFamily="2" charset="-122"/>
                <a:ea typeface="宋体" panose="02010600030101010101" pitchFamily="2" charset="-122"/>
              </a:rPr>
              <a:t>）的时候开始大幅度上升</a:t>
            </a:r>
            <a:endParaRPr lang="en-US" altLang="zh-CN" sz="2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当线程数进一步增加的时候超过</a:t>
            </a:r>
            <a:r>
              <a:rPr lang="en-US" altLang="zh-CN" sz="2400" dirty="0">
                <a:latin typeface="宋体" panose="02010600030101010101" pitchFamily="2" charset="-122"/>
                <a:ea typeface="宋体" panose="02010600030101010101" pitchFamily="2" charset="-122"/>
              </a:rPr>
              <a:t>1ms</a:t>
            </a:r>
            <a:r>
              <a:rPr lang="zh-CN" altLang="en-US" sz="2400" dirty="0">
                <a:latin typeface="宋体" panose="02010600030101010101" pitchFamily="2" charset="-122"/>
                <a:ea typeface="宋体" panose="02010600030101010101" pitchFamily="2" charset="-122"/>
              </a:rPr>
              <a:t>的请求延迟所占的百分比也大幅度增加了</a:t>
            </a:r>
            <a:endParaRPr lang="en-US" altLang="zh-CN" sz="2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这是因为</a:t>
            </a: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需要轮询，会增加</a:t>
            </a:r>
            <a:r>
              <a:rPr lang="en-US" altLang="zh-CN" sz="2400" dirty="0">
                <a:latin typeface="宋体" panose="02010600030101010101" pitchFamily="2" charset="-122"/>
                <a:ea typeface="宋体" panose="02010600030101010101" pitchFamily="2" charset="-122"/>
              </a:rPr>
              <a:t>CPU</a:t>
            </a:r>
            <a:r>
              <a:rPr lang="zh-CN" altLang="en-US" sz="2400" dirty="0">
                <a:latin typeface="宋体" panose="02010600030101010101" pitchFamily="2" charset="-122"/>
                <a:ea typeface="宋体" panose="02010600030101010101" pitchFamily="2" charset="-122"/>
              </a:rPr>
              <a:t>的负担，所以多线程的时候性能会下降</a:t>
            </a:r>
          </a:p>
        </p:txBody>
      </p:sp>
    </p:spTree>
    <p:extLst>
      <p:ext uri="{BB962C8B-B14F-4D97-AF65-F5344CB8AC3E}">
        <p14:creationId xmlns:p14="http://schemas.microsoft.com/office/powerpoint/2010/main" val="27774954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53DEC8CC-585F-4731-B472-B3C24C444A8D}"/>
              </a:ext>
            </a:extLst>
          </p:cNvPr>
          <p:cNvSpPr/>
          <p:nvPr/>
        </p:nvSpPr>
        <p:spPr>
          <a:xfrm>
            <a:off x="1693532" y="90684"/>
            <a:ext cx="73361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Evaluation--BPF-</a:t>
            </a:r>
            <a:r>
              <a:rPr lang="en-US" altLang="zh-CN" sz="3200" b="1" spc="300" dirty="0" err="1">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kv</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DCAD0BC7-2276-60C1-DE3E-F7319AA5E995}"/>
              </a:ext>
            </a:extLst>
          </p:cNvPr>
          <p:cNvPicPr>
            <a:picLocks noChangeAspect="1"/>
          </p:cNvPicPr>
          <p:nvPr/>
        </p:nvPicPr>
        <p:blipFill>
          <a:blip r:embed="rId3"/>
          <a:stretch>
            <a:fillRect/>
          </a:stretch>
        </p:blipFill>
        <p:spPr>
          <a:xfrm>
            <a:off x="1834618" y="844111"/>
            <a:ext cx="10357382" cy="2724290"/>
          </a:xfrm>
          <a:prstGeom prst="rect">
            <a:avLst/>
          </a:prstGeom>
        </p:spPr>
      </p:pic>
      <p:sp>
        <p:nvSpPr>
          <p:cNvPr id="7" name="文本框 6">
            <a:extLst>
              <a:ext uri="{FF2B5EF4-FFF2-40B4-BE49-F238E27FC236}">
                <a16:creationId xmlns:a16="http://schemas.microsoft.com/office/drawing/2014/main" id="{1796EE8E-AAEF-6EFA-53B7-AC3A221C7BDF}"/>
              </a:ext>
            </a:extLst>
          </p:cNvPr>
          <p:cNvSpPr txBox="1"/>
          <p:nvPr/>
        </p:nvSpPr>
        <p:spPr>
          <a:xfrm>
            <a:off x="1544852" y="4457599"/>
            <a:ext cx="10760149" cy="1200329"/>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因为</a:t>
            </a: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需要轮询，</a:t>
            </a: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在线程数超过</a:t>
            </a:r>
            <a:r>
              <a:rPr lang="en-US" altLang="zh-CN" sz="2400" dirty="0">
                <a:latin typeface="宋体" panose="02010600030101010101" pitchFamily="2" charset="-122"/>
                <a:ea typeface="宋体" panose="02010600030101010101" pitchFamily="2" charset="-122"/>
              </a:rPr>
              <a:t>6</a:t>
            </a:r>
            <a:r>
              <a:rPr lang="zh-CN" altLang="en-US" sz="2400" dirty="0">
                <a:latin typeface="宋体" panose="02010600030101010101" pitchFamily="2" charset="-122"/>
                <a:ea typeface="宋体" panose="02010600030101010101" pitchFamily="2" charset="-122"/>
              </a:rPr>
              <a:t>的时候吞吐就无法相应地上升了，超过</a:t>
            </a:r>
            <a:r>
              <a:rPr lang="en-US" altLang="zh-CN" sz="2400" dirty="0">
                <a:latin typeface="宋体" panose="02010600030101010101" pitchFamily="2" charset="-122"/>
                <a:ea typeface="宋体" panose="02010600030101010101" pitchFamily="2" charset="-122"/>
              </a:rPr>
              <a:t>9</a:t>
            </a:r>
            <a:r>
              <a:rPr lang="zh-CN" altLang="en-US" sz="2400" dirty="0">
                <a:latin typeface="宋体" panose="02010600030101010101" pitchFamily="2" charset="-122"/>
                <a:ea typeface="宋体" panose="02010600030101010101" pitchFamily="2" charset="-122"/>
              </a:rPr>
              <a:t>的时候就被</a:t>
            </a: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反超了</a:t>
            </a:r>
            <a:endParaRPr lang="en-US" altLang="zh-CN" sz="2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能够在不牺牲隔离性和</a:t>
            </a:r>
            <a:r>
              <a:rPr lang="en-US" altLang="zh-CN" sz="2400" dirty="0">
                <a:latin typeface="宋体" panose="02010600030101010101" pitchFamily="2" charset="-122"/>
                <a:ea typeface="宋体" panose="02010600030101010101" pitchFamily="2" charset="-122"/>
              </a:rPr>
              <a:t>CPU</a:t>
            </a:r>
            <a:r>
              <a:rPr lang="zh-CN" altLang="en-US" sz="2400" dirty="0">
                <a:latin typeface="宋体" panose="02010600030101010101" pitchFamily="2" charset="-122"/>
                <a:ea typeface="宋体" panose="02010600030101010101" pitchFamily="2" charset="-122"/>
              </a:rPr>
              <a:t>性能的条件下达到与</a:t>
            </a: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相近的性能</a:t>
            </a:r>
          </a:p>
        </p:txBody>
      </p:sp>
    </p:spTree>
    <p:extLst>
      <p:ext uri="{BB962C8B-B14F-4D97-AF65-F5344CB8AC3E}">
        <p14:creationId xmlns:p14="http://schemas.microsoft.com/office/powerpoint/2010/main" val="343264156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53DEC8CC-585F-4731-B472-B3C24C444A8D}"/>
              </a:ext>
            </a:extLst>
          </p:cNvPr>
          <p:cNvSpPr/>
          <p:nvPr/>
        </p:nvSpPr>
        <p:spPr>
          <a:xfrm>
            <a:off x="1693532" y="90684"/>
            <a:ext cx="73361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Evaluation--BPF-</a:t>
            </a:r>
            <a:r>
              <a:rPr lang="en-US" altLang="zh-CN" sz="3200" b="1" spc="300" dirty="0" err="1">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kv</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681470B3-2FAF-7A0E-F7E1-EF44D1D3E808}"/>
              </a:ext>
            </a:extLst>
          </p:cNvPr>
          <p:cNvPicPr>
            <a:picLocks noChangeAspect="1"/>
          </p:cNvPicPr>
          <p:nvPr/>
        </p:nvPicPr>
        <p:blipFill>
          <a:blip r:embed="rId3"/>
          <a:stretch>
            <a:fillRect/>
          </a:stretch>
        </p:blipFill>
        <p:spPr>
          <a:xfrm>
            <a:off x="1876417" y="1003329"/>
            <a:ext cx="5048509" cy="2794144"/>
          </a:xfrm>
          <a:prstGeom prst="rect">
            <a:avLst/>
          </a:prstGeom>
        </p:spPr>
      </p:pic>
      <p:sp>
        <p:nvSpPr>
          <p:cNvPr id="8" name="文本框 7">
            <a:extLst>
              <a:ext uri="{FF2B5EF4-FFF2-40B4-BE49-F238E27FC236}">
                <a16:creationId xmlns:a16="http://schemas.microsoft.com/office/drawing/2014/main" id="{942685E4-69E8-5034-FABE-7DF6744FCF51}"/>
              </a:ext>
            </a:extLst>
          </p:cNvPr>
          <p:cNvSpPr txBox="1"/>
          <p:nvPr/>
        </p:nvSpPr>
        <p:spPr>
          <a:xfrm>
            <a:off x="1544852" y="4457599"/>
            <a:ext cx="10760149" cy="1938992"/>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当只用</a:t>
            </a:r>
            <a:r>
              <a:rPr lang="en-US" altLang="zh-CN" sz="2400" dirty="0">
                <a:latin typeface="宋体" panose="02010600030101010101" pitchFamily="2" charset="-122"/>
                <a:ea typeface="宋体" panose="02010600030101010101" pitchFamily="2" charset="-122"/>
              </a:rPr>
              <a:t>6</a:t>
            </a:r>
            <a:r>
              <a:rPr lang="zh-CN" altLang="en-US" sz="2400" dirty="0">
                <a:latin typeface="宋体" panose="02010600030101010101" pitchFamily="2" charset="-122"/>
                <a:ea typeface="宋体" panose="02010600030101010101" pitchFamily="2" charset="-122"/>
              </a:rPr>
              <a:t>线程的时候，</a:t>
            </a: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都能达到近似于硬件极限的速度</a:t>
            </a:r>
            <a:endParaRPr lang="en-US" altLang="zh-CN" sz="2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一旦线程数超过了</a:t>
            </a:r>
            <a:r>
              <a:rPr lang="en-US" altLang="zh-CN" sz="2400" dirty="0">
                <a:latin typeface="宋体" panose="02010600030101010101" pitchFamily="2" charset="-122"/>
                <a:ea typeface="宋体" panose="02010600030101010101" pitchFamily="2" charset="-122"/>
              </a:rPr>
              <a:t>CPU</a:t>
            </a:r>
            <a:r>
              <a:rPr lang="zh-CN" altLang="en-US" sz="2400" dirty="0">
                <a:latin typeface="宋体" panose="02010600030101010101" pitchFamily="2" charset="-122"/>
                <a:ea typeface="宋体" panose="02010600030101010101" pitchFamily="2" charset="-122"/>
              </a:rPr>
              <a:t>核数，那么</a:t>
            </a: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的吞吐就会稳定下降然而</a:t>
            </a: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的吞吐还是很稳定</a:t>
            </a:r>
            <a:endParaRPr lang="en-US" altLang="zh-CN" sz="2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平均延迟和尾延迟在</a:t>
            </a: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中都增加的更多</a:t>
            </a:r>
            <a:endParaRPr lang="en-US" altLang="zh-CN" sz="2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在</a:t>
            </a:r>
            <a:r>
              <a:rPr lang="en-US" altLang="zh-CN" sz="2400" dirty="0">
                <a:latin typeface="宋体" panose="02010600030101010101" pitchFamily="2" charset="-122"/>
                <a:ea typeface="宋体" panose="02010600030101010101" pitchFamily="2" charset="-122"/>
              </a:rPr>
              <a:t>range query</a:t>
            </a:r>
            <a:r>
              <a:rPr lang="zh-CN" altLang="en-US" sz="2400" dirty="0">
                <a:latin typeface="宋体" panose="02010600030101010101" pitchFamily="2" charset="-122"/>
                <a:ea typeface="宋体" panose="02010600030101010101" pitchFamily="2" charset="-122"/>
              </a:rPr>
              <a:t>场景中，与</a:t>
            </a:r>
            <a:r>
              <a:rPr lang="en-US" altLang="zh-CN" sz="2400" dirty="0">
                <a:latin typeface="宋体" panose="02010600030101010101" pitchFamily="2" charset="-122"/>
                <a:ea typeface="宋体" panose="02010600030101010101" pitchFamily="2" charset="-122"/>
              </a:rPr>
              <a:t>read</a:t>
            </a:r>
            <a:r>
              <a:rPr lang="zh-CN" altLang="en-US" sz="2400" dirty="0">
                <a:latin typeface="宋体" panose="02010600030101010101" pitchFamily="2" charset="-122"/>
                <a:ea typeface="宋体" panose="02010600030101010101" pitchFamily="2" charset="-122"/>
              </a:rPr>
              <a:t>系统调用相比，有很稳定的延迟和吞吐提升</a:t>
            </a:r>
          </a:p>
        </p:txBody>
      </p:sp>
      <p:pic>
        <p:nvPicPr>
          <p:cNvPr id="10" name="图片 9">
            <a:extLst>
              <a:ext uri="{FF2B5EF4-FFF2-40B4-BE49-F238E27FC236}">
                <a16:creationId xmlns:a16="http://schemas.microsoft.com/office/drawing/2014/main" id="{52833231-6B6B-2D8B-C8E5-21B84B342986}"/>
              </a:ext>
            </a:extLst>
          </p:cNvPr>
          <p:cNvPicPr>
            <a:picLocks noChangeAspect="1"/>
          </p:cNvPicPr>
          <p:nvPr/>
        </p:nvPicPr>
        <p:blipFill>
          <a:blip r:embed="rId4"/>
          <a:stretch>
            <a:fillRect/>
          </a:stretch>
        </p:blipFill>
        <p:spPr>
          <a:xfrm>
            <a:off x="6924926" y="1003329"/>
            <a:ext cx="5035809" cy="3022755"/>
          </a:xfrm>
          <a:prstGeom prst="rect">
            <a:avLst/>
          </a:prstGeom>
        </p:spPr>
      </p:pic>
    </p:spTree>
    <p:extLst>
      <p:ext uri="{BB962C8B-B14F-4D97-AF65-F5344CB8AC3E}">
        <p14:creationId xmlns:p14="http://schemas.microsoft.com/office/powerpoint/2010/main" val="378604471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53DEC8CC-585F-4731-B472-B3C24C444A8D}"/>
              </a:ext>
            </a:extLst>
          </p:cNvPr>
          <p:cNvSpPr/>
          <p:nvPr/>
        </p:nvSpPr>
        <p:spPr>
          <a:xfrm>
            <a:off x="1693532" y="90684"/>
            <a:ext cx="73361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Evaluation--</a:t>
            </a:r>
            <a:r>
              <a:rPr lang="en-US" altLang="zh-CN" sz="3200" b="1" spc="300" dirty="0" err="1">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WiredTiger</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F170ED34-EA7B-5630-72C2-1E1F169F5247}"/>
              </a:ext>
            </a:extLst>
          </p:cNvPr>
          <p:cNvPicPr>
            <a:picLocks noChangeAspect="1"/>
          </p:cNvPicPr>
          <p:nvPr/>
        </p:nvPicPr>
        <p:blipFill>
          <a:blip r:embed="rId3"/>
          <a:stretch>
            <a:fillRect/>
          </a:stretch>
        </p:blipFill>
        <p:spPr>
          <a:xfrm>
            <a:off x="2355344" y="868696"/>
            <a:ext cx="9836656" cy="2781443"/>
          </a:xfrm>
          <a:prstGeom prst="rect">
            <a:avLst/>
          </a:prstGeom>
        </p:spPr>
      </p:pic>
      <p:sp>
        <p:nvSpPr>
          <p:cNvPr id="4" name="文本框 3">
            <a:extLst>
              <a:ext uri="{FF2B5EF4-FFF2-40B4-BE49-F238E27FC236}">
                <a16:creationId xmlns:a16="http://schemas.microsoft.com/office/drawing/2014/main" id="{4471D6AA-B683-EDDC-9280-4CF903095FB9}"/>
              </a:ext>
            </a:extLst>
          </p:cNvPr>
          <p:cNvSpPr txBox="1"/>
          <p:nvPr/>
        </p:nvSpPr>
        <p:spPr>
          <a:xfrm>
            <a:off x="2129052" y="4169732"/>
            <a:ext cx="9690415"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几乎能提升至多</a:t>
            </a:r>
            <a:r>
              <a:rPr lang="en-US" altLang="zh-CN" sz="2400" dirty="0">
                <a:latin typeface="宋体" panose="02010600030101010101" pitchFamily="2" charset="-122"/>
                <a:ea typeface="宋体" panose="02010600030101010101" pitchFamily="2" charset="-122"/>
              </a:rPr>
              <a:t>1.25x</a:t>
            </a:r>
            <a:r>
              <a:rPr lang="zh-CN" altLang="en-US" sz="2400" dirty="0">
                <a:latin typeface="宋体" panose="02010600030101010101" pitchFamily="2" charset="-122"/>
                <a:ea typeface="宋体" panose="02010600030101010101" pitchFamily="2" charset="-122"/>
              </a:rPr>
              <a:t>的速度</a:t>
            </a:r>
            <a:endParaRPr lang="en-US" altLang="zh-CN" sz="2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缓存越大性能提升越不明显</a:t>
            </a:r>
            <a:endParaRPr lang="en-US" altLang="zh-CN" sz="2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在不同的数据集上因为操作不同性能提升也不同</a:t>
            </a:r>
          </a:p>
        </p:txBody>
      </p:sp>
    </p:spTree>
    <p:extLst>
      <p:ext uri="{BB962C8B-B14F-4D97-AF65-F5344CB8AC3E}">
        <p14:creationId xmlns:p14="http://schemas.microsoft.com/office/powerpoint/2010/main" val="323428449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53DEC8CC-585F-4731-B472-B3C24C444A8D}"/>
              </a:ext>
            </a:extLst>
          </p:cNvPr>
          <p:cNvSpPr/>
          <p:nvPr/>
        </p:nvSpPr>
        <p:spPr>
          <a:xfrm>
            <a:off x="1693532" y="90684"/>
            <a:ext cx="73361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Evaluation</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7C43005F-7C27-8D38-B00E-8183FAB00F12}"/>
              </a:ext>
            </a:extLst>
          </p:cNvPr>
          <p:cNvPicPr>
            <a:picLocks noChangeAspect="1"/>
          </p:cNvPicPr>
          <p:nvPr/>
        </p:nvPicPr>
        <p:blipFill>
          <a:blip r:embed="rId3"/>
          <a:stretch>
            <a:fillRect/>
          </a:stretch>
        </p:blipFill>
        <p:spPr>
          <a:xfrm>
            <a:off x="1758414" y="804525"/>
            <a:ext cx="10433586" cy="3079908"/>
          </a:xfrm>
          <a:prstGeom prst="rect">
            <a:avLst/>
          </a:prstGeom>
        </p:spPr>
      </p:pic>
      <p:sp>
        <p:nvSpPr>
          <p:cNvPr id="6" name="文本框 5">
            <a:extLst>
              <a:ext uri="{FF2B5EF4-FFF2-40B4-BE49-F238E27FC236}">
                <a16:creationId xmlns:a16="http://schemas.microsoft.com/office/drawing/2014/main" id="{7431F9BC-1387-991F-DBAC-D9ED1D7636FB}"/>
              </a:ext>
            </a:extLst>
          </p:cNvPr>
          <p:cNvSpPr txBox="1"/>
          <p:nvPr/>
        </p:nvSpPr>
        <p:spPr>
          <a:xfrm>
            <a:off x="2129052" y="4169732"/>
            <a:ext cx="9690415" cy="830997"/>
          </a:xfrm>
          <a:prstGeom prst="rect">
            <a:avLst/>
          </a:prstGeom>
          <a:noFill/>
        </p:spPr>
        <p:txBody>
          <a:bodyPr wrap="square" rtlCol="0">
            <a:spAutoFit/>
          </a:bodyPr>
          <a:lstStyle/>
          <a:p>
            <a:pPr marL="285750" indent="-285750">
              <a:buFont typeface="Arial" panose="020B0604020202020204" pitchFamily="34" charset="0"/>
              <a:buChar char="•"/>
            </a:pP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的收益随着</a:t>
            </a:r>
            <a:r>
              <a:rPr lang="en-US" altLang="zh-CN" sz="2400" dirty="0">
                <a:latin typeface="宋体" panose="02010600030101010101" pitchFamily="2" charset="-122"/>
                <a:ea typeface="宋体" panose="02010600030101010101" pitchFamily="2" charset="-122"/>
              </a:rPr>
              <a:t>Zipfian constant</a:t>
            </a:r>
            <a:r>
              <a:rPr lang="zh-CN" altLang="en-US" sz="2400" dirty="0">
                <a:latin typeface="宋体" panose="02010600030101010101" pitchFamily="2" charset="-122"/>
                <a:ea typeface="宋体" panose="02010600030101010101" pitchFamily="2" charset="-122"/>
              </a:rPr>
              <a:t>的增长而降低</a:t>
            </a:r>
            <a:endParaRPr lang="en-US" altLang="zh-CN" sz="2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能减少</a:t>
            </a:r>
            <a:r>
              <a:rPr lang="en-US" altLang="zh-CN" sz="2400" dirty="0">
                <a:latin typeface="宋体" panose="02010600030101010101" pitchFamily="2" charset="-122"/>
                <a:ea typeface="宋体" panose="02010600030101010101" pitchFamily="2" charset="-122"/>
              </a:rPr>
              <a:t>99%</a:t>
            </a:r>
            <a:r>
              <a:rPr lang="zh-CN" altLang="en-US" sz="2400" dirty="0">
                <a:latin typeface="宋体" panose="02010600030101010101" pitchFamily="2" charset="-122"/>
                <a:ea typeface="宋体" panose="02010600030101010101" pitchFamily="2" charset="-122"/>
              </a:rPr>
              <a:t>延迟至多</a:t>
            </a:r>
            <a:r>
              <a:rPr lang="en-US" altLang="zh-CN" sz="2400" dirty="0">
                <a:latin typeface="宋体" panose="02010600030101010101" pitchFamily="2" charset="-122"/>
                <a:ea typeface="宋体" panose="02010600030101010101" pitchFamily="2" charset="-122"/>
              </a:rPr>
              <a:t>40%</a:t>
            </a:r>
            <a:endParaRPr lang="zh-CN" altLang="en-US"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95267691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EDFC3E38-B791-400B-AD83-E2ADFB9927EE}"/>
              </a:ext>
            </a:extLst>
          </p:cNvPr>
          <p:cNvSpPr/>
          <p:nvPr/>
        </p:nvSpPr>
        <p:spPr>
          <a:xfrm>
            <a:off x="1693532" y="90684"/>
            <a:ext cx="7336168" cy="584775"/>
          </a:xfrm>
          <a:prstGeom prst="rect">
            <a:avLst/>
          </a:prstGeom>
        </p:spPr>
        <p:txBody>
          <a:bodyPr wrap="square">
            <a:spAutoFit/>
          </a:bodyPr>
          <a:lstStyle/>
          <a:p>
            <a:pPr eaLnBrk="1" fontAlgn="auto" hangingPunct="1">
              <a:spcBef>
                <a:spcPct val="0"/>
              </a:spcBef>
              <a:spcAft>
                <a:spcPct val="0"/>
              </a:spcAft>
              <a:defRPr/>
            </a:pPr>
            <a:r>
              <a:rPr lang="en-US" altLang="zh-CN" sz="3200" b="1" spc="30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Summary</a:t>
            </a:r>
            <a:endParaRPr lang="zh-CN" altLang="en-US" sz="3200" b="1" spc="30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F112237E-7DEC-6230-00DD-4439DE9E0846}"/>
              </a:ext>
            </a:extLst>
          </p:cNvPr>
          <p:cNvSpPr txBox="1"/>
          <p:nvPr/>
        </p:nvSpPr>
        <p:spPr>
          <a:xfrm>
            <a:off x="1755422" y="1027289"/>
            <a:ext cx="10176934" cy="4893647"/>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总结</a:t>
            </a:r>
            <a:endParaRPr lang="en-US" altLang="zh-CN" sz="2400" b="1"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is the first system to use BPF to accelerate common storage functions</a:t>
            </a:r>
          </a:p>
          <a:p>
            <a:pPr marL="342900" indent="-342900">
              <a:buFont typeface="Arial" panose="020B0604020202020204" pitchFamily="34" charset="0"/>
              <a:buChar char="•"/>
            </a:pP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在保留了大部分的通过绕过内核能够提供的性能收益的同时，没有损失</a:t>
            </a:r>
            <a:r>
              <a:rPr lang="en-US" altLang="zh-CN" sz="2400" dirty="0">
                <a:latin typeface="宋体" panose="02010600030101010101" pitchFamily="2" charset="-122"/>
                <a:ea typeface="宋体" panose="02010600030101010101" pitchFamily="2" charset="-122"/>
              </a:rPr>
              <a:t>CPU</a:t>
            </a:r>
            <a:r>
              <a:rPr lang="zh-CN" altLang="en-US" sz="2400" dirty="0">
                <a:latin typeface="宋体" panose="02010600030101010101" pitchFamily="2" charset="-122"/>
                <a:ea typeface="宋体" panose="02010600030101010101" pitchFamily="2" charset="-122"/>
              </a:rPr>
              <a:t>的利用率和访问权限控制能力</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endParaRPr lang="en-US" altLang="zh-CN" sz="2400"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优点</a:t>
            </a:r>
            <a:endParaRPr lang="en-US" altLang="zh-CN" sz="2400" b="1"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内容非常丰富，文章中有很多篇幅在讲代码的设计与系统在一些特殊情况下如何处理</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问题与解决方案都很直接，问题就是因为</a:t>
            </a: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绕过内核的方法不够好，所以作者用</a:t>
            </a:r>
            <a:r>
              <a:rPr lang="en-US" altLang="zh-CN" sz="2400" dirty="0" err="1">
                <a:latin typeface="宋体" panose="02010600030101010101" pitchFamily="2" charset="-122"/>
                <a:ea typeface="宋体" panose="02010600030101010101" pitchFamily="2" charset="-122"/>
              </a:rPr>
              <a:t>eBPF</a:t>
            </a:r>
            <a:r>
              <a:rPr lang="zh-CN" altLang="en-US" sz="2400" dirty="0">
                <a:latin typeface="宋体" panose="02010600030101010101" pitchFamily="2" charset="-122"/>
                <a:ea typeface="宋体" panose="02010600030101010101" pitchFamily="2" charset="-122"/>
              </a:rPr>
              <a:t>来绕过内核解决</a:t>
            </a: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的问题。但是在前面引出这些问题的过程中作者大量地描述了例如别的方法的缺点、设计方案应该注意的问题、设计的思路与挑战等，引出</a:t>
            </a:r>
            <a:r>
              <a:rPr lang="en-US" altLang="zh-CN" sz="2400" dirty="0">
                <a:latin typeface="宋体" panose="02010600030101010101" pitchFamily="2" charset="-122"/>
                <a:ea typeface="宋体" panose="02010600030101010101" pitchFamily="2" charset="-122"/>
              </a:rPr>
              <a:t>design</a:t>
            </a:r>
            <a:r>
              <a:rPr lang="zh-CN" altLang="en-US" sz="2400" dirty="0">
                <a:latin typeface="宋体" panose="02010600030101010101" pitchFamily="2" charset="-122"/>
                <a:ea typeface="宋体" panose="02010600030101010101" pitchFamily="2" charset="-122"/>
              </a:rPr>
              <a:t>部分很自然</a:t>
            </a:r>
            <a:endParaRPr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90094603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214207"/>
            <a:ext cx="12192000" cy="46815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8" name="文本框 47"/>
          <p:cNvSpPr txBox="1">
            <a:spLocks noChangeArrowheads="1"/>
          </p:cNvSpPr>
          <p:nvPr/>
        </p:nvSpPr>
        <p:spPr bwMode="auto">
          <a:xfrm>
            <a:off x="293774" y="2405582"/>
            <a:ext cx="11604452" cy="1681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algn="ctr">
              <a:lnSpc>
                <a:spcPct val="130000"/>
              </a:lnSpc>
            </a:pPr>
            <a:r>
              <a:rPr lang="en-US" altLang="zh-CN" sz="8800" b="1" spc="12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Thanks!</a:t>
            </a:r>
            <a:endParaRPr lang="zh-CN" altLang="en-US" sz="8800" b="1" spc="12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34" name="Picture 10">
            <a:extLst>
              <a:ext uri="{FF2B5EF4-FFF2-40B4-BE49-F238E27FC236}">
                <a16:creationId xmlns:a16="http://schemas.microsoft.com/office/drawing/2014/main" id="{00E4792B-22AA-47AF-BE59-E47383E085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4171" y="100470"/>
            <a:ext cx="2230404" cy="2038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353511"/>
      </p:ext>
    </p:extLst>
  </p:cSld>
  <p:clrMapOvr>
    <a:masterClrMapping/>
  </p:clrMapOvr>
  <p:transition spd="slow" advClick="0">
    <p:blinds dir="vert"/>
  </p:transition>
</p:sld>
</file>

<file path=ppt/tags/tag1.xml><?xml version="1.0" encoding="utf-8"?>
<p:tagLst xmlns:a="http://schemas.openxmlformats.org/drawingml/2006/main" xmlns:r="http://schemas.openxmlformats.org/officeDocument/2006/relationships" xmlns:p="http://schemas.openxmlformats.org/presentationml/2006/main">
  <p:tag name="AS_NET" val="2.0.50727.5485"/>
  <p:tag name="AS_OS" val="Microsoft Windows NT 6.1.7601 Service Pack 1"/>
  <p:tag name="AS_RELEASE_DATE" val="2018.04.09"/>
  <p:tag name="AS_TITLE" val="Aspose.Slides for .NET 2.0"/>
  <p:tag name="AS_VERSION" val="18.4"/>
  <p:tag name="ISPRING_PRESENTATION_TITLE" val="论文答辩"/>
</p:tagLst>
</file>

<file path=ppt/theme/theme1.xml><?xml version="1.0" encoding="utf-8"?>
<a:theme xmlns:a="http://schemas.openxmlformats.org/drawingml/2006/main" name="Office 主题">
  <a:themeElements>
    <a:clrScheme name="自定义 32-蓝黄">
      <a:dk1>
        <a:srgbClr val="000000"/>
      </a:dk1>
      <a:lt1>
        <a:srgbClr val="FFFFFF"/>
      </a:lt1>
      <a:dk2>
        <a:srgbClr val="455F51"/>
      </a:dk2>
      <a:lt2>
        <a:srgbClr val="E2DFCC"/>
      </a:lt2>
      <a:accent1>
        <a:srgbClr val="264B8C"/>
      </a:accent1>
      <a:accent2>
        <a:srgbClr val="FFC000"/>
      </a:accent2>
      <a:accent3>
        <a:srgbClr val="739A28"/>
      </a:accent3>
      <a:accent4>
        <a:srgbClr val="37A76F"/>
      </a:accent4>
      <a:accent5>
        <a:srgbClr val="4EB3CF"/>
      </a:accent5>
      <a:accent6>
        <a:srgbClr val="51C3F9"/>
      </a:accent6>
      <a:hlink>
        <a:srgbClr val="08A5EF"/>
      </a:hlink>
      <a:folHlink>
        <a:srgbClr val="977B2D"/>
      </a:folHlink>
    </a:clrScheme>
    <a:fontScheme name="自定义 6">
      <a:majorFont>
        <a:latin typeface="Arial"/>
        <a:ea typeface="微软雅黑 Light"/>
        <a:cs typeface="Arial"/>
      </a:majorFont>
      <a:minorFont>
        <a:latin typeface="Arial"/>
        <a:ea typeface="微软雅黑 Light"/>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21227</TotalTime>
  <Words>1470</Words>
  <Application>Microsoft Office PowerPoint</Application>
  <PresentationFormat>宽屏</PresentationFormat>
  <Paragraphs>128</Paragraphs>
  <Slides>25</Slides>
  <Notes>20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25</vt:i4>
      </vt:variant>
    </vt:vector>
  </HeadingPairs>
  <TitlesOfParts>
    <vt:vector size="34" baseType="lpstr">
      <vt:lpstr>Arial Unicode MS</vt:lpstr>
      <vt:lpstr>等线</vt:lpstr>
      <vt:lpstr>宋体</vt:lpstr>
      <vt:lpstr>微软雅黑</vt:lpstr>
      <vt:lpstr>微软雅黑 Light</vt:lpstr>
      <vt:lpstr>Arial</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风云办公</Manager>
  <Company>上海剑姬网络科技有限公司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风云办公PPT模板</dc:title>
  <dc:creator>风云办公</dc:creator>
  <cp:keywords>风云办公</cp:keywords>
  <dc:description>风云办公 http://www.ppt118.com</dc:description>
  <cp:lastModifiedBy>云升 董</cp:lastModifiedBy>
  <cp:revision>1037</cp:revision>
  <dcterms:created xsi:type="dcterms:W3CDTF">2014-06-18T03:33:50Z</dcterms:created>
  <dcterms:modified xsi:type="dcterms:W3CDTF">2024-03-08T14:04:38Z</dcterms:modified>
</cp:coreProperties>
</file>