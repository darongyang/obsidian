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92" r:id="rId4"/>
    <p:sldId id="330" r:id="rId5"/>
    <p:sldId id="331" r:id="rId6"/>
    <p:sldId id="332" r:id="rId7"/>
    <p:sldId id="301" r:id="rId8"/>
    <p:sldId id="296" r:id="rId9"/>
    <p:sldId id="335" r:id="rId10"/>
    <p:sldId id="334" r:id="rId11"/>
    <p:sldId id="336" r:id="rId12"/>
    <p:sldId id="337" r:id="rId13"/>
    <p:sldId id="338" r:id="rId14"/>
    <p:sldId id="333" r:id="rId15"/>
    <p:sldId id="297" r:id="rId16"/>
    <p:sldId id="339" r:id="rId17"/>
    <p:sldId id="340" r:id="rId18"/>
    <p:sldId id="341" r:id="rId19"/>
    <p:sldId id="342" r:id="rId20"/>
    <p:sldId id="343" r:id="rId21"/>
    <p:sldId id="290" r:id="rId22"/>
    <p:sldId id="329" r:id="rId23"/>
    <p:sldId id="344" r:id="rId24"/>
    <p:sldId id="29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言" id="{9D687CBB-5479-4EB9-A92B-D8A6E4FB552F}">
          <p14:sldIdLst>
            <p14:sldId id="256"/>
            <p14:sldId id="257"/>
          </p14:sldIdLst>
        </p14:section>
        <p14:section name="介绍与背景" id="{1249759B-2685-474C-89C2-13CA75153F8C}">
          <p14:sldIdLst>
            <p14:sldId id="292"/>
            <p14:sldId id="330"/>
            <p14:sldId id="331"/>
            <p14:sldId id="332"/>
          </p14:sldIdLst>
        </p14:section>
        <p14:section name="动机" id="{B0111ED3-6C28-483F-8941-D909173507AE}">
          <p14:sldIdLst>
            <p14:sldId id="301"/>
          </p14:sldIdLst>
        </p14:section>
        <p14:section name="设计与实现" id="{FDCF79DD-8BB9-4318-AC18-A93747CE4826}">
          <p14:sldIdLst>
            <p14:sldId id="296"/>
            <p14:sldId id="335"/>
            <p14:sldId id="334"/>
            <p14:sldId id="336"/>
            <p14:sldId id="337"/>
            <p14:sldId id="338"/>
            <p14:sldId id="333"/>
          </p14:sldIdLst>
        </p14:section>
        <p14:section name="评估" id="{9E87DCA8-C851-4D2F-89B9-3325273DBE6F}">
          <p14:sldIdLst>
            <p14:sldId id="297"/>
            <p14:sldId id="339"/>
            <p14:sldId id="340"/>
            <p14:sldId id="341"/>
            <p14:sldId id="342"/>
            <p14:sldId id="343"/>
          </p14:sldIdLst>
        </p14:section>
        <p14:section name="总结" id="{AB089A4C-BD34-4576-BBA8-BF85B1D0ED1F}">
          <p14:sldIdLst>
            <p14:sldId id="290"/>
            <p14:sldId id="329"/>
            <p14:sldId id="344"/>
          </p14:sldIdLst>
        </p14:section>
        <p14:section name="结束" id="{76C0840F-107B-4CDC-9295-92D5551FE10B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1477AE"/>
    <a:srgbClr val="E82F37"/>
    <a:srgbClr val="DE5F49"/>
    <a:srgbClr val="1079B1"/>
    <a:srgbClr val="BECFE3"/>
    <a:srgbClr val="1D50A2"/>
    <a:srgbClr val="3C76E2"/>
    <a:srgbClr val="DEF0F9"/>
    <a:srgbClr val="D1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5244" autoAdjust="0"/>
  </p:normalViewPr>
  <p:slideViewPr>
    <p:cSldViewPr snapToGrid="0">
      <p:cViewPr>
        <p:scale>
          <a:sx n="75" d="100"/>
          <a:sy n="75" d="100"/>
        </p:scale>
        <p:origin x="1142" y="13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A4295-B070-46F3-B15F-D4E196C5EB95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DFC15-3355-469B-85D3-7BD4F7D9FC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96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24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105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88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6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388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78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02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77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08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248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17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4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146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539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84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030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94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43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27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326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DFC15-3355-469B-85D3-7BD4F7D9FC5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30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69C7A-8391-4085-9638-2A4CD810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5BE5F9-DD56-45DF-A721-10B433FDD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52565-BB6D-41B9-A17C-D1E42ED3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F0E5B-F361-4F18-BFA8-FC4E371AA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9D3C8-1DCA-43B9-9CA8-82588260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7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E24B0-16BD-407C-8357-C29AE692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F7639-B7B3-4291-AB91-81A56DF7C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D226F-2627-4D75-B658-06080452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A381C-7FF4-4860-85F8-2B019E1B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C8999-82BD-4EC2-8568-28D24D82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71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54F0E-3E21-4000-AFB8-CB38333A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509D0-B10F-4BC5-9A14-87E241988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4D3111-99B0-4D45-B054-FDDC9C74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8846C-D843-4F10-AE1C-5507CC94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F526A3-7D9B-4555-8FAD-BEBC6876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47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C5242-934F-43F5-84A2-A9890759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98B4F-E014-4F91-95D7-BAB114B25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D23251-D84C-499F-9DCA-0B7CD6EA2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E88C8D-4042-4BA5-9B0A-82066406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78F105-C51B-49F8-B7EB-E8716739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3F4A74-F9FD-4EF6-9B4C-4DD5C8BA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6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C73F5-FC61-4FBC-BB5D-907DBEF95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32D0A2-AA5C-4A71-9FCC-B59945B7B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01FE13-9994-4B07-B780-1A441F95F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2506D7-1A1C-4122-B60A-FC658D19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AF49AC-06B1-47C4-99A7-6DD33C60B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89FC85-ECEF-440E-B096-0F634CBE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696B50-CD36-459B-BA5F-C38F8D70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139526-AC7B-4DF3-8F09-DFD0DF94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05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F5CAE-0E03-40F7-84D3-4A62E357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028F1E-D00C-4476-9230-0EB84EAFF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2FE18E-6E65-4696-BD4C-249811F5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D49BB6-325A-4BA3-B678-BE8DBA80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4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D38914-F554-4F59-AC9D-E322F3A5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B2A736-356C-4FDE-98FD-4CC81808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2C57F6-D602-48AD-992F-B4EBED53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8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导航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31317E5-C012-4908-A5F8-B518E1BC35B9}"/>
              </a:ext>
            </a:extLst>
          </p:cNvPr>
          <p:cNvSpPr/>
          <p:nvPr userDrawn="1"/>
        </p:nvSpPr>
        <p:spPr>
          <a:xfrm>
            <a:off x="0" y="0"/>
            <a:ext cx="3220720" cy="6858000"/>
          </a:xfrm>
          <a:prstGeom prst="rect">
            <a:avLst/>
          </a:prstGeom>
          <a:gradFill>
            <a:gsLst>
              <a:gs pos="0">
                <a:srgbClr val="D1E6F3"/>
              </a:gs>
              <a:gs pos="100000">
                <a:srgbClr val="DEF0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FE7CB30B-4B6C-4273-993B-1A20DB236D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5275" y="528638"/>
            <a:ext cx="2214563" cy="58308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7183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F6894-A315-4AD9-B099-F092AEB6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06683-841A-4056-BD1F-BAD7B38A8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0F326A-32FD-428D-919B-908ADA937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5ED71A-5769-478B-9412-550C9F08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A50CA2-EE03-45BE-9FA7-95D3E0D9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46DEC1-3C6A-4684-AEEC-C9855F47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86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131DC-FA75-4E73-A336-CFB26B48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E736EA-3910-46FC-8522-EA33810D38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70960D-6F1C-4F6B-91CE-2786F8A3C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57FA90-6BC1-45DF-BC94-B3C887C60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034F8-6E30-4D71-9260-0EE611AE3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14C3F2-9B0A-4DFF-BED5-8AE4DE9E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84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25399-96B1-4837-ACA3-8C436ADC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0F2C69-A040-4468-ABA3-65F510AD8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56EFE2-B6C4-4F1E-9049-A273AE83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2B9B5-3B5F-413D-A2AA-645A974F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01152A-9486-4FD2-ACF7-D0C41F6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706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58BCAF-6CFD-450A-B0A6-FE1502F6E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F06DED-F557-4C93-B58D-FC783A0F4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C972A-7906-45CF-9D7B-382BD90E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063CA-5F92-46CB-A011-A72CAB3D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496DA-1A87-4245-91CB-290B041E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9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DB738-F812-4A82-8B86-C9FCC8AC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0482EA-E6FF-4197-A37A-3D16BAD55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D9DCC-8990-46B6-88A3-F2FCF84E1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E3FD-B283-41A1-910B-C3BD94581B0A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61E86-8549-4D4F-A702-518C8B4A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CBFFA2-80DB-40B8-9363-B2CECEEB9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449E5-BCFC-43B8-9298-C792E301F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9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log.csdn.net/weixin_44465434/article/details/13539567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7BE0E-6705-4740-B95D-FA946C45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945" y="1122359"/>
            <a:ext cx="12228945" cy="2387600"/>
          </a:xfrm>
        </p:spPr>
        <p:txBody>
          <a:bodyPr>
            <a:noAutofit/>
          </a:bodyPr>
          <a:lstStyle/>
          <a:p>
            <a:r>
              <a:rPr lang="en-US" altLang="zh-C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High-Performance and Secure </a:t>
            </a:r>
            <a:r>
              <a:rPr lang="en-US" altLang="zh-CN" sz="4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Userspace</a:t>
            </a:r>
            <a:br>
              <a:rPr lang="en-US" altLang="zh-C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 File Systems with the Trio Architecture</a:t>
            </a:r>
            <a:endParaRPr lang="zh-CN" alt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3F35C9-E7A4-46AF-A14A-033BBAA79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7704"/>
            <a:ext cx="9144000" cy="1655762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Vojtech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Aschenbrenner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Tao Lyu, Jian Zhang, 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Sudarsun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Kannan,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Sanidhya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Kashyap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505F6A-FD62-46B5-A9EC-C52AA312A4CA}"/>
              </a:ext>
            </a:extLst>
          </p:cNvPr>
          <p:cNvSpPr txBox="1"/>
          <p:nvPr/>
        </p:nvSpPr>
        <p:spPr>
          <a:xfrm>
            <a:off x="4739640" y="5638800"/>
            <a:ext cx="271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 Yanqi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5445E3-2E21-F643-673B-06CF4B865DFB}"/>
              </a:ext>
            </a:extLst>
          </p:cNvPr>
          <p:cNvSpPr txBox="1"/>
          <p:nvPr/>
        </p:nvSpPr>
        <p:spPr>
          <a:xfrm>
            <a:off x="9199958" y="706862"/>
            <a:ext cx="25483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979E66-3FED-5693-DF49-E51819C0AE83}"/>
              </a:ext>
            </a:extLst>
          </p:cNvPr>
          <p:cNvSpPr txBox="1"/>
          <p:nvPr/>
        </p:nvSpPr>
        <p:spPr>
          <a:xfrm>
            <a:off x="1974492" y="6165299"/>
            <a:ext cx="8243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Blog:  </a:t>
            </a:r>
            <a:r>
              <a:rPr lang="en-US" altLang="zh-CN" dirty="0">
                <a:hlinkClick r:id="rId2"/>
              </a:rPr>
              <a:t>https://blog.csdn.net/weixin_44465434/article/details/135395674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026" name="Picture 2" descr="EPFL (Ecole Polytechnique Federale de Lausanne) | EIT Food partner">
            <a:extLst>
              <a:ext uri="{FF2B5EF4-FFF2-40B4-BE49-F238E27FC236}">
                <a16:creationId xmlns:a16="http://schemas.microsoft.com/office/drawing/2014/main" id="{C8C54CE0-9EC6-8FE9-3608-587C502AF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83" y="538356"/>
            <a:ext cx="2697018" cy="116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43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A3B15-E5AF-4AA6-B5AC-28BCD34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27D93-7AF9-4A4C-BE94-43ED22440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Background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04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 TRIO Overview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875C1C-B1DA-5A02-06B6-E1680C0E636A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4434A-4A0B-A8F2-DAD2-00C19CF35A25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074" name="Picture 2" descr="ACM SIGOPS">
              <a:extLst>
                <a:ext uri="{FF2B5EF4-FFF2-40B4-BE49-F238E27FC236}">
                  <a16:creationId xmlns:a16="http://schemas.microsoft.com/office/drawing/2014/main" id="{0E622242-85F4-12B9-3E10-65D529AEE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F62DD6C6-C1BF-70EC-59AB-27E0FF96BF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97C41-6327-6733-3C96-930B8FECBF75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D0E0553-93B8-5B5A-F905-C502C9D185D1}"/>
              </a:ext>
            </a:extLst>
          </p:cNvPr>
          <p:cNvSpPr txBox="1"/>
          <p:nvPr/>
        </p:nvSpPr>
        <p:spPr>
          <a:xfrm>
            <a:off x="1967867" y="858666"/>
            <a:ext cx="10137773" cy="1903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概述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是一个新型用户态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文件系统框架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其核心是将文件系统状态分为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State,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前者作为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被可信第三方验证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后者由不同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收益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直接访问元数据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被污染的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可以被验证并恢复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从而提供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安全与性能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间的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最佳平衡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B640CE7-6CEC-3CE3-69CD-8C6EE9CB7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650" y="3097205"/>
            <a:ext cx="6749018" cy="35467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19A942-E735-D9CA-9EB0-C79CCC944541}"/>
              </a:ext>
            </a:extLst>
          </p:cNvPr>
          <p:cNvSpPr/>
          <p:nvPr/>
        </p:nvSpPr>
        <p:spPr>
          <a:xfrm>
            <a:off x="6027880" y="3565236"/>
            <a:ext cx="2039160" cy="2337724"/>
          </a:xfrm>
          <a:prstGeom prst="roundRect">
            <a:avLst>
              <a:gd name="adj" fmla="val 3225"/>
            </a:avLst>
          </a:prstGeom>
          <a:noFill/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2927146-D380-741F-B014-291B613F52C3}"/>
              </a:ext>
            </a:extLst>
          </p:cNvPr>
          <p:cNvSpPr txBox="1"/>
          <p:nvPr/>
        </p:nvSpPr>
        <p:spPr>
          <a:xfrm>
            <a:off x="5658271" y="3193071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验证恢复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61DA6BF-08DD-E1DE-F17C-1743830EE2EB}"/>
              </a:ext>
            </a:extLst>
          </p:cNvPr>
          <p:cNvSpPr/>
          <p:nvPr/>
        </p:nvSpPr>
        <p:spPr>
          <a:xfrm>
            <a:off x="3804685" y="3709839"/>
            <a:ext cx="2039160" cy="963761"/>
          </a:xfrm>
          <a:prstGeom prst="roundRect">
            <a:avLst>
              <a:gd name="adj" fmla="val 3225"/>
            </a:avLst>
          </a:prstGeom>
          <a:noFill/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B0EA32-9A25-D236-2586-722892340609}"/>
              </a:ext>
            </a:extLst>
          </p:cNvPr>
          <p:cNvSpPr txBox="1"/>
          <p:nvPr/>
        </p:nvSpPr>
        <p:spPr>
          <a:xfrm>
            <a:off x="2346955" y="3914720"/>
            <a:ext cx="96340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直接访问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D91A8EC-42A3-611E-76B3-5275486CF091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>
            <a:off x="3310359" y="4191719"/>
            <a:ext cx="494326" cy="1"/>
          </a:xfrm>
          <a:prstGeom prst="straightConnector1">
            <a:avLst/>
          </a:prstGeom>
          <a:ln w="38100">
            <a:solidFill>
              <a:srgbClr val="C00000"/>
            </a:solidFill>
            <a:round/>
            <a:headEnd type="diamond" w="med" len="sm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B5611BF-12E1-3161-9C49-F99927847974}"/>
              </a:ext>
            </a:extLst>
          </p:cNvPr>
          <p:cNvSpPr txBox="1"/>
          <p:nvPr/>
        </p:nvSpPr>
        <p:spPr>
          <a:xfrm>
            <a:off x="8967355" y="5830791"/>
            <a:ext cx="12663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</a:p>
        </p:txBody>
      </p:sp>
    </p:spTree>
    <p:extLst>
      <p:ext uri="{BB962C8B-B14F-4D97-AF65-F5344CB8AC3E}">
        <p14:creationId xmlns:p14="http://schemas.microsoft.com/office/powerpoint/2010/main" val="210076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NVM Technologies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875C1C-B1DA-5A02-06B6-E1680C0E636A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4434A-4A0B-A8F2-DAD2-00C19CF35A25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074" name="Picture 2" descr="ACM SIGOPS">
              <a:extLst>
                <a:ext uri="{FF2B5EF4-FFF2-40B4-BE49-F238E27FC236}">
                  <a16:creationId xmlns:a16="http://schemas.microsoft.com/office/drawing/2014/main" id="{0E622242-85F4-12B9-3E10-65D529AEE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F62DD6C6-C1BF-70EC-59AB-27E0FF96BF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97C41-6327-6733-3C96-930B8FECBF75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F4C9B5E-E792-A0FC-777C-1990882E6148}"/>
              </a:ext>
            </a:extLst>
          </p:cNvPr>
          <p:cNvSpPr txBox="1"/>
          <p:nvPr/>
        </p:nvSpPr>
        <p:spPr>
          <a:xfrm>
            <a:off x="1883092" y="889844"/>
            <a:ext cx="1030890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Assumptions (Tricky)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直接访问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Load/Store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指令访问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访问权限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通过硬件手段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MMU)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控制对特定区域的访问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(r/w/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访问延迟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低访问延迟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字节寻址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具有字节级寻址能力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Present and Future of NVM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现有技术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Memory-backed DRAM, Optane DCPMM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未来技术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CXL-based NVM, Memory-semantics SSD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E4E7E74-7B77-ECE3-4154-EE16E75573AA}"/>
              </a:ext>
            </a:extLst>
          </p:cNvPr>
          <p:cNvGrpSpPr/>
          <p:nvPr/>
        </p:nvGrpSpPr>
        <p:grpSpPr>
          <a:xfrm>
            <a:off x="9186472" y="2511875"/>
            <a:ext cx="2880944" cy="1547449"/>
            <a:chOff x="9186472" y="3106734"/>
            <a:chExt cx="2880944" cy="154744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F62BD4-6D52-943B-4398-37C34886E7A8}"/>
                </a:ext>
              </a:extLst>
            </p:cNvPr>
            <p:cNvSpPr txBox="1"/>
            <p:nvPr/>
          </p:nvSpPr>
          <p:spPr>
            <a:xfrm>
              <a:off x="9186472" y="3352294"/>
              <a:ext cx="2756361" cy="1301889"/>
            </a:xfrm>
            <a:prstGeom prst="roundRect">
              <a:avLst>
                <a:gd name="adj" fmla="val 787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zh-CN" alt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傲腾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停产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!</a:t>
              </a:r>
              <a:r>
                <a:rPr lang="zh-CN" alt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写作方面与傲腾彻底解耦合</a:t>
              </a: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注重对技术的讨论</a:t>
              </a:r>
              <a:endParaRPr lang="zh-CN" altLang="en-US" b="1" dirty="0"/>
            </a:p>
          </p:txBody>
        </p:sp>
        <p:pic>
          <p:nvPicPr>
            <p:cNvPr id="23" name="图形 22" descr="曲别针">
              <a:extLst>
                <a:ext uri="{FF2B5EF4-FFF2-40B4-BE49-F238E27FC236}">
                  <a16:creationId xmlns:a16="http://schemas.microsoft.com/office/drawing/2014/main" id="{1B32B3EA-D97D-5044-5F0C-AD57B876A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89329" y="3106734"/>
              <a:ext cx="378087" cy="378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32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74EC7942-2DE6-FFA3-9A9F-6001BAEA5F18}"/>
              </a:ext>
            </a:extLst>
          </p:cNvPr>
          <p:cNvSpPr/>
          <p:nvPr/>
        </p:nvSpPr>
        <p:spPr>
          <a:xfrm>
            <a:off x="9502811" y="4534382"/>
            <a:ext cx="1141616" cy="3440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LibFS-1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C0BFE52-5172-1EE9-0A2A-AFAB2A5A6B39}"/>
              </a:ext>
            </a:extLst>
          </p:cNvPr>
          <p:cNvSpPr/>
          <p:nvPr/>
        </p:nvSpPr>
        <p:spPr>
          <a:xfrm>
            <a:off x="10800036" y="4538952"/>
            <a:ext cx="1141616" cy="3440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LibFS-2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 User-Space NVM File Systems (1/2)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875C1C-B1DA-5A02-06B6-E1680C0E636A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4434A-4A0B-A8F2-DAD2-00C19CF35A25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074" name="Picture 2" descr="ACM SIGOPS">
              <a:extLst>
                <a:ext uri="{FF2B5EF4-FFF2-40B4-BE49-F238E27FC236}">
                  <a16:creationId xmlns:a16="http://schemas.microsoft.com/office/drawing/2014/main" id="{0E622242-85F4-12B9-3E10-65D529AEE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F62DD6C6-C1BF-70EC-59AB-27E0FF96BF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97C41-6327-6733-3C96-930B8FECBF75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F4C9B5E-E792-A0FC-777C-1990882E6148}"/>
              </a:ext>
            </a:extLst>
          </p:cNvPr>
          <p:cNvSpPr txBox="1"/>
          <p:nvPr/>
        </p:nvSpPr>
        <p:spPr>
          <a:xfrm>
            <a:off x="1883093" y="889844"/>
            <a:ext cx="721010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Advantages of User-Space NVM FS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绕过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直接访问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避免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开销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可定制化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负载优化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最大程度优化应用负载表现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无需特权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无需与可信实体耦合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无需编写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OS);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相互独立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定制化之间性能不会相互干扰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 Purpose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则不然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Challenges of User-Space NVM FS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攻击模型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假设硬件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内核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可信第三方是可信的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与应用不可信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技术挑战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应用能够直接访问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或应用可能会篡改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元数据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从而使用户态文件系统崩溃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9207DE-0744-35AB-A12E-CC76AA170AEC}"/>
              </a:ext>
            </a:extLst>
          </p:cNvPr>
          <p:cNvSpPr/>
          <p:nvPr/>
        </p:nvSpPr>
        <p:spPr>
          <a:xfrm>
            <a:off x="9489440" y="3233031"/>
            <a:ext cx="2452214" cy="3440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NVM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7A6FBC-21B5-0940-1DDE-AA223EFB18D0}"/>
              </a:ext>
            </a:extLst>
          </p:cNvPr>
          <p:cNvSpPr/>
          <p:nvPr/>
        </p:nvSpPr>
        <p:spPr>
          <a:xfrm>
            <a:off x="9489439" y="1952912"/>
            <a:ext cx="2452214" cy="5250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93B902-4F7A-48B6-1544-AE13FDC51D12}"/>
              </a:ext>
            </a:extLst>
          </p:cNvPr>
          <p:cNvSpPr/>
          <p:nvPr/>
        </p:nvSpPr>
        <p:spPr>
          <a:xfrm>
            <a:off x="9489440" y="1482198"/>
            <a:ext cx="1141616" cy="3440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LibFS-1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4BC509-2CDF-37FD-9387-A29A54238BC5}"/>
              </a:ext>
            </a:extLst>
          </p:cNvPr>
          <p:cNvSpPr/>
          <p:nvPr/>
        </p:nvSpPr>
        <p:spPr>
          <a:xfrm>
            <a:off x="9601199" y="2052884"/>
            <a:ext cx="729774" cy="327128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/>
              <a:t>inode</a:t>
            </a:r>
            <a:endParaRPr lang="zh-CN" altLang="en-US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55441A7-1FFC-3D62-66B9-58FF0B479280}"/>
              </a:ext>
            </a:extLst>
          </p:cNvPr>
          <p:cNvSpPr/>
          <p:nvPr/>
        </p:nvSpPr>
        <p:spPr>
          <a:xfrm>
            <a:off x="10464438" y="2052884"/>
            <a:ext cx="846534" cy="327128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 err="1"/>
              <a:t>dentry</a:t>
            </a:r>
            <a:endParaRPr lang="zh-CN" altLang="en-US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D7D2E4-6533-1772-2E5F-14F2708135FE}"/>
              </a:ext>
            </a:extLst>
          </p:cNvPr>
          <p:cNvSpPr/>
          <p:nvPr/>
        </p:nvSpPr>
        <p:spPr>
          <a:xfrm>
            <a:off x="11444438" y="2052884"/>
            <a:ext cx="348934" cy="327128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62D120-A2AF-B042-12E7-F1664D60174E}"/>
              </a:ext>
            </a:extLst>
          </p:cNvPr>
          <p:cNvSpPr/>
          <p:nvPr/>
        </p:nvSpPr>
        <p:spPr>
          <a:xfrm>
            <a:off x="9489439" y="2759117"/>
            <a:ext cx="2452214" cy="3440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VFS/Block Layer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E81D676-6BD9-BE61-1A86-787BB7F4F0AA}"/>
              </a:ext>
            </a:extLst>
          </p:cNvPr>
          <p:cNvCxnSpPr>
            <a:cxnSpLocks/>
          </p:cNvCxnSpPr>
          <p:nvPr/>
        </p:nvCxnSpPr>
        <p:spPr>
          <a:xfrm>
            <a:off x="9123680" y="2624671"/>
            <a:ext cx="2817973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A958C1A-4143-CFC7-2A6A-2BEE5CD3A07F}"/>
              </a:ext>
            </a:extLst>
          </p:cNvPr>
          <p:cNvSpPr/>
          <p:nvPr/>
        </p:nvSpPr>
        <p:spPr>
          <a:xfrm>
            <a:off x="9489439" y="1017227"/>
            <a:ext cx="2452214" cy="344087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Apps</a:t>
            </a:r>
            <a:endParaRPr lang="zh-CN" altLang="en-US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94A2ECD-E913-666E-52B4-470A188BDCE4}"/>
              </a:ext>
            </a:extLst>
          </p:cNvPr>
          <p:cNvSpPr txBox="1"/>
          <p:nvPr/>
        </p:nvSpPr>
        <p:spPr>
          <a:xfrm rot="16200000">
            <a:off x="8688407" y="2964187"/>
            <a:ext cx="1140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lang="zh-CN" altLang="en-US" sz="2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62A2572-1740-68F5-0EB8-52CA6019B0EE}"/>
              </a:ext>
            </a:extLst>
          </p:cNvPr>
          <p:cNvSpPr txBox="1"/>
          <p:nvPr/>
        </p:nvSpPr>
        <p:spPr>
          <a:xfrm rot="16200000">
            <a:off x="8496794" y="1573241"/>
            <a:ext cx="1512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User-Space</a:t>
            </a:r>
            <a:endParaRPr lang="zh-CN" altLang="en-US" sz="2000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9AEF7EE-2FA3-C032-69C4-4A4D744A7F94}"/>
              </a:ext>
            </a:extLst>
          </p:cNvPr>
          <p:cNvCxnSpPr/>
          <p:nvPr/>
        </p:nvCxnSpPr>
        <p:spPr>
          <a:xfrm flipV="1">
            <a:off x="11643360" y="2477938"/>
            <a:ext cx="0" cy="755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4DDC17B-7226-CCBA-2083-D2F637E219DF}"/>
              </a:ext>
            </a:extLst>
          </p:cNvPr>
          <p:cNvCxnSpPr/>
          <p:nvPr/>
        </p:nvCxnSpPr>
        <p:spPr>
          <a:xfrm flipV="1">
            <a:off x="9702800" y="2477938"/>
            <a:ext cx="0" cy="755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AB1EF93C-02DA-DAFC-2036-46D484496CD8}"/>
              </a:ext>
            </a:extLst>
          </p:cNvPr>
          <p:cNvSpPr/>
          <p:nvPr/>
        </p:nvSpPr>
        <p:spPr>
          <a:xfrm>
            <a:off x="9489439" y="6292986"/>
            <a:ext cx="2452214" cy="3440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NVM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9853951-AACA-18EA-6FF4-68B66C33F7E5}"/>
              </a:ext>
            </a:extLst>
          </p:cNvPr>
          <p:cNvSpPr/>
          <p:nvPr/>
        </p:nvSpPr>
        <p:spPr>
          <a:xfrm>
            <a:off x="9489438" y="5012867"/>
            <a:ext cx="2452214" cy="5250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A282F02-F612-BC3B-F6C7-5407D087A852}"/>
              </a:ext>
            </a:extLst>
          </p:cNvPr>
          <p:cNvSpPr/>
          <p:nvPr/>
        </p:nvSpPr>
        <p:spPr>
          <a:xfrm>
            <a:off x="9601198" y="5112839"/>
            <a:ext cx="729774" cy="32712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/>
              <a:t>xxx</a:t>
            </a:r>
            <a:endParaRPr lang="zh-CN" altLang="en-US" b="1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CC99B1B-A5F7-19A1-6C32-ACE1F722AEB9}"/>
              </a:ext>
            </a:extLst>
          </p:cNvPr>
          <p:cNvSpPr/>
          <p:nvPr/>
        </p:nvSpPr>
        <p:spPr>
          <a:xfrm>
            <a:off x="10464437" y="5112839"/>
            <a:ext cx="846534" cy="327128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 err="1"/>
              <a:t>dentry</a:t>
            </a:r>
            <a:endParaRPr lang="zh-CN" altLang="en-US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4348D9F-4B87-387F-072F-27FE6F6D501C}"/>
              </a:ext>
            </a:extLst>
          </p:cNvPr>
          <p:cNvSpPr/>
          <p:nvPr/>
        </p:nvSpPr>
        <p:spPr>
          <a:xfrm>
            <a:off x="11444437" y="5112839"/>
            <a:ext cx="348934" cy="327128"/>
          </a:xfrm>
          <a:prstGeom prst="rect">
            <a:avLst/>
          </a:prstGeom>
          <a:solidFill>
            <a:srgbClr val="1477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98C222B-550E-E331-FD9C-0F3FAFB407BF}"/>
              </a:ext>
            </a:extLst>
          </p:cNvPr>
          <p:cNvSpPr/>
          <p:nvPr/>
        </p:nvSpPr>
        <p:spPr>
          <a:xfrm>
            <a:off x="9489438" y="5819072"/>
            <a:ext cx="2452214" cy="3440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VFS/Block Layer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9D810DF-5871-01B1-2237-47CE24EFFE0B}"/>
              </a:ext>
            </a:extLst>
          </p:cNvPr>
          <p:cNvCxnSpPr>
            <a:cxnSpLocks/>
          </p:cNvCxnSpPr>
          <p:nvPr/>
        </p:nvCxnSpPr>
        <p:spPr>
          <a:xfrm>
            <a:off x="9123679" y="5684626"/>
            <a:ext cx="2817973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99DFC295-334C-1658-6A6B-151BEB4A68C7}"/>
              </a:ext>
            </a:extLst>
          </p:cNvPr>
          <p:cNvSpPr/>
          <p:nvPr/>
        </p:nvSpPr>
        <p:spPr>
          <a:xfrm>
            <a:off x="9489438" y="4077182"/>
            <a:ext cx="2452214" cy="344087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Apps</a:t>
            </a:r>
            <a:endParaRPr lang="zh-CN" altLang="en-US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2C05214-34C4-9385-72F5-BBA3761329DF}"/>
              </a:ext>
            </a:extLst>
          </p:cNvPr>
          <p:cNvSpPr txBox="1"/>
          <p:nvPr/>
        </p:nvSpPr>
        <p:spPr>
          <a:xfrm rot="16200000">
            <a:off x="8688406" y="6024142"/>
            <a:ext cx="1140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lang="zh-CN" altLang="en-US" sz="2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9E2AAF6-6347-CDC4-1A0F-C7CBF843A807}"/>
              </a:ext>
            </a:extLst>
          </p:cNvPr>
          <p:cNvSpPr txBox="1"/>
          <p:nvPr/>
        </p:nvSpPr>
        <p:spPr>
          <a:xfrm rot="16200000">
            <a:off x="8496793" y="4633196"/>
            <a:ext cx="1512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User-Space</a:t>
            </a:r>
            <a:endParaRPr lang="zh-CN" altLang="en-US" sz="2000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9B7400B-98CB-21D2-7ABC-D601C0ADE075}"/>
              </a:ext>
            </a:extLst>
          </p:cNvPr>
          <p:cNvCxnSpPr/>
          <p:nvPr/>
        </p:nvCxnSpPr>
        <p:spPr>
          <a:xfrm flipV="1">
            <a:off x="11643359" y="5537893"/>
            <a:ext cx="0" cy="755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37F4696-0EDD-3A22-EFD0-0D7FC6CD00DA}"/>
              </a:ext>
            </a:extLst>
          </p:cNvPr>
          <p:cNvCxnSpPr/>
          <p:nvPr/>
        </p:nvCxnSpPr>
        <p:spPr>
          <a:xfrm flipV="1">
            <a:off x="9702799" y="5537893"/>
            <a:ext cx="0" cy="755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8D84E26-A4FC-D8E1-BF8A-05AFDD9CFBEB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9966085" y="4427825"/>
            <a:ext cx="0" cy="6850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闪电形 53">
            <a:extLst>
              <a:ext uri="{FF2B5EF4-FFF2-40B4-BE49-F238E27FC236}">
                <a16:creationId xmlns:a16="http://schemas.microsoft.com/office/drawing/2014/main" id="{DA4BCC03-9D07-BE0F-4763-89AF09074221}"/>
              </a:ext>
            </a:extLst>
          </p:cNvPr>
          <p:cNvSpPr/>
          <p:nvPr/>
        </p:nvSpPr>
        <p:spPr>
          <a:xfrm>
            <a:off x="9033513" y="4375503"/>
            <a:ext cx="914400" cy="914400"/>
          </a:xfrm>
          <a:prstGeom prst="lightningBol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7BC0A74-CFE2-BDD0-13A6-F99223576B8F}"/>
              </a:ext>
            </a:extLst>
          </p:cNvPr>
          <p:cNvCxnSpPr>
            <a:cxnSpLocks/>
          </p:cNvCxnSpPr>
          <p:nvPr/>
        </p:nvCxnSpPr>
        <p:spPr>
          <a:xfrm>
            <a:off x="1846222" y="3813142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7C919B21-E0F4-C3F3-4511-C8BF4844A042}"/>
              </a:ext>
            </a:extLst>
          </p:cNvPr>
          <p:cNvSpPr/>
          <p:nvPr/>
        </p:nvSpPr>
        <p:spPr>
          <a:xfrm>
            <a:off x="10786665" y="1486768"/>
            <a:ext cx="1141616" cy="3440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LibFS-2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30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1361314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10224132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 User-Space NVM File Systems (2/2)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875C1C-B1DA-5A02-06B6-E1680C0E636A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74434A-4A0B-A8F2-DAD2-00C19CF35A25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3074" name="Picture 2" descr="ACM SIGOPS">
              <a:extLst>
                <a:ext uri="{FF2B5EF4-FFF2-40B4-BE49-F238E27FC236}">
                  <a16:creationId xmlns:a16="http://schemas.microsoft.com/office/drawing/2014/main" id="{0E622242-85F4-12B9-3E10-65D529AEE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F62DD6C6-C1BF-70EC-59AB-27E0FF96BF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97C41-6327-6733-3C96-930B8FECBF75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8E6BDCC-EF87-EAE8-12A0-567372E06118}"/>
              </a:ext>
            </a:extLst>
          </p:cNvPr>
          <p:cNvSpPr txBox="1"/>
          <p:nvPr/>
        </p:nvSpPr>
        <p:spPr>
          <a:xfrm>
            <a:off x="1883092" y="889844"/>
            <a:ext cx="1030890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Existing Solutions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请求中转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(Mediation):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进程处理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元数据更新请求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阻碍用户态文件系统定制化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需要可信权限设计元数据更新方式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直接修改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(Direct Access):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默认应用运行在可信环境中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不对元数据进行检查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这带来极大的安全性问题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F13F3FD-BF5C-5225-7C14-552A5E7243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1138"/>
          <a:stretch/>
        </p:blipFill>
        <p:spPr>
          <a:xfrm>
            <a:off x="3179884" y="3325632"/>
            <a:ext cx="3639162" cy="327705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F43FF40-1DA6-E577-AF14-DDE87958E1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364"/>
          <a:stretch/>
        </p:blipFill>
        <p:spPr>
          <a:xfrm>
            <a:off x="7858357" y="3197319"/>
            <a:ext cx="2450551" cy="327705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D8A26697-9175-CA84-AFB1-357300755C9D}"/>
              </a:ext>
            </a:extLst>
          </p:cNvPr>
          <p:cNvSpPr txBox="1"/>
          <p:nvPr/>
        </p:nvSpPr>
        <p:spPr>
          <a:xfrm>
            <a:off x="2028056" y="4962905"/>
            <a:ext cx="126434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性能问题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CEDAB42-94E4-6018-DE5E-A7AC9ADBB14E}"/>
              </a:ext>
            </a:extLst>
          </p:cNvPr>
          <p:cNvSpPr txBox="1"/>
          <p:nvPr/>
        </p:nvSpPr>
        <p:spPr>
          <a:xfrm>
            <a:off x="10841294" y="4962905"/>
            <a:ext cx="126434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安全问题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97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2402658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Motivation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FD996C8-0F85-E325-DE77-B572EC351B9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CEE85BA6-6DD7-AA93-F48E-53F2E6955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A0EF5E1E-AEFD-4E5F-03F4-F9D6E19B89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E372B0-3BF5-394D-BBA3-91F1D68FE5B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717C24E-5B09-C564-08F3-62E14D81A62F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62BD50A-DD11-92F0-5C27-9515F713A337}"/>
              </a:ext>
            </a:extLst>
          </p:cNvPr>
          <p:cNvSpPr txBox="1"/>
          <p:nvPr/>
        </p:nvSpPr>
        <p:spPr>
          <a:xfrm>
            <a:off x="1967867" y="858666"/>
            <a:ext cx="10137773" cy="9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现有用户态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文件系统要么无法保证高性能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要么安全性无法得到保证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如何设计一个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既高效又安全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的用户态文件系统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1F136AA-8ED0-EB19-FB83-B4652C064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867" y="3105999"/>
            <a:ext cx="9535856" cy="3372321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CCF3C47-391B-6A13-CF9E-C1677239B924}"/>
              </a:ext>
            </a:extLst>
          </p:cNvPr>
          <p:cNvSpPr/>
          <p:nvPr/>
        </p:nvSpPr>
        <p:spPr>
          <a:xfrm>
            <a:off x="8184972" y="3141250"/>
            <a:ext cx="3482639" cy="3372321"/>
          </a:xfrm>
          <a:prstGeom prst="roundRect">
            <a:avLst>
              <a:gd name="adj" fmla="val 3225"/>
            </a:avLst>
          </a:prstGeom>
          <a:noFill/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EC250C2-D3F2-6382-7417-21CD922ED2E4}"/>
              </a:ext>
            </a:extLst>
          </p:cNvPr>
          <p:cNvSpPr txBox="1"/>
          <p:nvPr/>
        </p:nvSpPr>
        <p:spPr>
          <a:xfrm>
            <a:off x="1967867" y="1912903"/>
            <a:ext cx="10224133" cy="980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避免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状态共享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最小化可信域从而最小化污染范围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避免请求中转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直接访问获取最大性能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③ 进行可信第三方验证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保证元数据安全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88C6B30-E71D-7CF3-9E81-1FF242B20671}"/>
              </a:ext>
            </a:extLst>
          </p:cNvPr>
          <p:cNvSpPr txBox="1"/>
          <p:nvPr/>
        </p:nvSpPr>
        <p:spPr>
          <a:xfrm>
            <a:off x="8556964" y="4367485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B2121ED-4568-EB13-25A7-58CB607A0ACC}"/>
              </a:ext>
            </a:extLst>
          </p:cNvPr>
          <p:cNvSpPr txBox="1"/>
          <p:nvPr/>
        </p:nvSpPr>
        <p:spPr>
          <a:xfrm>
            <a:off x="8556964" y="5862885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46C154E-4C16-069A-A86D-A83D200CD5D0}"/>
              </a:ext>
            </a:extLst>
          </p:cNvPr>
          <p:cNvSpPr txBox="1"/>
          <p:nvPr/>
        </p:nvSpPr>
        <p:spPr>
          <a:xfrm>
            <a:off x="11184546" y="5862885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58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TRIO Architecture (1/2)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29866A3-AC2F-2E36-EB6E-936F42F012CD}"/>
              </a:ext>
            </a:extLst>
          </p:cNvPr>
          <p:cNvSpPr txBox="1"/>
          <p:nvPr/>
        </p:nvSpPr>
        <p:spPr>
          <a:xfrm>
            <a:off x="1883092" y="889844"/>
            <a:ext cx="1030890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File System State Separation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固有状态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丢失后不可重建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(Layout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State: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辅助状态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丢失后可根据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(Bitmap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514D3B1-AAC5-92A6-A791-E2AB900BBE0D}"/>
              </a:ext>
            </a:extLst>
          </p:cNvPr>
          <p:cNvSpPr txBox="1"/>
          <p:nvPr/>
        </p:nvSpPr>
        <p:spPr>
          <a:xfrm>
            <a:off x="1883094" y="2834902"/>
            <a:ext cx="658301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Components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Per-APP 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避免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状态共享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定制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最小化可信域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Controller 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避免请求中转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共享资源访问控制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Verifier 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可信第三方元数据验证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完整性验证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A918933-3C67-7A60-17E1-E61B9442919A}"/>
              </a:ext>
            </a:extLst>
          </p:cNvPr>
          <p:cNvGrpSpPr/>
          <p:nvPr/>
        </p:nvGrpSpPr>
        <p:grpSpPr>
          <a:xfrm>
            <a:off x="8550882" y="3105999"/>
            <a:ext cx="3239399" cy="3372321"/>
            <a:chOff x="8264323" y="3105999"/>
            <a:chExt cx="3239399" cy="3372321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68DB52B5-15DB-8D44-5C4F-EE7ACBF4C4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6029"/>
            <a:stretch/>
          </p:blipFill>
          <p:spPr>
            <a:xfrm>
              <a:off x="8264323" y="3105999"/>
              <a:ext cx="3239399" cy="3372321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90C4950-FC34-1032-6CC4-73AF5EDBE566}"/>
                </a:ext>
              </a:extLst>
            </p:cNvPr>
            <p:cNvSpPr txBox="1"/>
            <p:nvPr/>
          </p:nvSpPr>
          <p:spPr>
            <a:xfrm>
              <a:off x="8556964" y="4367485"/>
              <a:ext cx="29892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①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F53D75F-7168-0058-3C4A-E683F8650949}"/>
                </a:ext>
              </a:extLst>
            </p:cNvPr>
            <p:cNvSpPr txBox="1"/>
            <p:nvPr/>
          </p:nvSpPr>
          <p:spPr>
            <a:xfrm>
              <a:off x="8556964" y="5862885"/>
              <a:ext cx="29892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②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978ED9E-3885-CBF5-AF40-D454D833D15A}"/>
                </a:ext>
              </a:extLst>
            </p:cNvPr>
            <p:cNvSpPr txBox="1"/>
            <p:nvPr/>
          </p:nvSpPr>
          <p:spPr>
            <a:xfrm>
              <a:off x="11184546" y="5862885"/>
              <a:ext cx="29892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③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483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TRIO 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(2/2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29866A3-AC2F-2E36-EB6E-936F42F012CD}"/>
              </a:ext>
            </a:extLst>
          </p:cNvPr>
          <p:cNvSpPr txBox="1"/>
          <p:nvPr/>
        </p:nvSpPr>
        <p:spPr>
          <a:xfrm>
            <a:off x="1883092" y="889844"/>
            <a:ext cx="10308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Basic Flow &amp; Secure Sharing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5709F7-77D5-07AB-9C6F-92EF58425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290" y="1655632"/>
            <a:ext cx="6749018" cy="35467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C3BDF7F-3AA9-3C7C-332B-71D43D17D35C}"/>
              </a:ext>
            </a:extLst>
          </p:cNvPr>
          <p:cNvSpPr txBox="1"/>
          <p:nvPr/>
        </p:nvSpPr>
        <p:spPr>
          <a:xfrm>
            <a:off x="4217297" y="2018717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映射资源前验证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7A9D6F-D875-C278-498E-021F50D900E0}"/>
              </a:ext>
            </a:extLst>
          </p:cNvPr>
          <p:cNvSpPr txBox="1"/>
          <p:nvPr/>
        </p:nvSpPr>
        <p:spPr>
          <a:xfrm>
            <a:off x="2137290" y="5472906"/>
            <a:ext cx="6749018" cy="121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请求、映射、重建、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解映射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避免可写资源共享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验证及污染修复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6A1D0D-68F0-E43A-BBA0-1D6B8CF9ED50}"/>
              </a:ext>
            </a:extLst>
          </p:cNvPr>
          <p:cNvSpPr txBox="1"/>
          <p:nvPr/>
        </p:nvSpPr>
        <p:spPr>
          <a:xfrm>
            <a:off x="6563361" y="4406377"/>
            <a:ext cx="21488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内核控制映射资源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58BBDF-2BAA-75AF-3B7D-1EE6AC102DE4}"/>
              </a:ext>
            </a:extLst>
          </p:cNvPr>
          <p:cNvSpPr txBox="1"/>
          <p:nvPr/>
        </p:nvSpPr>
        <p:spPr>
          <a:xfrm>
            <a:off x="2661920" y="4129378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(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可写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资源互斥共享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30D95DC-5C90-67E7-4F0E-CB75583D3259}"/>
              </a:ext>
            </a:extLst>
          </p:cNvPr>
          <p:cNvGrpSpPr/>
          <p:nvPr/>
        </p:nvGrpSpPr>
        <p:grpSpPr>
          <a:xfrm>
            <a:off x="9061889" y="3946081"/>
            <a:ext cx="3005528" cy="1571693"/>
            <a:chOff x="9186472" y="3106734"/>
            <a:chExt cx="3005528" cy="157169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6CC9E01-4EC1-C064-F718-5659AE84FE4D}"/>
                </a:ext>
              </a:extLst>
            </p:cNvPr>
            <p:cNvSpPr txBox="1"/>
            <p:nvPr/>
          </p:nvSpPr>
          <p:spPr>
            <a:xfrm>
              <a:off x="9186472" y="3352294"/>
              <a:ext cx="2989709" cy="1326133"/>
            </a:xfrm>
            <a:prstGeom prst="roundRect">
              <a:avLst>
                <a:gd name="adj" fmla="val 1008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Unintentional BUG?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b="1" dirty="0"/>
                <a:t>可以设计相应的</a:t>
              </a:r>
              <a:r>
                <a:rPr lang="en-US" altLang="zh-CN" b="1" dirty="0"/>
                <a:t>Core State</a:t>
              </a:r>
              <a:r>
                <a:rPr lang="zh-CN" altLang="en-US" b="1" dirty="0"/>
                <a:t>来验证并修复</a:t>
              </a:r>
              <a:r>
                <a:rPr lang="en-US" altLang="zh-CN" b="1" dirty="0"/>
                <a:t>!</a:t>
              </a:r>
              <a:endParaRPr lang="zh-CN" altLang="en-US" b="1" dirty="0"/>
            </a:p>
          </p:txBody>
        </p:sp>
        <p:pic>
          <p:nvPicPr>
            <p:cNvPr id="26" name="图形 25" descr="曲别针">
              <a:extLst>
                <a:ext uri="{FF2B5EF4-FFF2-40B4-BE49-F238E27FC236}">
                  <a16:creationId xmlns:a16="http://schemas.microsoft.com/office/drawing/2014/main" id="{32A4992B-EDC2-42FF-215F-4DF887CAF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813913" y="3106734"/>
              <a:ext cx="378087" cy="378087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7D4774-DDEC-529E-7E44-8E3CF51C2FC0}"/>
              </a:ext>
            </a:extLst>
          </p:cNvPr>
          <p:cNvGrpSpPr/>
          <p:nvPr/>
        </p:nvGrpSpPr>
        <p:grpSpPr>
          <a:xfrm>
            <a:off x="9061889" y="1901904"/>
            <a:ext cx="3005528" cy="1571693"/>
            <a:chOff x="9186472" y="3106734"/>
            <a:chExt cx="3005528" cy="157169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50897AD-59ED-A43E-AB55-C92E887E680C}"/>
                </a:ext>
              </a:extLst>
            </p:cNvPr>
            <p:cNvSpPr txBox="1"/>
            <p:nvPr/>
          </p:nvSpPr>
          <p:spPr>
            <a:xfrm>
              <a:off x="9186472" y="3352294"/>
              <a:ext cx="2989709" cy="1326133"/>
            </a:xfrm>
            <a:prstGeom prst="roundRect">
              <a:avLst>
                <a:gd name="adj" fmla="val 1008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Implementation?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b="1" dirty="0"/>
                <a:t>可以发现</a:t>
              </a:r>
              <a:r>
                <a:rPr lang="en-US" altLang="zh-CN" b="1" dirty="0"/>
                <a:t>TRIO</a:t>
              </a:r>
              <a:r>
                <a:rPr lang="zh-CN" altLang="en-US" b="1" dirty="0"/>
                <a:t>仍然沿用内存映射技术 </a:t>
              </a:r>
              <a:r>
                <a:rPr lang="en-US" altLang="zh-CN" b="1" dirty="0"/>
                <a:t>(SplitFS)</a:t>
              </a:r>
              <a:endParaRPr lang="zh-CN" altLang="en-US" b="1" dirty="0"/>
            </a:p>
          </p:txBody>
        </p:sp>
        <p:pic>
          <p:nvPicPr>
            <p:cNvPr id="29" name="图形 28" descr="曲别针">
              <a:extLst>
                <a:ext uri="{FF2B5EF4-FFF2-40B4-BE49-F238E27FC236}">
                  <a16:creationId xmlns:a16="http://schemas.microsoft.com/office/drawing/2014/main" id="{07227731-873E-95E8-5472-D6CE71BD5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813913" y="3106734"/>
              <a:ext cx="378087" cy="378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169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(1/4) – Overview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96DF8A4-3210-1500-3265-3D65E32B6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722" y="1070374"/>
            <a:ext cx="7000875" cy="3590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7ABB422-1BDA-B792-5637-1E592D8BACC3}"/>
              </a:ext>
            </a:extLst>
          </p:cNvPr>
          <p:cNvSpPr txBox="1"/>
          <p:nvPr/>
        </p:nvSpPr>
        <p:spPr>
          <a:xfrm>
            <a:off x="1926273" y="4895609"/>
            <a:ext cx="10137773" cy="197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提供最基本的文件系统语义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提供数据定位能力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但不提供数据组织能力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Controller: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资源管理能力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Verifier: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提供元数据验证能力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(Auxiliary State):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提供定制化能力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构建不同接口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 Mode: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本工作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仅保证元数据一致性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17C0AB-E996-85CD-08A8-52A023440AFB}"/>
              </a:ext>
            </a:extLst>
          </p:cNvPr>
          <p:cNvSpPr txBox="1"/>
          <p:nvPr/>
        </p:nvSpPr>
        <p:spPr>
          <a:xfrm>
            <a:off x="3473246" y="4156341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318799-6F0A-699B-EFBB-2BA8EAFB40D4}"/>
              </a:ext>
            </a:extLst>
          </p:cNvPr>
          <p:cNvSpPr txBox="1"/>
          <p:nvPr/>
        </p:nvSpPr>
        <p:spPr>
          <a:xfrm>
            <a:off x="3473245" y="3532840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73CB5AB-CD9E-DF92-CD63-7ACE0461560C}"/>
              </a:ext>
            </a:extLst>
          </p:cNvPr>
          <p:cNvSpPr txBox="1"/>
          <p:nvPr/>
        </p:nvSpPr>
        <p:spPr>
          <a:xfrm>
            <a:off x="9487964" y="2836519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B68C16-3130-6C8B-DF1C-846A44996C57}"/>
              </a:ext>
            </a:extLst>
          </p:cNvPr>
          <p:cNvSpPr txBox="1"/>
          <p:nvPr/>
        </p:nvSpPr>
        <p:spPr>
          <a:xfrm>
            <a:off x="3473245" y="2270244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76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6" y="68600"/>
            <a:ext cx="10224133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(2/4) – Core State &amp; Auxiliary State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3784C04-BE79-15FA-8F92-D4CDAF18A15A}"/>
              </a:ext>
            </a:extLst>
          </p:cNvPr>
          <p:cNvSpPr txBox="1"/>
          <p:nvPr/>
        </p:nvSpPr>
        <p:spPr>
          <a:xfrm>
            <a:off x="1926273" y="5730383"/>
            <a:ext cx="10137773" cy="825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保留数据定位能力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关键在于能够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定位文件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目录所有的数据</a:t>
            </a:r>
            <a:endParaRPr lang="en-US" altLang="zh-C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State: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提供的信息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使用适当结构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组织管理文件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目录的数据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61C5012-D8FF-6024-6725-7460E2134942}"/>
              </a:ext>
            </a:extLst>
          </p:cNvPr>
          <p:cNvGrpSpPr/>
          <p:nvPr/>
        </p:nvGrpSpPr>
        <p:grpSpPr>
          <a:xfrm>
            <a:off x="2032901" y="1038746"/>
            <a:ext cx="7000876" cy="4493958"/>
            <a:chOff x="3494722" y="1106595"/>
            <a:chExt cx="7000876" cy="449395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D60ABD5-58F6-6191-3929-0918C391F8EE}"/>
                </a:ext>
              </a:extLst>
            </p:cNvPr>
            <p:cNvGrpSpPr/>
            <p:nvPr/>
          </p:nvGrpSpPr>
          <p:grpSpPr>
            <a:xfrm>
              <a:off x="3494722" y="1106595"/>
              <a:ext cx="7000876" cy="4493958"/>
              <a:chOff x="3237864" y="1692226"/>
              <a:chExt cx="7000876" cy="4493958"/>
            </a:xfrm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319A554E-5E72-8230-697C-847F815075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6894"/>
              <a:stretch/>
            </p:blipFill>
            <p:spPr>
              <a:xfrm>
                <a:off x="3237864" y="1692226"/>
                <a:ext cx="7000875" cy="3751311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3B6C7BAA-A314-AFD3-99DC-413A866932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79372"/>
              <a:stretch/>
            </p:blipFill>
            <p:spPr>
              <a:xfrm>
                <a:off x="3237865" y="5445546"/>
                <a:ext cx="7000875" cy="74063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8938655-834A-C9E2-E124-40056685BD84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4510092"/>
              <a:ext cx="2397760" cy="51054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5F126CC-DB51-EB9A-0297-3E5920BEB1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1260" y="4494852"/>
              <a:ext cx="198120" cy="52578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B405F5-9EA8-8E3E-ADD8-7DD2005357DA}"/>
              </a:ext>
            </a:extLst>
          </p:cNvPr>
          <p:cNvGrpSpPr/>
          <p:nvPr/>
        </p:nvGrpSpPr>
        <p:grpSpPr>
          <a:xfrm>
            <a:off x="9246881" y="1192706"/>
            <a:ext cx="2764213" cy="1571693"/>
            <a:chOff x="9186472" y="3106734"/>
            <a:chExt cx="2764213" cy="1571693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963A273-B120-5EDA-0A58-4DAE82EC5744}"/>
                </a:ext>
              </a:extLst>
            </p:cNvPr>
            <p:cNvSpPr txBox="1"/>
            <p:nvPr/>
          </p:nvSpPr>
          <p:spPr>
            <a:xfrm>
              <a:off x="9186472" y="3352294"/>
              <a:ext cx="2656183" cy="1326133"/>
            </a:xfrm>
            <a:prstGeom prst="roundRect">
              <a:avLst>
                <a:gd name="adj" fmla="val 1008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Novelty?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b="1" dirty="0"/>
                <a:t>非常常规的设计</a:t>
              </a: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b="1" dirty="0"/>
                <a:t> </a:t>
              </a:r>
              <a:r>
                <a:rPr lang="zh-CN" altLang="en-US" b="1" dirty="0"/>
                <a:t>新在对文件系统</a:t>
              </a:r>
              <a:r>
                <a:rPr lang="en-US" altLang="zh-CN" b="1" dirty="0"/>
                <a:t>State</a:t>
              </a:r>
              <a:r>
                <a:rPr lang="zh-CN" altLang="en-US" b="1" dirty="0"/>
                <a:t>的划分</a:t>
              </a:r>
              <a:r>
                <a:rPr lang="en-US" altLang="zh-CN" b="1" dirty="0"/>
                <a:t>!</a:t>
              </a:r>
              <a:endParaRPr lang="zh-CN" altLang="en-US" b="1" dirty="0"/>
            </a:p>
          </p:txBody>
        </p:sp>
        <p:pic>
          <p:nvPicPr>
            <p:cNvPr id="53" name="图形 52" descr="曲别针">
              <a:extLst>
                <a:ext uri="{FF2B5EF4-FFF2-40B4-BE49-F238E27FC236}">
                  <a16:creationId xmlns:a16="http://schemas.microsoft.com/office/drawing/2014/main" id="{8A8DB38B-E68A-E893-7C55-BDC894B1E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572598" y="3106734"/>
              <a:ext cx="378087" cy="378087"/>
            </a:xfrm>
            <a:prstGeom prst="rect">
              <a:avLst/>
            </a:prstGeom>
          </p:spPr>
        </p:pic>
      </p:grpSp>
      <p:sp>
        <p:nvSpPr>
          <p:cNvPr id="51" name="椭圆 50">
            <a:extLst>
              <a:ext uri="{FF2B5EF4-FFF2-40B4-BE49-F238E27FC236}">
                <a16:creationId xmlns:a16="http://schemas.microsoft.com/office/drawing/2014/main" id="{95AEEED0-A40B-7DE8-A04F-76A48305EF67}"/>
              </a:ext>
            </a:extLst>
          </p:cNvPr>
          <p:cNvSpPr/>
          <p:nvPr/>
        </p:nvSpPr>
        <p:spPr>
          <a:xfrm>
            <a:off x="2142836" y="1227439"/>
            <a:ext cx="905164" cy="3319213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3C96127-DAFE-FC4E-D143-D6F4E7DF9706}"/>
              </a:ext>
            </a:extLst>
          </p:cNvPr>
          <p:cNvGrpSpPr/>
          <p:nvPr/>
        </p:nvGrpSpPr>
        <p:grpSpPr>
          <a:xfrm>
            <a:off x="9268357" y="3266493"/>
            <a:ext cx="2764213" cy="1864765"/>
            <a:chOff x="9186472" y="3106734"/>
            <a:chExt cx="2764213" cy="1864765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4E59D0F-ECAC-B456-5F3E-824D99D3E391}"/>
                </a:ext>
              </a:extLst>
            </p:cNvPr>
            <p:cNvSpPr txBox="1"/>
            <p:nvPr/>
          </p:nvSpPr>
          <p:spPr>
            <a:xfrm>
              <a:off x="9186472" y="3352294"/>
              <a:ext cx="2656183" cy="1619205"/>
            </a:xfrm>
            <a:prstGeom prst="roundRect">
              <a:avLst>
                <a:gd name="adj" fmla="val 793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WOFS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1" dirty="0"/>
                <a:t>WOFS</a:t>
              </a:r>
              <a:r>
                <a:rPr lang="zh-CN" altLang="en-US" b="1" dirty="0"/>
                <a:t>的</a:t>
              </a:r>
              <a:r>
                <a:rPr lang="en-US" altLang="zh-CN" b="1" dirty="0"/>
                <a:t>Core State</a:t>
              </a:r>
              <a:r>
                <a:rPr lang="zh-CN" altLang="en-US" b="1" dirty="0"/>
                <a:t>不具备</a:t>
              </a:r>
              <a:r>
                <a:rPr lang="zh-CN" altLang="en-US" b="1" dirty="0">
                  <a:solidFill>
                    <a:srgbClr val="C00000"/>
                  </a:solidFill>
                </a:rPr>
                <a:t>定位</a:t>
              </a:r>
              <a:r>
                <a:rPr lang="zh-CN" altLang="en-US" b="1" dirty="0"/>
                <a:t>能力</a:t>
              </a:r>
              <a:r>
                <a: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b="1" dirty="0"/>
                <a:t> </a:t>
              </a:r>
              <a:r>
                <a:rPr lang="zh-CN" altLang="en-US" b="1" dirty="0"/>
                <a:t>通过</a:t>
              </a:r>
              <a:r>
                <a:rPr lang="en-US" altLang="zh-CN" b="1" dirty="0"/>
                <a:t>PTL</a:t>
              </a:r>
              <a:r>
                <a:rPr lang="zh-CN" altLang="en-US" b="1" dirty="0"/>
                <a:t>还原</a:t>
              </a:r>
              <a:r>
                <a:rPr lang="en-US" altLang="zh-CN" b="1" dirty="0"/>
                <a:t>Comp. Core State.</a:t>
              </a:r>
              <a:endParaRPr lang="zh-CN" altLang="en-US" b="1" dirty="0"/>
            </a:p>
          </p:txBody>
        </p:sp>
        <p:pic>
          <p:nvPicPr>
            <p:cNvPr id="61" name="图形 60" descr="曲别针">
              <a:extLst>
                <a:ext uri="{FF2B5EF4-FFF2-40B4-BE49-F238E27FC236}">
                  <a16:creationId xmlns:a16="http://schemas.microsoft.com/office/drawing/2014/main" id="{D0878177-C560-F325-52A4-8303A5A8F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572598" y="3106734"/>
              <a:ext cx="378087" cy="378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020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6" y="68600"/>
            <a:ext cx="10224133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(3/4) – Verifier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9D31C76-FD2D-27BE-4CDF-4D62B4E92425}"/>
              </a:ext>
            </a:extLst>
          </p:cNvPr>
          <p:cNvSpPr txBox="1"/>
          <p:nvPr/>
        </p:nvSpPr>
        <p:spPr>
          <a:xfrm>
            <a:off x="1883092" y="889843"/>
            <a:ext cx="1030890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Inode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Dirent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字段有效性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文件类型有效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同目录下没有重名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Dirent;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“/”.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File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的数据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元数据有效性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Controller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维护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元数据分配信息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map/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更新这些信息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Verifier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根据这些信息检测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Directory Hierarchy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没有孤儿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检查当前目录下是否存在已被删除的子目录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并且保证该子目录不会被映射到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权限检测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可以直接篡改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权限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Inode Table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恢复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权限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需要使用请求内核进行修改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D54E46-C1BA-817A-8337-208757A73744}"/>
              </a:ext>
            </a:extLst>
          </p:cNvPr>
          <p:cNvSpPr txBox="1"/>
          <p:nvPr/>
        </p:nvSpPr>
        <p:spPr>
          <a:xfrm>
            <a:off x="7333117" y="328143"/>
            <a:ext cx="465053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是否被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恶意篡改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55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6" y="68600"/>
            <a:ext cx="10224133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(4/4) – Implementation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FD41B71-F8F4-50FA-3CC8-15CAD88E8149}"/>
              </a:ext>
            </a:extLst>
          </p:cNvPr>
          <p:cNvSpPr txBox="1"/>
          <p:nvPr/>
        </p:nvSpPr>
        <p:spPr>
          <a:xfrm>
            <a:off x="1883092" y="889844"/>
            <a:ext cx="1030890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Multicore Scalability 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细粒度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锁与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Per-CPU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Adapting to Optane DCPMM (Interesting)</a:t>
            </a: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OdinFS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Opportunistic Delegation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技术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分散到多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节点上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缓解单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压力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AE117FA-6D5C-F5F8-46E6-D6EBB7EEA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018" y="3495516"/>
            <a:ext cx="5140293" cy="321177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62406DBD-7101-0F24-B942-E91ED3A97793}"/>
              </a:ext>
            </a:extLst>
          </p:cNvPr>
          <p:cNvGrpSpPr/>
          <p:nvPr/>
        </p:nvGrpSpPr>
        <p:grpSpPr>
          <a:xfrm>
            <a:off x="8390356" y="3514634"/>
            <a:ext cx="3300076" cy="3037055"/>
            <a:chOff x="9186472" y="3106734"/>
            <a:chExt cx="2764213" cy="3037055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05F8F35-2D95-57E1-5A0A-2944588FB184}"/>
                </a:ext>
              </a:extLst>
            </p:cNvPr>
            <p:cNvSpPr txBox="1"/>
            <p:nvPr/>
          </p:nvSpPr>
          <p:spPr>
            <a:xfrm>
              <a:off x="9186472" y="3352294"/>
              <a:ext cx="2656183" cy="2791495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OdinFS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b="1" dirty="0"/>
                <a:t>这里非常有意思的事情在于很可能性能优势主要来自于</a:t>
              </a:r>
              <a:r>
                <a:rPr lang="en-US" altLang="zh-CN" b="1" dirty="0"/>
                <a:t>Opportunistic Delegation,</a:t>
              </a:r>
              <a:r>
                <a:rPr lang="zh-CN" altLang="en-US" b="1" dirty="0"/>
                <a:t> </a:t>
              </a:r>
              <a:r>
                <a:rPr lang="zh-CN" altLang="en-US" b="1" dirty="0">
                  <a:solidFill>
                    <a:srgbClr val="C00000"/>
                  </a:solidFill>
                </a:rPr>
                <a:t>而非用户态文件系统</a:t>
              </a:r>
              <a:r>
                <a:rPr lang="en-US" altLang="zh-CN" b="1" dirty="0"/>
                <a:t>.</a:t>
              </a:r>
            </a:p>
            <a:p>
              <a:endParaRPr lang="en-US" altLang="zh-CN" b="1" dirty="0"/>
            </a:p>
            <a:p>
              <a:r>
                <a:rPr lang="zh-CN" altLang="en-US" b="1" dirty="0"/>
                <a:t>后续</a:t>
              </a:r>
              <a:r>
                <a:rPr lang="en-US" altLang="zh-CN" b="1" dirty="0"/>
                <a:t>Data Op</a:t>
              </a:r>
              <a:r>
                <a:rPr lang="zh-CN" altLang="en-US" b="1" dirty="0"/>
                <a:t>测试结果也从很大程度反映了这个事实</a:t>
              </a:r>
              <a:r>
                <a:rPr lang="en-US" altLang="zh-CN" b="1" dirty="0"/>
                <a:t>.</a:t>
              </a:r>
              <a:endParaRPr lang="zh-CN" altLang="en-US" b="1" dirty="0"/>
            </a:p>
          </p:txBody>
        </p:sp>
        <p:pic>
          <p:nvPicPr>
            <p:cNvPr id="28" name="图形 27" descr="曲别针">
              <a:extLst>
                <a:ext uri="{FF2B5EF4-FFF2-40B4-BE49-F238E27FC236}">
                  <a16:creationId xmlns:a16="http://schemas.microsoft.com/office/drawing/2014/main" id="{2B297C74-9EA6-7EEA-E287-13B7DC213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72598" y="3106734"/>
              <a:ext cx="378087" cy="378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929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5819" y="3671340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KVFS &amp; FPFS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ECC5-BBDD-A531-5375-C2EFF3A38067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18ACC0AF-F3A2-F782-D51C-99AE0EEB2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4E3D09-E9C5-0EC7-D07A-9B02100F0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A13750-CBCE-4F90-4A93-95018A64F104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262E0EC-1138-E2D3-759A-0432177C7D6E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EE05571-4D48-1DE0-8BAC-9E0F19ED9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722" y="1070374"/>
            <a:ext cx="7000875" cy="3590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72F6EE-D987-97A4-53E7-F42598EF66A8}"/>
              </a:ext>
            </a:extLst>
          </p:cNvPr>
          <p:cNvSpPr txBox="1"/>
          <p:nvPr/>
        </p:nvSpPr>
        <p:spPr>
          <a:xfrm>
            <a:off x="1926273" y="4895609"/>
            <a:ext cx="10137773" cy="121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定制化能力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同一个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State)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KVFS: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针对小文件负载优化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线性表索引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get/set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特定文件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无需维护文件描述符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FPFS: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针对深目录负载优化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full-path indexing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能力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可快速查询文件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5C3EC2-A380-485D-F1EB-ADD4DE9E881E}"/>
              </a:ext>
            </a:extLst>
          </p:cNvPr>
          <p:cNvSpPr txBox="1"/>
          <p:nvPr/>
        </p:nvSpPr>
        <p:spPr>
          <a:xfrm>
            <a:off x="6391937" y="1230776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936868-F2B1-6E18-F33F-6EF3C0E78C5C}"/>
              </a:ext>
            </a:extLst>
          </p:cNvPr>
          <p:cNvSpPr txBox="1"/>
          <p:nvPr/>
        </p:nvSpPr>
        <p:spPr>
          <a:xfrm>
            <a:off x="7902974" y="1227420"/>
            <a:ext cx="298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40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Experiment Setup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A3CC542-7556-E385-DC92-2C09BA8604C9}"/>
              </a:ext>
            </a:extLst>
          </p:cNvPr>
          <p:cNvSpPr txBox="1"/>
          <p:nvPr/>
        </p:nvSpPr>
        <p:spPr>
          <a:xfrm>
            <a:off x="1883092" y="889843"/>
            <a:ext cx="103089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TiB Intel® Optane™ Persistent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224-core Intel Xeon Platinum 8276L (8 sockets, aka, NUMA)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 5.13.13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20.04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4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Single-Thread Performance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E49A70B4-234E-D36E-0134-649D60C9C1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723"/>
          <a:stretch/>
        </p:blipFill>
        <p:spPr>
          <a:xfrm>
            <a:off x="2051914" y="1142834"/>
            <a:ext cx="6143625" cy="4078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95D13A7-FE31-CAF3-552C-27125A107251}"/>
              </a:ext>
            </a:extLst>
          </p:cNvPr>
          <p:cNvSpPr txBox="1"/>
          <p:nvPr/>
        </p:nvSpPr>
        <p:spPr>
          <a:xfrm>
            <a:off x="1926273" y="5344720"/>
            <a:ext cx="10137773" cy="12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图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&amp; (b):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块时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ArckFS-nd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更快是因为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delegation 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需要进程间通信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2MB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更快是因为直接数据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元数据访问以及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delegation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带来的并行写入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图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&amp; (d):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更快，得益于直接用户态元数据修改。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3C0AA81-9E5A-54EC-C62D-24E078D5CA93}"/>
              </a:ext>
            </a:extLst>
          </p:cNvPr>
          <p:cNvGrpSpPr/>
          <p:nvPr/>
        </p:nvGrpSpPr>
        <p:grpSpPr>
          <a:xfrm>
            <a:off x="8618246" y="1385820"/>
            <a:ext cx="3043680" cy="1278621"/>
            <a:chOff x="9186472" y="3106734"/>
            <a:chExt cx="2764213" cy="1278621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AB744B2-0157-D015-0B13-1257B2C2BA2F}"/>
                </a:ext>
              </a:extLst>
            </p:cNvPr>
            <p:cNvSpPr txBox="1"/>
            <p:nvPr/>
          </p:nvSpPr>
          <p:spPr>
            <a:xfrm>
              <a:off x="9186472" y="3352294"/>
              <a:ext cx="2656183" cy="1033061"/>
            </a:xfrm>
            <a:prstGeom prst="roundRect">
              <a:avLst>
                <a:gd name="adj" fmla="val 1008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ArckFS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-ND?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1" dirty="0" err="1"/>
                <a:t>ArckFS</a:t>
              </a:r>
              <a:r>
                <a:rPr lang="zh-CN" altLang="en-US" b="1" dirty="0"/>
                <a:t>不做</a:t>
              </a:r>
              <a:r>
                <a:rPr lang="en-US" altLang="zh-CN" b="1" dirty="0"/>
                <a:t>Delegation</a:t>
              </a:r>
              <a:endParaRPr lang="zh-CN" altLang="en-US" b="1" dirty="0"/>
            </a:p>
          </p:txBody>
        </p:sp>
        <p:pic>
          <p:nvPicPr>
            <p:cNvPr id="28" name="图形 27" descr="曲别针">
              <a:extLst>
                <a:ext uri="{FF2B5EF4-FFF2-40B4-BE49-F238E27FC236}">
                  <a16:creationId xmlns:a16="http://schemas.microsoft.com/office/drawing/2014/main" id="{D55DC2B7-E6EB-0A90-2B27-AC2D2948F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72598" y="3106734"/>
              <a:ext cx="378087" cy="378087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C54ED61-ED72-8D37-17DC-56DA61758C1A}"/>
              </a:ext>
            </a:extLst>
          </p:cNvPr>
          <p:cNvGrpSpPr/>
          <p:nvPr/>
        </p:nvGrpSpPr>
        <p:grpSpPr>
          <a:xfrm>
            <a:off x="8639722" y="3022923"/>
            <a:ext cx="3043680" cy="1835164"/>
            <a:chOff x="9186472" y="3106734"/>
            <a:chExt cx="2764213" cy="1835164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50C33FB-85CF-C116-CE10-43A9C0F36350}"/>
                </a:ext>
              </a:extLst>
            </p:cNvPr>
            <p:cNvSpPr txBox="1"/>
            <p:nvPr/>
          </p:nvSpPr>
          <p:spPr>
            <a:xfrm>
              <a:off x="9186472" y="3352294"/>
              <a:ext cx="2656183" cy="1589604"/>
            </a:xfrm>
            <a:prstGeom prst="roundRect">
              <a:avLst>
                <a:gd name="adj" fmla="val 793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108000" tIns="72000" rIns="108000" bIns="7200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Metadata?</a:t>
              </a:r>
            </a:p>
            <a:p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1" dirty="0" err="1"/>
                <a:t>ArckFS</a:t>
              </a:r>
              <a:r>
                <a:rPr lang="zh-CN" altLang="en-US" b="1" dirty="0"/>
                <a:t>对小 </a:t>
              </a:r>
              <a:r>
                <a:rPr lang="en-US" altLang="zh-CN" b="1" dirty="0"/>
                <a:t>(</a:t>
              </a:r>
              <a:r>
                <a:rPr lang="zh-CN" altLang="en-US" b="1" dirty="0"/>
                <a:t>元</a:t>
              </a:r>
              <a:r>
                <a:rPr lang="en-US" altLang="zh-CN" b="1" dirty="0"/>
                <a:t>) </a:t>
              </a:r>
              <a:r>
                <a:rPr lang="zh-CN" altLang="en-US" b="1" dirty="0"/>
                <a:t>数据不做</a:t>
              </a:r>
              <a:r>
                <a:rPr lang="en-US" altLang="zh-CN" b="1" dirty="0"/>
                <a:t>Delegation, </a:t>
              </a:r>
              <a:r>
                <a:rPr lang="zh-CN" altLang="en-US" b="1" dirty="0"/>
                <a:t>因为通信开销占比高</a:t>
              </a:r>
              <a:r>
                <a:rPr lang="en-US" altLang="zh-CN" b="1" dirty="0"/>
                <a:t>, </a:t>
              </a:r>
              <a:r>
                <a:rPr lang="zh-CN" altLang="en-US" b="1" dirty="0"/>
                <a:t>性能收益不高</a:t>
              </a:r>
              <a:r>
                <a:rPr lang="en-US" altLang="zh-CN" b="1" dirty="0"/>
                <a:t>.</a:t>
              </a:r>
              <a:endParaRPr lang="zh-CN" altLang="en-US" b="1" dirty="0"/>
            </a:p>
          </p:txBody>
        </p:sp>
        <p:pic>
          <p:nvPicPr>
            <p:cNvPr id="31" name="图形 30" descr="曲别针">
              <a:extLst>
                <a:ext uri="{FF2B5EF4-FFF2-40B4-BE49-F238E27FC236}">
                  <a16:creationId xmlns:a16="http://schemas.microsoft.com/office/drawing/2014/main" id="{674332D7-DDE9-9832-B7AF-5F57330EA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72598" y="3106734"/>
              <a:ext cx="378087" cy="3780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4957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Data Operation Performance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95D13A7-FE31-CAF3-552C-27125A107251}"/>
              </a:ext>
            </a:extLst>
          </p:cNvPr>
          <p:cNvSpPr txBox="1"/>
          <p:nvPr/>
        </p:nvSpPr>
        <p:spPr>
          <a:xfrm>
            <a:off x="1926273" y="5344720"/>
            <a:ext cx="10137773" cy="121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图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(a)-(d):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 Node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提升比较小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主要性能提升来自于用户态直接访问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图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(e)-(h):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NUMA Node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OdinFS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远超其他的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是因为用了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delegation,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但是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OdinFS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更快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这得益于用户态的直接访问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BDB3047-2EE7-DF63-C94F-6CC4485529EE}"/>
              </a:ext>
            </a:extLst>
          </p:cNvPr>
          <p:cNvGrpSpPr/>
          <p:nvPr/>
        </p:nvGrpSpPr>
        <p:grpSpPr>
          <a:xfrm>
            <a:off x="2227421" y="1381993"/>
            <a:ext cx="9535476" cy="3257552"/>
            <a:chOff x="1938279" y="1381993"/>
            <a:chExt cx="9535476" cy="325755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33D79E0-C0FE-7D29-654A-A83108137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5525"/>
            <a:stretch/>
          </p:blipFill>
          <p:spPr>
            <a:xfrm>
              <a:off x="1938279" y="1381993"/>
              <a:ext cx="4743450" cy="32575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A0B8D1B-0139-2CCF-F838-7D7700959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6030" y="1381995"/>
              <a:ext cx="4657725" cy="32575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60D6C10D-A3C3-8823-E4F4-8C3C796456FC}"/>
              </a:ext>
            </a:extLst>
          </p:cNvPr>
          <p:cNvSpPr txBox="1"/>
          <p:nvPr/>
        </p:nvSpPr>
        <p:spPr>
          <a:xfrm>
            <a:off x="3262258" y="4732073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8E992C-919D-8B3E-7884-592EEBA1807E}"/>
              </a:ext>
            </a:extLst>
          </p:cNvPr>
          <p:cNvSpPr txBox="1"/>
          <p:nvPr/>
        </p:nvSpPr>
        <p:spPr>
          <a:xfrm>
            <a:off x="8252875" y="4732073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八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63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Scalability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2A603EC-266F-0FC6-8C0C-518FF6560E07}"/>
              </a:ext>
            </a:extLst>
          </p:cNvPr>
          <p:cNvSpPr txBox="1"/>
          <p:nvPr/>
        </p:nvSpPr>
        <p:spPr>
          <a:xfrm>
            <a:off x="1926273" y="5898411"/>
            <a:ext cx="10137773" cy="8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FxMark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测试结果表明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的元数据操作可拓展性很好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这得益于其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用户态元数据直接访问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避免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VFS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瓶颈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细粒度锁结构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59D1C60-73C5-4371-3DE4-E8D4FA0E0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701" y="1174453"/>
            <a:ext cx="9360339" cy="45090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4137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Sharing Cost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0E368320-F044-EFBE-F40A-E713CB541C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46"/>
          <a:stretch/>
        </p:blipFill>
        <p:spPr>
          <a:xfrm>
            <a:off x="2099010" y="856212"/>
            <a:ext cx="9730313" cy="277422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C542A3E-A466-C17E-63F6-C3D664E3D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0035" y="3840196"/>
            <a:ext cx="4453423" cy="27613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8F53A53-04AF-3254-B0E5-DE6A60EA5CD4}"/>
              </a:ext>
            </a:extLst>
          </p:cNvPr>
          <p:cNvSpPr txBox="1"/>
          <p:nvPr/>
        </p:nvSpPr>
        <p:spPr>
          <a:xfrm>
            <a:off x="6845627" y="3831344"/>
            <a:ext cx="4983696" cy="2755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Share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同一个文件的开销研究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性能开销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下降极为严重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Trust-Group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从而避免验证开销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开销分解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数据场景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开销来自于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元数据场景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开销来自于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Verifier.</a:t>
            </a:r>
          </a:p>
        </p:txBody>
      </p:sp>
    </p:spTree>
    <p:extLst>
      <p:ext uri="{BB962C8B-B14F-4D97-AF65-F5344CB8AC3E}">
        <p14:creationId xmlns:p14="http://schemas.microsoft.com/office/powerpoint/2010/main" val="2364560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4025CD-273F-43FC-9642-5C28DB00DF30}"/>
              </a:ext>
            </a:extLst>
          </p:cNvPr>
          <p:cNvSpPr/>
          <p:nvPr/>
        </p:nvSpPr>
        <p:spPr>
          <a:xfrm>
            <a:off x="0" y="0"/>
            <a:ext cx="1798320" cy="6858000"/>
          </a:xfrm>
          <a:prstGeom prst="rect">
            <a:avLst/>
          </a:prstGeom>
          <a:solidFill>
            <a:srgbClr val="BECFE3"/>
          </a:solidFill>
          <a:ln>
            <a:solidFill>
              <a:srgbClr val="10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049414A-D3C2-496B-BE6A-55B61B873B01}"/>
              </a:ext>
            </a:extLst>
          </p:cNvPr>
          <p:cNvGrpSpPr/>
          <p:nvPr/>
        </p:nvGrpSpPr>
        <p:grpSpPr>
          <a:xfrm>
            <a:off x="1" y="4707629"/>
            <a:ext cx="1967865" cy="762000"/>
            <a:chOff x="0" y="772160"/>
            <a:chExt cx="2737505" cy="762000"/>
          </a:xfrm>
          <a:solidFill>
            <a:srgbClr val="1477AE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4DBDBF9-E996-45EF-9766-9E6BDE6959B5}"/>
                </a:ext>
              </a:extLst>
            </p:cNvPr>
            <p:cNvSpPr/>
            <p:nvPr/>
          </p:nvSpPr>
          <p:spPr>
            <a:xfrm>
              <a:off x="0" y="772160"/>
              <a:ext cx="2509520" cy="762000"/>
            </a:xfrm>
            <a:prstGeom prst="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8B2B1E42-7366-4E71-9CF0-92AF6BAC1FEC}"/>
                </a:ext>
              </a:extLst>
            </p:cNvPr>
            <p:cNvSpPr/>
            <p:nvPr/>
          </p:nvSpPr>
          <p:spPr>
            <a:xfrm rot="5400000">
              <a:off x="2491281" y="1039167"/>
              <a:ext cx="264463" cy="22798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0C4CFCB-4954-476A-A49C-D3EAD5DEF1AD}"/>
              </a:ext>
            </a:extLst>
          </p:cNvPr>
          <p:cNvSpPr txBox="1"/>
          <p:nvPr/>
        </p:nvSpPr>
        <p:spPr>
          <a:xfrm>
            <a:off x="-5657" y="1388371"/>
            <a:ext cx="1803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Background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4D8290-8532-4B16-9CC6-78BD675A1572}"/>
              </a:ext>
            </a:extLst>
          </p:cNvPr>
          <p:cNvSpPr txBox="1"/>
          <p:nvPr/>
        </p:nvSpPr>
        <p:spPr>
          <a:xfrm>
            <a:off x="86360" y="2549105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110CD-708F-4815-85CC-98B0CCB04100}"/>
              </a:ext>
            </a:extLst>
          </p:cNvPr>
          <p:cNvSpPr txBox="1"/>
          <p:nvPr/>
        </p:nvSpPr>
        <p:spPr>
          <a:xfrm>
            <a:off x="-5657" y="3709839"/>
            <a:ext cx="180963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9E3DAC-1274-4687-AB08-FE9BF3BA2907}"/>
              </a:ext>
            </a:extLst>
          </p:cNvPr>
          <p:cNvSpPr txBox="1"/>
          <p:nvPr/>
        </p:nvSpPr>
        <p:spPr>
          <a:xfrm>
            <a:off x="86360" y="4870573"/>
            <a:ext cx="1711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F92A2F-1801-6CEA-C605-D5D6C0FDBA14}"/>
              </a:ext>
            </a:extLst>
          </p:cNvPr>
          <p:cNvSpPr txBox="1">
            <a:spLocks/>
          </p:cNvSpPr>
          <p:nvPr/>
        </p:nvSpPr>
        <p:spPr>
          <a:xfrm>
            <a:off x="1967867" y="68600"/>
            <a:ext cx="8596786" cy="688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Macrobenchmark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Real-World App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1D34BA-C1D7-D3CB-3D90-3CE5909692D7}"/>
              </a:ext>
            </a:extLst>
          </p:cNvPr>
          <p:cNvSpPr txBox="1"/>
          <p:nvPr/>
        </p:nvSpPr>
        <p:spPr>
          <a:xfrm>
            <a:off x="0" y="65240"/>
            <a:ext cx="179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i="0" dirty="0">
                <a:solidFill>
                  <a:srgbClr val="1079B1"/>
                </a:solidFill>
                <a:effectLst/>
                <a:latin typeface="OpenSans"/>
              </a:rPr>
              <a:t>SOSP’23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93FA41-FC82-AA44-AA82-BC691FC70E01}"/>
              </a:ext>
            </a:extLst>
          </p:cNvPr>
          <p:cNvGrpSpPr/>
          <p:nvPr/>
        </p:nvGrpSpPr>
        <p:grpSpPr>
          <a:xfrm>
            <a:off x="213105" y="5691764"/>
            <a:ext cx="1440000" cy="1100582"/>
            <a:chOff x="213105" y="5691764"/>
            <a:chExt cx="1440000" cy="1100582"/>
          </a:xfrm>
        </p:grpSpPr>
        <p:pic>
          <p:nvPicPr>
            <p:cNvPr id="6" name="Picture 2" descr="ACM SIGOPS">
              <a:extLst>
                <a:ext uri="{FF2B5EF4-FFF2-40B4-BE49-F238E27FC236}">
                  <a16:creationId xmlns:a16="http://schemas.microsoft.com/office/drawing/2014/main" id="{E0E93603-ACBD-E87E-DDEA-4BB5D2D98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5691764"/>
              <a:ext cx="1440000" cy="494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Blacks In Technology announces partnership with USENIX - Blacks In Technology">
              <a:extLst>
                <a:ext uri="{FF2B5EF4-FFF2-40B4-BE49-F238E27FC236}">
                  <a16:creationId xmlns:a16="http://schemas.microsoft.com/office/drawing/2014/main" id="{CE2938CD-05B0-9A08-3721-7CEEEFC1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05" y="6331095"/>
              <a:ext cx="1440000" cy="461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0A9D198-6D15-7F8B-0BC2-DEB2701F7B8F}"/>
              </a:ext>
            </a:extLst>
          </p:cNvPr>
          <p:cNvCxnSpPr>
            <a:cxnSpLocks/>
          </p:cNvCxnSpPr>
          <p:nvPr/>
        </p:nvCxnSpPr>
        <p:spPr>
          <a:xfrm>
            <a:off x="1798320" y="776810"/>
            <a:ext cx="1039368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975AB1D-3CC6-1BB0-B4A8-6126A7D94933}"/>
              </a:ext>
            </a:extLst>
          </p:cNvPr>
          <p:cNvCxnSpPr>
            <a:cxnSpLocks/>
          </p:cNvCxnSpPr>
          <p:nvPr/>
        </p:nvCxnSpPr>
        <p:spPr>
          <a:xfrm>
            <a:off x="0" y="776810"/>
            <a:ext cx="1798320" cy="0"/>
          </a:xfrm>
          <a:prstGeom prst="line">
            <a:avLst/>
          </a:prstGeom>
          <a:ln w="28575">
            <a:solidFill>
              <a:srgbClr val="1079B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DB3DAA45-39B3-6919-1312-637836B76B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958"/>
          <a:stretch/>
        </p:blipFill>
        <p:spPr>
          <a:xfrm>
            <a:off x="2163106" y="925976"/>
            <a:ext cx="4133466" cy="58634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527DAAC-34B3-164C-7531-EC253DDFF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019" y="2428894"/>
            <a:ext cx="5236060" cy="19783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AAF444F-B9F5-8111-EC0B-26586B57F8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017" y="4498895"/>
            <a:ext cx="5236061" cy="20598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F3A94208-DF9D-F180-23B9-76E87F97C66B}"/>
              </a:ext>
            </a:extLst>
          </p:cNvPr>
          <p:cNvSpPr/>
          <p:nvPr/>
        </p:nvSpPr>
        <p:spPr>
          <a:xfrm>
            <a:off x="8417024" y="4699648"/>
            <a:ext cx="431529" cy="1627453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C331331-E040-3B00-E741-4AA0EC99B0EB}"/>
              </a:ext>
            </a:extLst>
          </p:cNvPr>
          <p:cNvSpPr/>
          <p:nvPr/>
        </p:nvSpPr>
        <p:spPr>
          <a:xfrm>
            <a:off x="10838062" y="4765587"/>
            <a:ext cx="431529" cy="1627453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5ACEE8B-047A-7764-1B3E-A991384C89C1}"/>
              </a:ext>
            </a:extLst>
          </p:cNvPr>
          <p:cNvSpPr txBox="1"/>
          <p:nvPr/>
        </p:nvSpPr>
        <p:spPr>
          <a:xfrm>
            <a:off x="6484205" y="6576296"/>
            <a:ext cx="3269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小文件</a:t>
            </a:r>
            <a:r>
              <a:rPr lang="en-US" altLang="zh-CN" sz="1600" b="1" dirty="0">
                <a:solidFill>
                  <a:srgbClr val="C00000"/>
                </a:solidFill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</a:rPr>
              <a:t>优化 </a:t>
            </a:r>
            <a:r>
              <a:rPr lang="en-US" altLang="zh-CN" sz="1600" b="1" dirty="0">
                <a:solidFill>
                  <a:srgbClr val="C00000"/>
                </a:solidFill>
              </a:rPr>
              <a:t>(</a:t>
            </a:r>
            <a:r>
              <a:rPr lang="zh-CN" altLang="en-US" sz="1600" b="1" dirty="0">
                <a:solidFill>
                  <a:srgbClr val="C00000"/>
                </a:solidFill>
              </a:rPr>
              <a:t>严重怀疑负载错了</a:t>
            </a:r>
            <a:r>
              <a:rPr lang="en-US" altLang="zh-CN" sz="1600" b="1" dirty="0">
                <a:solidFill>
                  <a:srgbClr val="C00000"/>
                </a:solidFill>
              </a:rPr>
              <a:t>)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F9FDE0F-5C23-2796-C8AF-410E672E03B6}"/>
              </a:ext>
            </a:extLst>
          </p:cNvPr>
          <p:cNvSpPr txBox="1"/>
          <p:nvPr/>
        </p:nvSpPr>
        <p:spPr>
          <a:xfrm>
            <a:off x="10566158" y="6585477"/>
            <a:ext cx="1625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C00000"/>
                </a:solidFill>
              </a:rPr>
              <a:t>20</a:t>
            </a:r>
            <a:r>
              <a:rPr lang="zh-CN" altLang="en-US" sz="1600" b="1" dirty="0">
                <a:solidFill>
                  <a:srgbClr val="C00000"/>
                </a:solidFill>
              </a:rPr>
              <a:t>层目录优化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788671D-ED1D-280C-830D-81B40DB9AD0C}"/>
              </a:ext>
            </a:extLst>
          </p:cNvPr>
          <p:cNvCxnSpPr>
            <a:cxnSpLocks/>
            <a:stCxn id="29" idx="4"/>
            <a:endCxn id="31" idx="0"/>
          </p:cNvCxnSpPr>
          <p:nvPr/>
        </p:nvCxnSpPr>
        <p:spPr>
          <a:xfrm flipH="1">
            <a:off x="8118721" y="6327101"/>
            <a:ext cx="514068" cy="24919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02F047F-A68E-C17F-E3B7-4386083F285F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>
            <a:off x="11053827" y="6393040"/>
            <a:ext cx="325252" cy="19243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E818D198-5ABC-31CA-AB7F-95328322A6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018" y="915237"/>
            <a:ext cx="5236060" cy="1409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1BA70750-F59B-5863-5766-51ECC4173A7E}"/>
              </a:ext>
            </a:extLst>
          </p:cNvPr>
          <p:cNvSpPr txBox="1"/>
          <p:nvPr/>
        </p:nvSpPr>
        <p:spPr>
          <a:xfrm rot="16200000">
            <a:off x="5141644" y="5439463"/>
            <a:ext cx="2673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Customization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C36BCEE-7B13-672F-049A-E437DEC1C1A8}"/>
              </a:ext>
            </a:extLst>
          </p:cNvPr>
          <p:cNvSpPr txBox="1"/>
          <p:nvPr/>
        </p:nvSpPr>
        <p:spPr>
          <a:xfrm rot="16200000">
            <a:off x="-934203" y="3713816"/>
            <a:ext cx="58741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Filebench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0F1522A-44B7-318F-35ED-6D1C0650CD6D}"/>
              </a:ext>
            </a:extLst>
          </p:cNvPr>
          <p:cNvSpPr txBox="1"/>
          <p:nvPr/>
        </p:nvSpPr>
        <p:spPr>
          <a:xfrm rot="16200000">
            <a:off x="5773552" y="1481712"/>
            <a:ext cx="140995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Conf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B920023-3F95-1FF0-F02F-2C21B25284ED}"/>
              </a:ext>
            </a:extLst>
          </p:cNvPr>
          <p:cNvSpPr/>
          <p:nvPr/>
        </p:nvSpPr>
        <p:spPr>
          <a:xfrm>
            <a:off x="6771712" y="1744980"/>
            <a:ext cx="3012368" cy="34536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5B8F76E-A38F-5E39-4594-86C3F35F2E2E}"/>
              </a:ext>
            </a:extLst>
          </p:cNvPr>
          <p:cNvSpPr txBox="1"/>
          <p:nvPr/>
        </p:nvSpPr>
        <p:spPr>
          <a:xfrm rot="16200000">
            <a:off x="5489345" y="3278317"/>
            <a:ext cx="19783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Level-DB</a:t>
            </a:r>
          </a:p>
        </p:txBody>
      </p:sp>
    </p:spTree>
    <p:extLst>
      <p:ext uri="{BB962C8B-B14F-4D97-AF65-F5344CB8AC3E}">
        <p14:creationId xmlns:p14="http://schemas.microsoft.com/office/powerpoint/2010/main" val="983638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A3B15-E5AF-4AA6-B5AC-28BCD34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CN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CADAB-02CA-D003-16EE-E2B65E80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86655" cy="560532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聚焦于用户态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文件系统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元数据性能与安全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挑战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现有用户态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文件系统要么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性能不行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请求中转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要么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不够安全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无元数据验证机制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主要创新在于思想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写作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而非技术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考虑到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成本非常高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TRIO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将文件系统划分为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两部分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由可信第三方验证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的正确性与完整性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最小化可信域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(Per-APP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映射前验证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(Integrity Verifier).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将无元数据验证机制认为是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较大的可信域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可以被多个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都是可信的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将请求中转看作是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运行时元数据验证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元数据更新发生在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运行过程中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而不是运行前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98231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2A5AD5C-9F62-26D8-0E9D-9E94EAB4305A}"/>
              </a:ext>
            </a:extLst>
          </p:cNvPr>
          <p:cNvSpPr/>
          <p:nvPr/>
        </p:nvSpPr>
        <p:spPr>
          <a:xfrm>
            <a:off x="1148080" y="5245969"/>
            <a:ext cx="3942080" cy="1534160"/>
          </a:xfrm>
          <a:prstGeom prst="roundRect">
            <a:avLst>
              <a:gd name="adj" fmla="val 6071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FBA3B15-E5AF-4AA6-B5AC-28BCD34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(1/2)</a:t>
            </a:r>
            <a:endParaRPr lang="zh-CN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E590D-71FA-60A8-7F07-0BF3D4E0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86655" cy="5032375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写作蕴含的哲理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本文完全可以针对现存的两种问题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不够安全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不够高效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提出针对性的解决方案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最小化可信域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解决不够安全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映射前验证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解决不够高效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但是本文选择的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文件系统可以划分为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State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Auxiliary State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这乍一看与解决方案搭不上边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但事实上却可以理解为作者为了实现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最小化可信域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映射前验证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提出的方法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只有知道了正确的状态才能验证状态的正确性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这没毛病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我们写作常常陷入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方法太直接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的问题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而本文在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有解决方案之后向后更推一步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超出解决方法本身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起到让人耳目一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的作用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091C51-E38F-9887-F954-557195666885}"/>
              </a:ext>
            </a:extLst>
          </p:cNvPr>
          <p:cNvSpPr txBox="1"/>
          <p:nvPr/>
        </p:nvSpPr>
        <p:spPr>
          <a:xfrm>
            <a:off x="1388273" y="5478700"/>
            <a:ext cx="1233484" cy="1014175"/>
          </a:xfrm>
          <a:prstGeom prst="roundRect">
            <a:avLst>
              <a:gd name="adj" fmla="val 7939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62E13E-6A57-60DB-0907-E1D48AF5A6BB}"/>
              </a:ext>
            </a:extLst>
          </p:cNvPr>
          <p:cNvSpPr txBox="1"/>
          <p:nvPr/>
        </p:nvSpPr>
        <p:spPr>
          <a:xfrm>
            <a:off x="3560363" y="5478699"/>
            <a:ext cx="1233484" cy="1014175"/>
          </a:xfrm>
          <a:prstGeom prst="roundRect">
            <a:avLst>
              <a:gd name="adj" fmla="val 7939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解决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解决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C3E3FE0-2930-7C82-1B05-A41331FAFD69}"/>
              </a:ext>
            </a:extLst>
          </p:cNvPr>
          <p:cNvSpPr/>
          <p:nvPr/>
        </p:nvSpPr>
        <p:spPr>
          <a:xfrm>
            <a:off x="2951980" y="5458695"/>
            <a:ext cx="278160" cy="1054181"/>
          </a:xfrm>
          <a:prstGeom prst="rightArrow">
            <a:avLst>
              <a:gd name="adj1" fmla="val 50000"/>
              <a:gd name="adj2" fmla="val 549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A232D1-1642-32BB-06DE-F39C59A664EF}"/>
              </a:ext>
            </a:extLst>
          </p:cNvPr>
          <p:cNvSpPr txBox="1"/>
          <p:nvPr/>
        </p:nvSpPr>
        <p:spPr>
          <a:xfrm>
            <a:off x="5846669" y="5458695"/>
            <a:ext cx="1233484" cy="1014175"/>
          </a:xfrm>
          <a:prstGeom prst="roundRect">
            <a:avLst>
              <a:gd name="adj" fmla="val 7939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BF4341-848B-EBAA-54C4-FAC768697CE7}"/>
              </a:ext>
            </a:extLst>
          </p:cNvPr>
          <p:cNvSpPr txBox="1"/>
          <p:nvPr/>
        </p:nvSpPr>
        <p:spPr>
          <a:xfrm>
            <a:off x="8018759" y="5458694"/>
            <a:ext cx="1233484" cy="1014175"/>
          </a:xfrm>
          <a:prstGeom prst="roundRect">
            <a:avLst>
              <a:gd name="adj" fmla="val 7939"/>
            </a:avLst>
          </a:prstGeom>
          <a:solidFill>
            <a:srgbClr val="EEEEEE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解决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解决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FADF985-5D49-5CF9-DC1F-5092F481FF4E}"/>
              </a:ext>
            </a:extLst>
          </p:cNvPr>
          <p:cNvSpPr/>
          <p:nvPr/>
        </p:nvSpPr>
        <p:spPr>
          <a:xfrm>
            <a:off x="7410376" y="5438690"/>
            <a:ext cx="278160" cy="1054181"/>
          </a:xfrm>
          <a:prstGeom prst="rightArrow">
            <a:avLst>
              <a:gd name="adj1" fmla="val 50000"/>
              <a:gd name="adj2" fmla="val 549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485FEE86-CF36-ACB1-1D4B-3E59DAF66B04}"/>
              </a:ext>
            </a:extLst>
          </p:cNvPr>
          <p:cNvSpPr/>
          <p:nvPr/>
        </p:nvSpPr>
        <p:spPr>
          <a:xfrm>
            <a:off x="9582466" y="5418688"/>
            <a:ext cx="278160" cy="1054181"/>
          </a:xfrm>
          <a:prstGeom prst="rightArrow">
            <a:avLst>
              <a:gd name="adj1" fmla="val 50000"/>
              <a:gd name="adj2" fmla="val 549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FAED8C-DE9F-6743-2785-679EA6A651D5}"/>
              </a:ext>
            </a:extLst>
          </p:cNvPr>
          <p:cNvSpPr txBox="1"/>
          <p:nvPr/>
        </p:nvSpPr>
        <p:spPr>
          <a:xfrm>
            <a:off x="10190848" y="5582548"/>
            <a:ext cx="1395901" cy="726460"/>
          </a:xfrm>
          <a:prstGeom prst="roundRect">
            <a:avLst>
              <a:gd name="adj" fmla="val 7939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08000" tIns="72000" rIns="108000" bIns="7200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推论 </a:t>
            </a:r>
            <a:endParaRPr lang="en-US" altLang="zh-CN" b="1" dirty="0">
              <a:solidFill>
                <a:srgbClr val="C00000"/>
              </a:solidFill>
            </a:endParaRPr>
          </a:p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方法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结果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1331E544-F6AB-15DE-8D13-9541A1422B44}"/>
              </a:ext>
            </a:extLst>
          </p:cNvPr>
          <p:cNvSpPr/>
          <p:nvPr/>
        </p:nvSpPr>
        <p:spPr>
          <a:xfrm>
            <a:off x="11098394" y="5151850"/>
            <a:ext cx="726460" cy="72646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47EBB3-8A4C-6459-163A-9AF5EEB03BA3}"/>
              </a:ext>
            </a:extLst>
          </p:cNvPr>
          <p:cNvSpPr/>
          <p:nvPr/>
        </p:nvSpPr>
        <p:spPr>
          <a:xfrm>
            <a:off x="5598160" y="5218705"/>
            <a:ext cx="6226693" cy="1534160"/>
          </a:xfrm>
          <a:prstGeom prst="roundRect">
            <a:avLst>
              <a:gd name="adj" fmla="val 6071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65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A3B15-E5AF-4AA6-B5AC-28BCD34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 (2/2)</a:t>
            </a:r>
            <a:endParaRPr lang="zh-CN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E590D-71FA-60A8-7F07-0BF3D4E0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86655" cy="5032375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定制化思想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的实现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本身都没啥新颖度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但本文在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ArckFS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之上实现了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FPFS,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这很好地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说明了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TRIO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本身的通用性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对于定制化的实现作者没有耗费过多的笔墨以及测试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能够说明问题即可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WOFS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后续写作需要借鉴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98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7BE0E-6705-4740-B95D-FA946C45B1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505F6A-FD62-46B5-A9EC-C52AA312A4CA}"/>
              </a:ext>
            </a:extLst>
          </p:cNvPr>
          <p:cNvSpPr txBox="1"/>
          <p:nvPr/>
        </p:nvSpPr>
        <p:spPr>
          <a:xfrm>
            <a:off x="4739640" y="5638800"/>
            <a:ext cx="271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 Yanqi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形 4" descr="功能区">
            <a:extLst>
              <a:ext uri="{FF2B5EF4-FFF2-40B4-BE49-F238E27FC236}">
                <a16:creationId xmlns:a16="http://schemas.microsoft.com/office/drawing/2014/main" id="{1D83EDD7-A416-476E-9947-2119A46E9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3190" y="2595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7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2160</Words>
  <Application>Microsoft Office PowerPoint</Application>
  <PresentationFormat>宽屏</PresentationFormat>
  <Paragraphs>350</Paragraphs>
  <Slides>24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OpenSans</vt:lpstr>
      <vt:lpstr>等线</vt:lpstr>
      <vt:lpstr>等线 Light</vt:lpstr>
      <vt:lpstr>Arial</vt:lpstr>
      <vt:lpstr>Times New Roman</vt:lpstr>
      <vt:lpstr>Office 主题​​</vt:lpstr>
      <vt:lpstr>Enabling High-Performance and Secure Userspace NVM File Systems with the Trio Architecture</vt:lpstr>
      <vt:lpstr>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Lessons Learned (1/2)</vt:lpstr>
      <vt:lpstr>Lessons Learned (2/2)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Wade Wilson</dc:creator>
  <cp:lastModifiedBy>Wilson Wade</cp:lastModifiedBy>
  <cp:revision>3790</cp:revision>
  <dcterms:created xsi:type="dcterms:W3CDTF">2021-10-12T02:52:02Z</dcterms:created>
  <dcterms:modified xsi:type="dcterms:W3CDTF">2024-01-05T04:31:32Z</dcterms:modified>
</cp:coreProperties>
</file>