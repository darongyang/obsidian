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786" r:id="rId2"/>
    <p:sldId id="755" r:id="rId3"/>
    <p:sldId id="773" r:id="rId4"/>
    <p:sldId id="784" r:id="rId5"/>
    <p:sldId id="785" r:id="rId6"/>
    <p:sldId id="718" r:id="rId7"/>
    <p:sldId id="787" r:id="rId8"/>
  </p:sldIdLst>
  <p:sldSz cx="12192000" cy="6858000"/>
  <p:notesSz cx="6858000" cy="9144000"/>
  <p:custDataLst>
    <p:tags r:id="rId1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7E64633E-06BB-4715-8940-B98EA62A6B54}">
          <p14:sldIdLst>
            <p14:sldId id="786"/>
          </p14:sldIdLst>
        </p14:section>
        <p14:section name="Introduction" id="{492F5F35-966A-4AEC-8E58-170C75B8FEA3}">
          <p14:sldIdLst>
            <p14:sldId id="755"/>
          </p14:sldIdLst>
        </p14:section>
        <p14:section name="Motivation" id="{1624E39A-21CA-462B-BAE2-BF9AA064F182}">
          <p14:sldIdLst>
            <p14:sldId id="773"/>
          </p14:sldIdLst>
        </p14:section>
        <p14:section name="Design" id="{6F09CBED-71AF-4628-803B-D18452339DC0}">
          <p14:sldIdLst>
            <p14:sldId id="784"/>
          </p14:sldIdLst>
        </p14:section>
        <p14:section name="Evaluation" id="{F5B01EC3-09C8-401C-8889-47FBE330A3DE}">
          <p14:sldIdLst>
            <p14:sldId id="785"/>
          </p14:sldIdLst>
        </p14:section>
        <p14:section name="Conclusion" id="{34724875-2FC1-4A03-8C8B-3EFCAEB730C4}">
          <p14:sldIdLst>
            <p14:sldId id="718"/>
          </p14:sldIdLst>
        </p14:section>
        <p14:section name="End" id="{7AEFFE86-1D55-4212-B44C-1C78C231CE69}">
          <p14:sldIdLst>
            <p14:sldId id="787"/>
          </p14:sldIdLst>
        </p14:section>
      </p14:sectionLst>
    </p:ext>
    <p:ext uri="{EFAFB233-063F-42B5-8137-9DF3F51BA10A}">
      <p15:sldGuideLst xmlns:p15="http://schemas.microsoft.com/office/powerpoint/2012/main">
        <p15:guide id="1" orient="horz" pos="1056" userDrawn="1">
          <p15:clr>
            <a:srgbClr val="A4A3A4"/>
          </p15:clr>
        </p15:guide>
        <p15:guide id="2" pos="554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B8C"/>
    <a:srgbClr val="FF3399"/>
    <a:srgbClr val="F2F2F2"/>
    <a:srgbClr val="CACACA"/>
    <a:srgbClr val="A6A6A6"/>
    <a:srgbClr val="999999"/>
    <a:srgbClr val="0062AC"/>
    <a:srgbClr val="D9D9D9"/>
    <a:srgbClr val="BBB487"/>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2" autoAdjust="0"/>
    <p:restoredTop sz="82063" autoAdjust="0"/>
  </p:normalViewPr>
  <p:slideViewPr>
    <p:cSldViewPr snapToGrid="0">
      <p:cViewPr varScale="1">
        <p:scale>
          <a:sx n="66" d="100"/>
          <a:sy n="66" d="100"/>
        </p:scale>
        <p:origin x="804" y="52"/>
      </p:cViewPr>
      <p:guideLst>
        <p:guide orient="horz" pos="1056"/>
        <p:guide pos="5541"/>
      </p:guideLst>
    </p:cSldViewPr>
  </p:slideViewPr>
  <p:notesTextViewPr>
    <p:cViewPr>
      <p:scale>
        <a:sx n="3" d="2"/>
        <a:sy n="3" d="2"/>
      </p:scale>
      <p:origin x="0" y="0"/>
    </p:cViewPr>
  </p:notesTextViewPr>
  <p:sorterViewPr>
    <p:cViewPr varScale="1">
      <p:scale>
        <a:sx n="1" d="1"/>
        <a:sy n="1" d="1"/>
      </p:scale>
      <p:origin x="0" y="0"/>
    </p:cViewPr>
  </p:sorterViewPr>
  <p:notesViewPr>
    <p:cSldViewPr>
      <p:cViewPr>
        <p:scale>
          <a:sx n="66" d="100"/>
          <a:sy n="66" d="100"/>
        </p:scale>
        <p:origin x="6210" y="168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15BC5FC8-45B9-B339-253D-CB28166A8CA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162A9121-D8C8-8108-46D0-D1640207A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681991-E076-4FC1-8E6B-802C1FF7EBBF}" type="datetimeFigureOut">
              <a:rPr lang="zh-CN" altLang="en-US" smtClean="0"/>
              <a:t>2024/9/2</a:t>
            </a:fld>
            <a:endParaRPr lang="zh-CN" altLang="en-US"/>
          </a:p>
        </p:txBody>
      </p:sp>
      <p:sp>
        <p:nvSpPr>
          <p:cNvPr id="4" name="页脚占位符 3">
            <a:extLst>
              <a:ext uri="{FF2B5EF4-FFF2-40B4-BE49-F238E27FC236}">
                <a16:creationId xmlns:a16="http://schemas.microsoft.com/office/drawing/2014/main" id="{DDB01BFD-2026-01B4-38F2-09FD634A9E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8486B0EF-6ECA-96B1-ACCD-C8AFC323C3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6B9F7A-1CF2-4952-977B-C56BCDFBFEBA}" type="slidenum">
              <a:rPr lang="zh-CN" altLang="en-US" smtClean="0"/>
              <a:t>‹#›</a:t>
            </a:fld>
            <a:endParaRPr lang="zh-CN" altLang="en-US"/>
          </a:p>
        </p:txBody>
      </p:sp>
    </p:spTree>
    <p:extLst>
      <p:ext uri="{BB962C8B-B14F-4D97-AF65-F5344CB8AC3E}">
        <p14:creationId xmlns:p14="http://schemas.microsoft.com/office/powerpoint/2010/main" val="12887429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3007C-0BBF-4CAD-B02F-7664B804665F}" type="datetimeFigureOut">
              <a:rPr lang="zh-CN" altLang="en-US" smtClean="0"/>
              <a:t>2024/9/2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7DC7C-EA85-41EA-BE8E-3BC04B9579CE}" type="slidenum">
              <a:rPr lang="zh-CN" altLang="en-US" smtClean="0"/>
              <a:t>‹#›</a:t>
            </a:fld>
            <a:endParaRPr lang="zh-CN" altLang="en-US"/>
          </a:p>
        </p:txBody>
      </p:sp>
    </p:spTree>
    <p:extLst>
      <p:ext uri="{BB962C8B-B14F-4D97-AF65-F5344CB8AC3E}">
        <p14:creationId xmlns:p14="http://schemas.microsoft.com/office/powerpoint/2010/main" val="2573099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22B61A1E-9EDA-480D-B7B8-4B6F28920C12}" type="slidenum">
              <a:rPr lang="zh-CN" altLang="en-US">
                <a:latin typeface="Calibri" panose="020F0502020204030204" pitchFamily="34" charset="0"/>
                <a:ea typeface="宋体" panose="02010600030101010101" pitchFamily="2" charset="-122"/>
              </a:rPr>
              <a:pPr fontAlgn="base">
                <a:spcBef>
                  <a:spcPct val="0"/>
                </a:spcBef>
                <a:spcAft>
                  <a:spcPct val="0"/>
                </a:spcAft>
              </a:pPr>
              <a:t>1</a:t>
            </a:fld>
            <a:endParaRPr lang="zh-CN" altLang="en-US">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632065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2</a:t>
            </a:fld>
            <a:endParaRPr lang="zh-CN" altLang="en-US"/>
          </a:p>
        </p:txBody>
      </p:sp>
    </p:spTree>
    <p:extLst>
      <p:ext uri="{BB962C8B-B14F-4D97-AF65-F5344CB8AC3E}">
        <p14:creationId xmlns:p14="http://schemas.microsoft.com/office/powerpoint/2010/main" val="1090426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4</a:t>
            </a:fld>
            <a:endParaRPr lang="zh-CN" altLang="en-US"/>
          </a:p>
        </p:txBody>
      </p:sp>
    </p:spTree>
    <p:extLst>
      <p:ext uri="{BB962C8B-B14F-4D97-AF65-F5344CB8AC3E}">
        <p14:creationId xmlns:p14="http://schemas.microsoft.com/office/powerpoint/2010/main" val="4170249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927DC7C-EA85-41EA-BE8E-3BC04B9579CE}" type="slidenum">
              <a:rPr lang="zh-CN" altLang="en-US" smtClean="0"/>
              <a:t>5</a:t>
            </a:fld>
            <a:endParaRPr lang="zh-CN" altLang="en-US"/>
          </a:p>
        </p:txBody>
      </p:sp>
    </p:spTree>
    <p:extLst>
      <p:ext uri="{BB962C8B-B14F-4D97-AF65-F5344CB8AC3E}">
        <p14:creationId xmlns:p14="http://schemas.microsoft.com/office/powerpoint/2010/main" val="2870231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51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微软雅黑 Light" panose="020B0502040204020203" pitchFamily="34" charset="-122"/>
              </a:defRPr>
            </a:lvl1pPr>
            <a:lvl2pPr marL="742950" indent="-285750">
              <a:defRPr>
                <a:solidFill>
                  <a:schemeClr val="tx1"/>
                </a:solidFill>
                <a:latin typeface="Arial" panose="020B0604020202020204" pitchFamily="34" charset="0"/>
                <a:ea typeface="微软雅黑 Light" panose="020B0502040204020203" pitchFamily="34" charset="-122"/>
              </a:defRPr>
            </a:lvl2pPr>
            <a:lvl3pPr marL="1143000" indent="-228600">
              <a:defRPr>
                <a:solidFill>
                  <a:schemeClr val="tx1"/>
                </a:solidFill>
                <a:latin typeface="Arial" panose="020B0604020202020204" pitchFamily="34" charset="0"/>
                <a:ea typeface="微软雅黑 Light" panose="020B0502040204020203" pitchFamily="34" charset="-122"/>
              </a:defRPr>
            </a:lvl3pPr>
            <a:lvl4pPr marL="1600200" indent="-228600">
              <a:defRPr>
                <a:solidFill>
                  <a:schemeClr val="tx1"/>
                </a:solidFill>
                <a:latin typeface="Arial" panose="020B0604020202020204" pitchFamily="34" charset="0"/>
                <a:ea typeface="微软雅黑 Light" panose="020B0502040204020203" pitchFamily="34" charset="-122"/>
              </a:defRPr>
            </a:lvl4pPr>
            <a:lvl5pPr marL="2057400" indent="-228600">
              <a:defRPr>
                <a:solidFill>
                  <a:schemeClr val="tx1"/>
                </a:solidFill>
                <a:latin typeface="Arial" panose="020B0604020202020204" pitchFamily="34" charset="0"/>
                <a:ea typeface="微软雅黑 Light" panose="020B0502040204020203"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Light" panose="020B0502040204020203" pitchFamily="34" charset="-122"/>
              </a:defRPr>
            </a:lvl9pPr>
          </a:lstStyle>
          <a:p>
            <a:pPr fontAlgn="base">
              <a:spcBef>
                <a:spcPct val="0"/>
              </a:spcBef>
              <a:spcAft>
                <a:spcPct val="0"/>
              </a:spcAft>
            </a:pPr>
            <a:fld id="{22B61A1E-9EDA-480D-B7B8-4B6F28920C12}" type="slidenum">
              <a:rPr lang="zh-CN" altLang="en-US">
                <a:latin typeface="Calibri" panose="020F0502020204030204" pitchFamily="34" charset="0"/>
                <a:ea typeface="宋体" panose="02010600030101010101" pitchFamily="2" charset="-122"/>
              </a:rPr>
              <a:pPr fontAlgn="base">
                <a:spcBef>
                  <a:spcPct val="0"/>
                </a:spcBef>
                <a:spcAft>
                  <a:spcPct val="0"/>
                </a:spcAft>
              </a:pPr>
              <a:t>7</a:t>
            </a:fld>
            <a:endParaRPr lang="zh-CN" altLang="en-US">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1065248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背景">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11D0B40-851A-4384-A124-88734D47417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spTree>
    <p:extLst>
      <p:ext uri="{BB962C8B-B14F-4D97-AF65-F5344CB8AC3E}">
        <p14:creationId xmlns:p14="http://schemas.microsoft.com/office/powerpoint/2010/main" val="42483805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chemeClr val="bg1"/>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dirty="0">
                <a:solidFill>
                  <a:schemeClr val="bg1"/>
                </a:solidFill>
                <a:latin typeface="微软雅黑" panose="020B0503020204020204" pitchFamily="34" charset="-122"/>
                <a:ea typeface="微软雅黑" panose="020B0503020204020204" pitchFamily="34" charset="-122"/>
              </a:rPr>
              <a:t>duction</a:t>
            </a:r>
            <a:endParaRPr lang="zh-CN" altLang="en-US"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6606" y="1928264"/>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rPr>
              <a:t>Moti-</a:t>
            </a:r>
            <a:r>
              <a:rPr lang="en-US" altLang="zh-CN" sz="1600" b="1" kern="0" spc="120" baseline="0" dirty="0" err="1">
                <a:solidFill>
                  <a:sysClr val="windowText" lastClr="000000"/>
                </a:solidFill>
                <a:latin typeface="微软雅黑" panose="020B0503020204020204" pitchFamily="34" charset="-122"/>
                <a:ea typeface="微软雅黑" panose="020B0503020204020204" pitchFamily="34" charset="-122"/>
              </a:rPr>
              <a:t>vation</a:t>
            </a:r>
            <a:endPar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Design</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Picture 2" descr="Eurosys_ACM">
            <a:extLst>
              <a:ext uri="{FF2B5EF4-FFF2-40B4-BE49-F238E27FC236}">
                <a16:creationId xmlns:a16="http://schemas.microsoft.com/office/drawing/2014/main" id="{95535DBD-9C9B-4B4B-9D1A-D1147FB8876A}"/>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2375" y="5971005"/>
            <a:ext cx="2973629" cy="738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09006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92963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chemeClr val="bg1"/>
                </a:solidFill>
                <a:latin typeface="微软雅黑" panose="020B0503020204020204" pitchFamily="34" charset="-122"/>
                <a:ea typeface="微软雅黑" panose="020B0503020204020204" pitchFamily="34" charset="-122"/>
              </a:rPr>
              <a:t>Moti-</a:t>
            </a:r>
            <a:r>
              <a:rPr lang="en-US" altLang="zh-CN" sz="1600" b="1" kern="0" spc="120" baseline="0" dirty="0" err="1">
                <a:solidFill>
                  <a:schemeClr val="bg1"/>
                </a:solidFill>
                <a:latin typeface="微软雅黑" panose="020B0503020204020204" pitchFamily="34" charset="-122"/>
                <a:ea typeface="微软雅黑" panose="020B0503020204020204" pitchFamily="34" charset="-122"/>
              </a:rPr>
              <a:t>vation</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9098" y="207225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Picture 2" descr="Eurosys_ACM">
            <a:extLst>
              <a:ext uri="{FF2B5EF4-FFF2-40B4-BE49-F238E27FC236}">
                <a16:creationId xmlns:a16="http://schemas.microsoft.com/office/drawing/2014/main" id="{F2E81081-280A-4655-9D83-2520B026EEE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2375" y="5971005"/>
            <a:ext cx="2973629" cy="738548"/>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a:extLst>
              <a:ext uri="{FF2B5EF4-FFF2-40B4-BE49-F238E27FC236}">
                <a16:creationId xmlns:a16="http://schemas.microsoft.com/office/drawing/2014/main" id="{698A2428-190F-4610-86D3-894B5B15A5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spTree>
    <p:extLst>
      <p:ext uri="{BB962C8B-B14F-4D97-AF65-F5344CB8AC3E}">
        <p14:creationId xmlns:p14="http://schemas.microsoft.com/office/powerpoint/2010/main" val="40616969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7290" y="2829218"/>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Design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rPr>
              <a:t>Moti-</a:t>
            </a:r>
            <a:r>
              <a:rPr lang="en-US" altLang="zh-CN" sz="1600" b="1" kern="0" spc="120" baseline="0" dirty="0" err="1">
                <a:solidFill>
                  <a:sysClr val="windowText" lastClr="000000"/>
                </a:solidFill>
                <a:latin typeface="微软雅黑" panose="020B0503020204020204" pitchFamily="34" charset="-122"/>
                <a:ea typeface="微软雅黑" panose="020B0503020204020204" pitchFamily="34" charset="-122"/>
              </a:rPr>
              <a:t>vation</a:t>
            </a:r>
            <a:endPar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297183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图片 16">
            <a:extLst>
              <a:ext uri="{FF2B5EF4-FFF2-40B4-BE49-F238E27FC236}">
                <a16:creationId xmlns:a16="http://schemas.microsoft.com/office/drawing/2014/main" id="{C2BF7EE4-7114-4164-8F3C-6AE8BE3BBD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pic>
        <p:nvPicPr>
          <p:cNvPr id="20" name="Picture 2" descr="Eurosys_ACM">
            <a:extLst>
              <a:ext uri="{FF2B5EF4-FFF2-40B4-BE49-F238E27FC236}">
                <a16:creationId xmlns:a16="http://schemas.microsoft.com/office/drawing/2014/main" id="{8BDFAB5E-E55E-4EB3-92F8-06443CEC91F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2375" y="5971005"/>
            <a:ext cx="2973629" cy="738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94719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0924" y="3728797"/>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Evalua-</a:t>
            </a:r>
          </a:p>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tion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rPr>
              <a:t>Moti-</a:t>
            </a:r>
            <a:r>
              <a:rPr lang="en-US" altLang="zh-CN" sz="1600" b="1" kern="0" spc="120" baseline="0" dirty="0" err="1">
                <a:solidFill>
                  <a:sysClr val="windowText" lastClr="000000"/>
                </a:solidFill>
                <a:latin typeface="微软雅黑" panose="020B0503020204020204" pitchFamily="34" charset="-122"/>
                <a:ea typeface="微软雅黑" panose="020B0503020204020204" pitchFamily="34" charset="-122"/>
              </a:rPr>
              <a:t>vation</a:t>
            </a:r>
            <a:endPar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Conclu-</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sion</a:t>
            </a: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3871417"/>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图片 16">
            <a:extLst>
              <a:ext uri="{FF2B5EF4-FFF2-40B4-BE49-F238E27FC236}">
                <a16:creationId xmlns:a16="http://schemas.microsoft.com/office/drawing/2014/main" id="{E5C25D75-8431-404C-80CC-FAED7CA69B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pic>
        <p:nvPicPr>
          <p:cNvPr id="20" name="Picture 2" descr="Eurosys_ACM">
            <a:extLst>
              <a:ext uri="{FF2B5EF4-FFF2-40B4-BE49-F238E27FC236}">
                <a16:creationId xmlns:a16="http://schemas.microsoft.com/office/drawing/2014/main" id="{54DE1204-87E7-40D1-8F20-9696D399F14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2375" y="5971005"/>
            <a:ext cx="2973629" cy="738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92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461580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Conclu-</a:t>
            </a:r>
          </a:p>
          <a:p>
            <a:pPr algn="ctr" eaLnBrk="1" fontAlgn="auto" hangingPunct="1">
              <a:spcBef>
                <a:spcPct val="0"/>
              </a:spcBef>
              <a:spcAft>
                <a:spcPct val="0"/>
              </a:spcAft>
              <a:defRPr/>
            </a:pPr>
            <a:r>
              <a:rPr lang="en-US" altLang="zh-CN" sz="1600" b="1" kern="0" spc="120" baseline="0">
                <a:solidFill>
                  <a:schemeClr val="bg1"/>
                </a:solidFill>
                <a:latin typeface="微软雅黑" panose="020B0503020204020204" pitchFamily="34" charset="-122"/>
                <a:ea typeface="微软雅黑" panose="020B0503020204020204" pitchFamily="34" charset="-122"/>
              </a:rPr>
              <a:t>sion</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Intro-</a:t>
            </a:r>
          </a:p>
          <a:p>
            <a:pPr algn="ctr" eaLnBrk="1" fontAlgn="auto"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rPr>
              <a:t>duction</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rPr>
              <a:t>Moti-</a:t>
            </a:r>
            <a:r>
              <a:rPr lang="en-US" altLang="zh-CN" sz="1600" b="1" kern="0" spc="120" baseline="0" dirty="0" err="1">
                <a:solidFill>
                  <a:sysClr val="windowText" lastClr="000000"/>
                </a:solidFill>
                <a:latin typeface="微软雅黑" panose="020B0503020204020204" pitchFamily="34" charset="-122"/>
                <a:ea typeface="微软雅黑" panose="020B0503020204020204" pitchFamily="34" charset="-122"/>
              </a:rPr>
              <a:t>vation</a:t>
            </a:r>
            <a:endPar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Design</a:t>
            </a: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372041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Evalua-</a:t>
            </a:r>
          </a:p>
          <a:p>
            <a:pPr marL="0" algn="ctr" defTabSz="914400" rtl="0" eaLnBrk="1" fontAlgn="auto" latinLnBrk="0" hangingPunct="1">
              <a:spcBef>
                <a:spcPct val="0"/>
              </a:spcBef>
              <a:spcAft>
                <a:spcPct val="0"/>
              </a:spcAft>
              <a:defRPr/>
            </a:pPr>
            <a:r>
              <a:rPr lang="en-US" altLang="zh-CN" sz="1600" b="1" kern="0" spc="120" baseline="0">
                <a:solidFill>
                  <a:sysClr val="windowText" lastClr="000000"/>
                </a:solidFill>
                <a:latin typeface="微软雅黑" panose="020B0503020204020204" pitchFamily="34" charset="-122"/>
                <a:ea typeface="微软雅黑" panose="020B0503020204020204" pitchFamily="34" charset="-122"/>
                <a:cs typeface="+mn-cs"/>
              </a:rPr>
              <a:t>tion</a:t>
            </a: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475842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7" name="图片 16">
            <a:extLst>
              <a:ext uri="{FF2B5EF4-FFF2-40B4-BE49-F238E27FC236}">
                <a16:creationId xmlns:a16="http://schemas.microsoft.com/office/drawing/2014/main" id="{29025FC4-9D24-4B00-BD79-2266955AC7D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15143" y="-52384"/>
            <a:ext cx="3136190" cy="880453"/>
          </a:xfrm>
          <a:prstGeom prst="rect">
            <a:avLst/>
          </a:prstGeom>
        </p:spPr>
      </p:pic>
      <p:pic>
        <p:nvPicPr>
          <p:cNvPr id="20" name="Picture 2" descr="Eurosys_ACM">
            <a:extLst>
              <a:ext uri="{FF2B5EF4-FFF2-40B4-BE49-F238E27FC236}">
                <a16:creationId xmlns:a16="http://schemas.microsoft.com/office/drawing/2014/main" id="{0ECEBECD-EB82-4FDF-81C1-A176E9A8969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2375" y="5971005"/>
            <a:ext cx="2973629" cy="738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63051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研究背景</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研究意义</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71183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3442375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76368FE5-F5E5-4176-96C8-0967A6A09FD3}"/>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86957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研究意义</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71183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sz="1600"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E7272BD3-6FCD-440A-B475-93908412071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201219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67001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C0375C28-9FD3-4EF1-88E9-E56B7DD05E3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2711836"/>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研究现状</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sz="1600"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55409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6F33709C-93B4-4ED6-8119-118E471D2C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2854456"/>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62929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整体流程">
    <p:spTree>
      <p:nvGrpSpPr>
        <p:cNvPr id="1" name=""/>
        <p:cNvGrpSpPr/>
        <p:nvPr/>
      </p:nvGrpSpPr>
      <p:grpSpPr>
        <a:xfrm>
          <a:off x="0" y="0"/>
          <a:ext cx="0" cy="0"/>
          <a:chOff x="0" y="0"/>
          <a:chExt cx="0" cy="0"/>
        </a:xfrm>
      </p:grpSpPr>
      <p:cxnSp>
        <p:nvCxnSpPr>
          <p:cNvPr id="21" name="直接连接符 20">
            <a:extLst>
              <a:ext uri="{FF2B5EF4-FFF2-40B4-BE49-F238E27FC236}">
                <a16:creationId xmlns:a16="http://schemas.microsoft.com/office/drawing/2014/main" id="{CF5F10A6-B697-4D5B-B320-5EA9BFEDE8F2}"/>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9964" y="355075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研究内容</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396362"/>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2A9E4F26-3063-43AB-9A76-098AA595AF6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94570"/>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369337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635439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E15FCA1A-B0C0-4CE4-A103-1BCD219D9CAB}"/>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439134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研究方案</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74664" y="5238625"/>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工作进展</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0CC4A094-0390-4AD9-A650-64DC9488C8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3559" y="45339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793049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整体流程">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08078175-CD18-4065-B95B-BB47473A6DD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523193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工作进展</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82674" y="439134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FA773D1A-CF5B-4F1F-B340-AF11CB7C6C3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537455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294009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整体流程">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7A7C6132-5290-47C3-8028-DAEA85845557}"/>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6496" y="5231933"/>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1" kern="0" spc="120" baseline="0">
                <a:solidFill>
                  <a:schemeClr val="bg1"/>
                </a:solidFill>
                <a:latin typeface="微软雅黑" panose="020B0503020204020204" pitchFamily="34" charset="-122"/>
                <a:ea typeface="微软雅黑" panose="020B0503020204020204" pitchFamily="34" charset="-122"/>
              </a:rPr>
              <a:t>工作进展</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2731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rPr>
              <a:t>研究背景</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86957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研究意义</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2920" y="537455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69964" y="271016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研究现状</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6496" y="355075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研究内容</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7" name="title_4">
            <a:extLst>
              <a:ext uri="{FF2B5EF4-FFF2-40B4-BE49-F238E27FC236}">
                <a16:creationId xmlns:a16="http://schemas.microsoft.com/office/drawing/2014/main" id="{BEFB66D8-D83C-4A61-83C1-E2970C40CF91}"/>
              </a:ext>
            </a:extLst>
          </p:cNvPr>
          <p:cNvSpPr/>
          <p:nvPr userDrawn="1"/>
        </p:nvSpPr>
        <p:spPr>
          <a:xfrm>
            <a:off x="182674" y="4391343"/>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0" kern="0" spc="120" baseline="0">
                <a:solidFill>
                  <a:sysClr val="windowText" lastClr="000000"/>
                </a:solidFill>
                <a:latin typeface="微软雅黑" panose="020B0503020204020204" pitchFamily="34" charset="-122"/>
                <a:ea typeface="微软雅黑" panose="020B0503020204020204" pitchFamily="34" charset="-122"/>
                <a:cs typeface="+mn-cs"/>
              </a:rPr>
              <a:t>研究方案</a:t>
            </a:r>
            <a:endParaRPr lang="en-US" altLang="zh-CN" sz="1600" b="0" kern="0" spc="120" baseline="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3" name="图片 2">
            <a:extLst>
              <a:ext uri="{FF2B5EF4-FFF2-40B4-BE49-F238E27FC236}">
                <a16:creationId xmlns:a16="http://schemas.microsoft.com/office/drawing/2014/main" id="{21096518-B2FD-4990-89D1-09044A02C7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419" y="5988392"/>
            <a:ext cx="1315995" cy="369452"/>
          </a:xfrm>
          <a:prstGeom prst="rect">
            <a:avLst/>
          </a:prstGeom>
        </p:spPr>
      </p:pic>
    </p:spTree>
    <p:extLst>
      <p:ext uri="{BB962C8B-B14F-4D97-AF65-F5344CB8AC3E}">
        <p14:creationId xmlns:p14="http://schemas.microsoft.com/office/powerpoint/2010/main" val="104149451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ckgroud">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8090" y="1557814"/>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Background</a:t>
            </a:r>
            <a:endParaRPr lang="zh-CN" altLang="en-US" sz="2000" b="1" kern="0">
              <a:solidFill>
                <a:schemeClr val="bg1"/>
              </a:solidFill>
              <a:latin typeface="Times New Roman" panose="02020603050405020304" pitchFamily="18" charset="0"/>
              <a:ea typeface="+mn-ea"/>
              <a:cs typeface="Times New Roman" panose="02020603050405020304" pitchFamily="18" charset="0"/>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68090" y="25385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17963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8090" y="35192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System Design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0780678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lgorithm Introductio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78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7770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8090" y="35192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System Design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64345" y="2538514"/>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Algorithm Introduction</a:t>
            </a:r>
          </a:p>
        </p:txBody>
      </p:sp>
    </p:spTree>
    <p:extLst>
      <p:ext uri="{BB962C8B-B14F-4D97-AF65-F5344CB8AC3E}">
        <p14:creationId xmlns:p14="http://schemas.microsoft.com/office/powerpoint/2010/main" val="55062918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ystem Desig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1532"/>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38821" y="3757772"/>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4345" y="25343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p>
        </p:txBody>
      </p:sp>
      <p:sp>
        <p:nvSpPr>
          <p:cNvPr id="16" name="title_3">
            <a:extLst>
              <a:ext uri="{FF2B5EF4-FFF2-40B4-BE49-F238E27FC236}">
                <a16:creationId xmlns:a16="http://schemas.microsoft.com/office/drawing/2014/main" id="{6045DDFB-338A-4A2E-AD2A-18C35F5B0068}"/>
              </a:ext>
            </a:extLst>
          </p:cNvPr>
          <p:cNvSpPr/>
          <p:nvPr userDrawn="1"/>
        </p:nvSpPr>
        <p:spPr>
          <a:xfrm>
            <a:off x="168090" y="4499914"/>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ysClr val="windowText" lastClr="000000"/>
                </a:solidFill>
                <a:latin typeface="Times New Roman" panose="02020603050405020304" pitchFamily="18" charset="0"/>
                <a:ea typeface="+mn-ea"/>
                <a:cs typeface="Times New Roman" panose="02020603050405020304" pitchFamily="18" charset="0"/>
              </a:rPr>
              <a:t> </a:t>
            </a: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Conclusion</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64345" y="3515026"/>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System Design</a:t>
            </a:r>
          </a:p>
        </p:txBody>
      </p:sp>
    </p:spTree>
    <p:extLst>
      <p:ext uri="{BB962C8B-B14F-4D97-AF65-F5344CB8AC3E}">
        <p14:creationId xmlns:p14="http://schemas.microsoft.com/office/powerpoint/2010/main" val="182348944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5" name="title_3">
            <a:extLst>
              <a:ext uri="{FF2B5EF4-FFF2-40B4-BE49-F238E27FC236}">
                <a16:creationId xmlns:a16="http://schemas.microsoft.com/office/drawing/2014/main" id="{5E55DA65-B873-475F-868B-79475144CBDE}"/>
              </a:ext>
            </a:extLst>
          </p:cNvPr>
          <p:cNvSpPr/>
          <p:nvPr userDrawn="1"/>
        </p:nvSpPr>
        <p:spPr>
          <a:xfrm>
            <a:off x="164345" y="15536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Background</a:t>
            </a:r>
            <a:endParaRPr lang="zh-CN" altLang="en-US" sz="2000" kern="0">
              <a:solidFill>
                <a:schemeClr val="bg1">
                  <a:lumMod val="65000"/>
                </a:schemeClr>
              </a:solidFill>
              <a:latin typeface="Times New Roman" panose="02020603050405020304" pitchFamily="18" charset="0"/>
              <a:ea typeface="+mn-ea"/>
              <a:cs typeface="Times New Roman" panose="02020603050405020304" pitchFamily="18" charset="0"/>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71088" y="47342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259290" y="100560"/>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3">
            <a:extLst>
              <a:ext uri="{FF2B5EF4-FFF2-40B4-BE49-F238E27FC236}">
                <a16:creationId xmlns:a16="http://schemas.microsoft.com/office/drawing/2014/main" id="{8CFF7E95-41AC-404E-B336-6346B3159D85}"/>
              </a:ext>
            </a:extLst>
          </p:cNvPr>
          <p:cNvSpPr/>
          <p:nvPr userDrawn="1"/>
        </p:nvSpPr>
        <p:spPr>
          <a:xfrm>
            <a:off x="164345" y="25343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Algorithm Introduction</a:t>
            </a:r>
          </a:p>
        </p:txBody>
      </p:sp>
      <p:sp>
        <p:nvSpPr>
          <p:cNvPr id="16" name="title_3">
            <a:extLst>
              <a:ext uri="{FF2B5EF4-FFF2-40B4-BE49-F238E27FC236}">
                <a16:creationId xmlns:a16="http://schemas.microsoft.com/office/drawing/2014/main" id="{6045DDFB-338A-4A2E-AD2A-18C35F5B0068}"/>
              </a:ext>
            </a:extLst>
          </p:cNvPr>
          <p:cNvSpPr/>
          <p:nvPr userDrawn="1"/>
        </p:nvSpPr>
        <p:spPr>
          <a:xfrm>
            <a:off x="176226" y="3515026"/>
            <a:ext cx="1584000" cy="684000"/>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kern="0">
                <a:solidFill>
                  <a:schemeClr val="bg1">
                    <a:lumMod val="65000"/>
                  </a:schemeClr>
                </a:solidFill>
                <a:latin typeface="Times New Roman" panose="02020603050405020304" pitchFamily="18" charset="0"/>
                <a:ea typeface="+mn-ea"/>
                <a:cs typeface="Times New Roman" panose="02020603050405020304" pitchFamily="18" charset="0"/>
              </a:rPr>
              <a:t> System Design</a:t>
            </a:r>
          </a:p>
        </p:txBody>
      </p:sp>
      <p:sp>
        <p:nvSpPr>
          <p:cNvPr id="17" name="title_1_green">
            <a:extLst>
              <a:ext uri="{FF2B5EF4-FFF2-40B4-BE49-F238E27FC236}">
                <a16:creationId xmlns:a16="http://schemas.microsoft.com/office/drawing/2014/main" id="{0223E6DD-4173-4A05-8293-0FF4EE8C04B1}"/>
              </a:ext>
            </a:extLst>
          </p:cNvPr>
          <p:cNvSpPr/>
          <p:nvPr userDrawn="1"/>
        </p:nvSpPr>
        <p:spPr>
          <a:xfrm>
            <a:off x="176226" y="4495726"/>
            <a:ext cx="1584000" cy="684000"/>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en-US" altLang="zh-CN" sz="2000" b="1" kern="0">
                <a:solidFill>
                  <a:schemeClr val="bg1"/>
                </a:solidFill>
                <a:latin typeface="Times New Roman" panose="02020603050405020304" pitchFamily="18" charset="0"/>
                <a:ea typeface="+mn-ea"/>
                <a:cs typeface="Times New Roman" panose="02020603050405020304" pitchFamily="18" charset="0"/>
              </a:rPr>
              <a:t>Conclusion</a:t>
            </a:r>
          </a:p>
        </p:txBody>
      </p:sp>
    </p:spTree>
    <p:extLst>
      <p:ext uri="{BB962C8B-B14F-4D97-AF65-F5344CB8AC3E}">
        <p14:creationId xmlns:p14="http://schemas.microsoft.com/office/powerpoint/2010/main" val="130186284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背景介绍</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0" kern="0">
                <a:solidFill>
                  <a:sysClr val="windowText" lastClr="000000"/>
                </a:solidFill>
                <a:latin typeface="微软雅黑" panose="020B0503020204020204" pitchFamily="34" charset="-122"/>
                <a:ea typeface="微软雅黑" panose="020B0503020204020204" pitchFamily="34" charset="-122"/>
              </a:rPr>
              <a:t>实现原理</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应用场景</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94169992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分析与测试">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AAA47860-F3E4-42BB-AFD5-EC6EF4F11AD8}"/>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应用场景</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1" kern="0">
                <a:solidFill>
                  <a:schemeClr val="bg1"/>
                </a:solidFill>
                <a:latin typeface="微软雅黑" panose="020B0503020204020204" pitchFamily="34" charset="-122"/>
                <a:ea typeface="微软雅黑" panose="020B0503020204020204" pitchFamily="34" charset="-122"/>
                <a:cs typeface="+mn-cs"/>
              </a:rPr>
              <a:t>实现原理</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背景介绍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DB8A27FC-07E7-45CF-80A5-CBE5C45819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23779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未来计划">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1CC0BBF9-A8AA-4AE5-ABD4-FA94125E8370}"/>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实现原理</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应用场景</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背景介绍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1344C3B7-47A9-47B5-9573-79AE62A06A2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38445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想法介绍">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想法介绍</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0" kern="0">
                <a:solidFill>
                  <a:sysClr val="windowText" lastClr="000000"/>
                </a:solidFill>
                <a:latin typeface="微软雅黑" panose="020B0503020204020204" pitchFamily="34" charset="-122"/>
                <a:ea typeface="微软雅黑" panose="020B0503020204020204" pitchFamily="34" charset="-122"/>
              </a:rPr>
              <a:t>实现效果</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未来计划</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77457387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实现效果">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AAA47860-F3E4-42BB-AFD5-EC6EF4F11AD8}"/>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未来计划</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1" kern="0">
                <a:solidFill>
                  <a:schemeClr val="bg1"/>
                </a:solidFill>
                <a:latin typeface="微软雅黑" panose="020B0503020204020204" pitchFamily="34" charset="-122"/>
                <a:ea typeface="微软雅黑" panose="020B0503020204020204" pitchFamily="34" charset="-122"/>
                <a:cs typeface="+mn-cs"/>
              </a:rPr>
              <a:t>实现效果</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想法介绍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DB8A27FC-07E7-45CF-80A5-CBE5C45819D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49289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未来计划">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1CC0BBF9-A8AA-4AE5-ABD4-FA94125E8370}"/>
              </a:ext>
            </a:extLst>
          </p:cNvPr>
          <p:cNvCxnSpPr>
            <a:cxnSpLocks/>
          </p:cNvCxnSpPr>
          <p:nvPr userDrawn="1"/>
        </p:nvCxnSpPr>
        <p:spPr>
          <a:xfrm>
            <a:off x="1948789" y="232748"/>
            <a:ext cx="10186" cy="6268065"/>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实现效果</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b="1" kern="0">
                <a:solidFill>
                  <a:schemeClr val="bg1"/>
                </a:solidFill>
                <a:latin typeface="微软雅黑" panose="020B0503020204020204" pitchFamily="34" charset="-122"/>
                <a:ea typeface="微软雅黑" panose="020B0503020204020204" pitchFamily="34" charset="-122"/>
              </a:rPr>
              <a:t>未来计划</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800" b="0" kern="0">
                <a:solidFill>
                  <a:sysClr val="windowText" lastClr="000000"/>
                </a:solidFill>
                <a:latin typeface="微软雅黑" panose="020B0503020204020204" pitchFamily="34" charset="-122"/>
                <a:ea typeface="微软雅黑" panose="020B0503020204020204" pitchFamily="34" charset="-122"/>
                <a:cs typeface="+mn-cs"/>
              </a:rPr>
              <a:t>想法介绍</a:t>
            </a:r>
            <a:endParaRPr lang="en-US" altLang="zh-CN" sz="1800" b="0" kern="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5" name="Picture 10">
            <a:extLst>
              <a:ext uri="{FF2B5EF4-FFF2-40B4-BE49-F238E27FC236}">
                <a16:creationId xmlns:a16="http://schemas.microsoft.com/office/drawing/2014/main" id="{1344C3B7-47A9-47B5-9573-79AE62A06A2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4271" y="137572"/>
            <a:ext cx="1019741" cy="932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40405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2" name="title_1">
            <a:extLst>
              <a:ext uri="{FF2B5EF4-FFF2-40B4-BE49-F238E27FC236}">
                <a16:creationId xmlns:a16="http://schemas.microsoft.com/office/drawing/2014/main" id="{BC6F872F-AD2A-490B-BEC2-0FD82BB0032F}"/>
              </a:ext>
            </a:extLst>
          </p:cNvPr>
          <p:cNvSpPr/>
          <p:nvPr userDrawn="1"/>
        </p:nvSpPr>
        <p:spPr>
          <a:xfrm>
            <a:off x="187325" y="1717268"/>
            <a:ext cx="1485900" cy="49212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r>
              <a:rPr lang="zh-CN" altLang="en-US" sz="1867">
                <a:solidFill>
                  <a:schemeClr val="bg1"/>
                </a:solidFill>
                <a:latin typeface="微软雅黑 Light" panose="020B0502040204020203" pitchFamily="34" charset="-122"/>
                <a:ea typeface="微软雅黑 Light" panose="020B0502040204020203" pitchFamily="34" charset="-122"/>
              </a:rPr>
              <a:t>工作回顾</a:t>
            </a:r>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7325" y="1717268"/>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当前进度</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87325" y="25369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081" y="1859684"/>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Tree>
    <p:extLst>
      <p:ext uri="{BB962C8B-B14F-4D97-AF65-F5344CB8AC3E}">
        <p14:creationId xmlns:p14="http://schemas.microsoft.com/office/powerpoint/2010/main" val="155667178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335660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267955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256440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实验结果</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Tree>
    <p:extLst>
      <p:ext uri="{BB962C8B-B14F-4D97-AF65-F5344CB8AC3E}">
        <p14:creationId xmlns:p14="http://schemas.microsoft.com/office/powerpoint/2010/main" val="68085629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325" y="254400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endParaRPr lang="en-US" altLang="zh-CN" kern="0">
              <a:solidFill>
                <a:sysClr val="windowText" lastClr="000000"/>
              </a:solidFill>
              <a:latin typeface="Calibri"/>
              <a:ea typeface="+mn-ea"/>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3502763"/>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6" name="title_1_green">
            <a:extLst>
              <a:ext uri="{FF2B5EF4-FFF2-40B4-BE49-F238E27FC236}">
                <a16:creationId xmlns:a16="http://schemas.microsoft.com/office/drawing/2014/main" id="{8B4F0D23-AC1E-44B8-836D-90B596D1200B}"/>
              </a:ext>
            </a:extLst>
          </p:cNvPr>
          <p:cNvSpPr/>
          <p:nvPr userDrawn="1"/>
        </p:nvSpPr>
        <p:spPr>
          <a:xfrm>
            <a:off x="187325" y="336014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未来计划</a:t>
            </a: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Tree>
    <p:extLst>
      <p:ext uri="{BB962C8B-B14F-4D97-AF65-F5344CB8AC3E}">
        <p14:creationId xmlns:p14="http://schemas.microsoft.com/office/powerpoint/2010/main" val="181128815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选题背景">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6" name="title_4">
            <a:extLst>
              <a:ext uri="{FF2B5EF4-FFF2-40B4-BE49-F238E27FC236}">
                <a16:creationId xmlns:a16="http://schemas.microsoft.com/office/drawing/2014/main" id="{4E61924D-0897-4E85-A0B9-AB13E9129712}"/>
              </a:ext>
            </a:extLst>
          </p:cNvPr>
          <p:cNvSpPr/>
          <p:nvPr userDrawn="1"/>
        </p:nvSpPr>
        <p:spPr>
          <a:xfrm>
            <a:off x="187254" y="255598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实验结果</a:t>
            </a:r>
            <a:endParaRPr lang="en-US" altLang="zh-CN" kern="0">
              <a:solidFill>
                <a:sysClr val="windowText" lastClr="000000"/>
              </a:solidFill>
              <a:latin typeface="Calibri"/>
              <a:ea typeface="+mn-ea"/>
            </a:endParaRPr>
          </a:p>
        </p:txBody>
      </p:sp>
      <p:sp>
        <p:nvSpPr>
          <p:cNvPr id="37" name="title_5">
            <a:extLst>
              <a:ext uri="{FF2B5EF4-FFF2-40B4-BE49-F238E27FC236}">
                <a16:creationId xmlns:a16="http://schemas.microsoft.com/office/drawing/2014/main" id="{8748D38F-B15B-4342-A5AF-2E53053EA955}"/>
              </a:ext>
            </a:extLst>
          </p:cNvPr>
          <p:cNvSpPr/>
          <p:nvPr userDrawn="1"/>
        </p:nvSpPr>
        <p:spPr>
          <a:xfrm>
            <a:off x="187254" y="342656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未来计划</a:t>
            </a: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855533" y="443977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7" name="title_4">
            <a:extLst>
              <a:ext uri="{FF2B5EF4-FFF2-40B4-BE49-F238E27FC236}">
                <a16:creationId xmlns:a16="http://schemas.microsoft.com/office/drawing/2014/main" id="{1FC11B20-B1E4-4F9E-9D04-A5E81732D5AE}"/>
              </a:ext>
            </a:extLst>
          </p:cNvPr>
          <p:cNvSpPr/>
          <p:nvPr userDrawn="1"/>
        </p:nvSpPr>
        <p:spPr>
          <a:xfrm>
            <a:off x="187325" y="168540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当前进度</a:t>
            </a:r>
            <a:endParaRPr lang="en-US" altLang="zh-CN" kern="0">
              <a:solidFill>
                <a:sysClr val="windowText" lastClr="000000"/>
              </a:solidFill>
              <a:latin typeface="Calibri"/>
              <a:ea typeface="+mn-ea"/>
            </a:endParaRPr>
          </a:p>
        </p:txBody>
      </p:sp>
      <p:sp>
        <p:nvSpPr>
          <p:cNvPr id="15" name="title_1_green">
            <a:extLst>
              <a:ext uri="{FF2B5EF4-FFF2-40B4-BE49-F238E27FC236}">
                <a16:creationId xmlns:a16="http://schemas.microsoft.com/office/drawing/2014/main" id="{ED9F3CD4-B0FB-40A5-8679-233F3092ACA4}"/>
              </a:ext>
            </a:extLst>
          </p:cNvPr>
          <p:cNvSpPr/>
          <p:nvPr userDrawn="1"/>
        </p:nvSpPr>
        <p:spPr>
          <a:xfrm>
            <a:off x="187254" y="4297150"/>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预期目标</a:t>
            </a:r>
          </a:p>
        </p:txBody>
      </p:sp>
    </p:spTree>
    <p:extLst>
      <p:ext uri="{BB962C8B-B14F-4D97-AF65-F5344CB8AC3E}">
        <p14:creationId xmlns:p14="http://schemas.microsoft.com/office/powerpoint/2010/main" val="418363533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研究现状">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85AF84CC-7C5D-4010-9FC1-0A9DDE716264}"/>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51" name="arrow_游标">
            <a:extLst>
              <a:ext uri="{FF2B5EF4-FFF2-40B4-BE49-F238E27FC236}">
                <a16:creationId xmlns:a16="http://schemas.microsoft.com/office/drawing/2014/main" id="{768FD2FD-8E19-46A2-B126-D05693AFB025}"/>
              </a:ext>
            </a:extLst>
          </p:cNvPr>
          <p:cNvGrpSpPr>
            <a:grpSpLocks noChangeAspect="1"/>
          </p:cNvGrpSpPr>
          <p:nvPr userDrawn="1"/>
        </p:nvGrpSpPr>
        <p:grpSpPr>
          <a:xfrm rot="10800000" flipH="1">
            <a:off x="1836031" y="2281632"/>
            <a:ext cx="206884" cy="206884"/>
            <a:chOff x="510977" y="1676698"/>
            <a:chExt cx="174686" cy="174686"/>
          </a:xfrm>
          <a:solidFill>
            <a:schemeClr val="bg1"/>
          </a:solidFill>
        </p:grpSpPr>
        <p:sp>
          <p:nvSpPr>
            <p:cNvPr id="52" name="椭圆 51">
              <a:extLst>
                <a:ext uri="{FF2B5EF4-FFF2-40B4-BE49-F238E27FC236}">
                  <a16:creationId xmlns:a16="http://schemas.microsoft.com/office/drawing/2014/main" id="{6E25375D-83DB-47A2-99C2-6BB0FB4E44C1}"/>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53" name="直接连接符 52">
              <a:extLst>
                <a:ext uri="{FF2B5EF4-FFF2-40B4-BE49-F238E27FC236}">
                  <a16:creationId xmlns:a16="http://schemas.microsoft.com/office/drawing/2014/main" id="{6B5EB2F4-B654-43B5-8383-5DCF5C318B1D}"/>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AA13887-56D3-487D-B51A-E67F72EFFEBA}"/>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10F47D5F-995E-4E05-A856-ABE67C6C29B5}"/>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6" name="Picture 10">
            <a:extLst>
              <a:ext uri="{FF2B5EF4-FFF2-40B4-BE49-F238E27FC236}">
                <a16:creationId xmlns:a16="http://schemas.microsoft.com/office/drawing/2014/main" id="{448D6B4D-920E-42DB-BFBB-056F7154E5D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59" name="title_2">
            <a:extLst>
              <a:ext uri="{FF2B5EF4-FFF2-40B4-BE49-F238E27FC236}">
                <a16:creationId xmlns:a16="http://schemas.microsoft.com/office/drawing/2014/main" id="{E838677C-724C-4CAD-892B-CD9688C0D2D7}"/>
              </a:ext>
            </a:extLst>
          </p:cNvPr>
          <p:cNvSpPr/>
          <p:nvPr userDrawn="1"/>
        </p:nvSpPr>
        <p:spPr>
          <a:xfrm>
            <a:off x="168275" y="1516917"/>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60" name="title_3">
            <a:extLst>
              <a:ext uri="{FF2B5EF4-FFF2-40B4-BE49-F238E27FC236}">
                <a16:creationId xmlns:a16="http://schemas.microsoft.com/office/drawing/2014/main" id="{B7496C3B-3CDA-44E7-B989-1731A6148D7C}"/>
              </a:ext>
            </a:extLst>
          </p:cNvPr>
          <p:cNvSpPr/>
          <p:nvPr userDrawn="1"/>
        </p:nvSpPr>
        <p:spPr>
          <a:xfrm>
            <a:off x="168275" y="2744054"/>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61" name="title_4">
            <a:extLst>
              <a:ext uri="{FF2B5EF4-FFF2-40B4-BE49-F238E27FC236}">
                <a16:creationId xmlns:a16="http://schemas.microsoft.com/office/drawing/2014/main" id="{8A2DC838-06EF-4706-A5FE-597C379DF77F}"/>
              </a:ext>
            </a:extLst>
          </p:cNvPr>
          <p:cNvSpPr/>
          <p:nvPr userDrawn="1"/>
        </p:nvSpPr>
        <p:spPr>
          <a:xfrm>
            <a:off x="168275" y="335682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62" name="title_5">
            <a:extLst>
              <a:ext uri="{FF2B5EF4-FFF2-40B4-BE49-F238E27FC236}">
                <a16:creationId xmlns:a16="http://schemas.microsoft.com/office/drawing/2014/main" id="{E4CC7404-7926-433E-B8AB-A6724478465A}"/>
              </a:ext>
            </a:extLst>
          </p:cNvPr>
          <p:cNvSpPr/>
          <p:nvPr userDrawn="1"/>
        </p:nvSpPr>
        <p:spPr>
          <a:xfrm>
            <a:off x="168275" y="3969604"/>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63" name="title_6">
            <a:extLst>
              <a:ext uri="{FF2B5EF4-FFF2-40B4-BE49-F238E27FC236}">
                <a16:creationId xmlns:a16="http://schemas.microsoft.com/office/drawing/2014/main" id="{AA086B6E-D8EE-4D6B-A9E4-ED7E933E49B1}"/>
              </a:ext>
            </a:extLst>
          </p:cNvPr>
          <p:cNvSpPr/>
          <p:nvPr userDrawn="1"/>
        </p:nvSpPr>
        <p:spPr>
          <a:xfrm>
            <a:off x="168275" y="4580791"/>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64" name="title_6">
            <a:extLst>
              <a:ext uri="{FF2B5EF4-FFF2-40B4-BE49-F238E27FC236}">
                <a16:creationId xmlns:a16="http://schemas.microsoft.com/office/drawing/2014/main" id="{15A25762-99EC-4815-B74E-0E49CE159310}"/>
              </a:ext>
            </a:extLst>
          </p:cNvPr>
          <p:cNvSpPr/>
          <p:nvPr userDrawn="1"/>
        </p:nvSpPr>
        <p:spPr>
          <a:xfrm>
            <a:off x="168275" y="519197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65" name="title_1_green">
            <a:extLst>
              <a:ext uri="{FF2B5EF4-FFF2-40B4-BE49-F238E27FC236}">
                <a16:creationId xmlns:a16="http://schemas.microsoft.com/office/drawing/2014/main" id="{EB64FB3E-E275-4A80-B447-73D6BC0C4E26}"/>
              </a:ext>
            </a:extLst>
          </p:cNvPr>
          <p:cNvSpPr/>
          <p:nvPr userDrawn="1"/>
        </p:nvSpPr>
        <p:spPr>
          <a:xfrm>
            <a:off x="168275" y="2131279"/>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研究现状</a:t>
            </a:r>
          </a:p>
        </p:txBody>
      </p:sp>
      <p:sp>
        <p:nvSpPr>
          <p:cNvPr id="18" name="五边形 8">
            <a:extLst>
              <a:ext uri="{FF2B5EF4-FFF2-40B4-BE49-F238E27FC236}">
                <a16:creationId xmlns:a16="http://schemas.microsoft.com/office/drawing/2014/main" id="{02D82F3A-8CEC-4A1D-BCF9-4207FED08D47}"/>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9" name="矩形 18">
            <a:extLst>
              <a:ext uri="{FF2B5EF4-FFF2-40B4-BE49-F238E27FC236}">
                <a16:creationId xmlns:a16="http://schemas.microsoft.com/office/drawing/2014/main" id="{8A513533-CB6F-420D-B18B-94945932F3E4}"/>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33000330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研究内容">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1E26D6CA-C99F-49E7-A957-6A57F0504B55}"/>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33" name="arrow_游标">
            <a:extLst>
              <a:ext uri="{FF2B5EF4-FFF2-40B4-BE49-F238E27FC236}">
                <a16:creationId xmlns:a16="http://schemas.microsoft.com/office/drawing/2014/main" id="{05966C0E-425A-4486-9911-D8B17FD5F4C9}"/>
              </a:ext>
            </a:extLst>
          </p:cNvPr>
          <p:cNvGrpSpPr>
            <a:grpSpLocks noChangeAspect="1"/>
          </p:cNvGrpSpPr>
          <p:nvPr userDrawn="1"/>
        </p:nvGrpSpPr>
        <p:grpSpPr>
          <a:xfrm rot="10800000" flipH="1">
            <a:off x="1836031" y="2882440"/>
            <a:ext cx="206884" cy="206884"/>
            <a:chOff x="510977" y="1676698"/>
            <a:chExt cx="174686" cy="174686"/>
          </a:xfrm>
          <a:solidFill>
            <a:schemeClr val="bg1"/>
          </a:solidFill>
        </p:grpSpPr>
        <p:sp>
          <p:nvSpPr>
            <p:cNvPr id="34" name="椭圆 33">
              <a:extLst>
                <a:ext uri="{FF2B5EF4-FFF2-40B4-BE49-F238E27FC236}">
                  <a16:creationId xmlns:a16="http://schemas.microsoft.com/office/drawing/2014/main" id="{A6A46C55-C764-4248-A5FB-DB732F2B8874}"/>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35" name="直接连接符 34">
              <a:extLst>
                <a:ext uri="{FF2B5EF4-FFF2-40B4-BE49-F238E27FC236}">
                  <a16:creationId xmlns:a16="http://schemas.microsoft.com/office/drawing/2014/main" id="{1EDA48D5-A4D0-468D-BB37-B4CD908F6478}"/>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58125E7-BEA4-45C3-AC39-9241C0DB5DF4}"/>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5FE7AF7-7BC3-4E53-9FDD-7D49579846B7}"/>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8" name="Picture 10">
            <a:extLst>
              <a:ext uri="{FF2B5EF4-FFF2-40B4-BE49-F238E27FC236}">
                <a16:creationId xmlns:a16="http://schemas.microsoft.com/office/drawing/2014/main" id="{E60BF3B1-5DD4-4FF2-B5F8-9761566AACD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0" name="title_2">
            <a:extLst>
              <a:ext uri="{FF2B5EF4-FFF2-40B4-BE49-F238E27FC236}">
                <a16:creationId xmlns:a16="http://schemas.microsoft.com/office/drawing/2014/main" id="{3FF2102D-B762-4BFD-8F33-B36B57342B23}"/>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1" name="title_3">
            <a:extLst>
              <a:ext uri="{FF2B5EF4-FFF2-40B4-BE49-F238E27FC236}">
                <a16:creationId xmlns:a16="http://schemas.microsoft.com/office/drawing/2014/main" id="{C7E81876-2BBC-409F-A443-89392809A59F}"/>
              </a:ext>
            </a:extLst>
          </p:cNvPr>
          <p:cNvSpPr/>
          <p:nvPr userDrawn="1"/>
        </p:nvSpPr>
        <p:spPr>
          <a:xfrm>
            <a:off x="168275" y="21235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42" name="title_4">
            <a:extLst>
              <a:ext uri="{FF2B5EF4-FFF2-40B4-BE49-F238E27FC236}">
                <a16:creationId xmlns:a16="http://schemas.microsoft.com/office/drawing/2014/main" id="{FC18ECAB-B75D-424E-BB1F-8CA7D2813888}"/>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43" name="title_5">
            <a:extLst>
              <a:ext uri="{FF2B5EF4-FFF2-40B4-BE49-F238E27FC236}">
                <a16:creationId xmlns:a16="http://schemas.microsoft.com/office/drawing/2014/main" id="{4B475FFD-CFCD-47F0-ABA3-599CC3B89362}"/>
              </a:ext>
            </a:extLst>
          </p:cNvPr>
          <p:cNvSpPr/>
          <p:nvPr userDrawn="1"/>
        </p:nvSpPr>
        <p:spPr>
          <a:xfrm>
            <a:off x="168275" y="396081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44" name="title_6">
            <a:extLst>
              <a:ext uri="{FF2B5EF4-FFF2-40B4-BE49-F238E27FC236}">
                <a16:creationId xmlns:a16="http://schemas.microsoft.com/office/drawing/2014/main" id="{42AF8A51-0BC4-46FE-A35B-3621413716D4}"/>
              </a:ext>
            </a:extLst>
          </p:cNvPr>
          <p:cNvSpPr/>
          <p:nvPr userDrawn="1"/>
        </p:nvSpPr>
        <p:spPr>
          <a:xfrm>
            <a:off x="168275" y="45719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45" name="title_6">
            <a:extLst>
              <a:ext uri="{FF2B5EF4-FFF2-40B4-BE49-F238E27FC236}">
                <a16:creationId xmlns:a16="http://schemas.microsoft.com/office/drawing/2014/main" id="{22F84321-52F0-47D3-8034-208084E8D18F}"/>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46" name="title_1_green">
            <a:extLst>
              <a:ext uri="{FF2B5EF4-FFF2-40B4-BE49-F238E27FC236}">
                <a16:creationId xmlns:a16="http://schemas.microsoft.com/office/drawing/2014/main" id="{B7382B30-CAC7-40F7-A359-45170C8B263F}"/>
              </a:ext>
            </a:extLst>
          </p:cNvPr>
          <p:cNvSpPr/>
          <p:nvPr userDrawn="1"/>
        </p:nvSpPr>
        <p:spPr>
          <a:xfrm>
            <a:off x="168275" y="2734163"/>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研究内容</a:t>
            </a:r>
          </a:p>
        </p:txBody>
      </p:sp>
      <p:sp>
        <p:nvSpPr>
          <p:cNvPr id="18" name="五边形 8">
            <a:extLst>
              <a:ext uri="{FF2B5EF4-FFF2-40B4-BE49-F238E27FC236}">
                <a16:creationId xmlns:a16="http://schemas.microsoft.com/office/drawing/2014/main" id="{F24F17E3-C30B-4558-9875-F07730B5AAAB}"/>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0" name="矩形 19">
            <a:extLst>
              <a:ext uri="{FF2B5EF4-FFF2-40B4-BE49-F238E27FC236}">
                <a16:creationId xmlns:a16="http://schemas.microsoft.com/office/drawing/2014/main" id="{40670E59-CE5D-4378-A243-C54455C2AE7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273232753"/>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已完成工作">
    <p:spTree>
      <p:nvGrpSpPr>
        <p:cNvPr id="1" name=""/>
        <p:cNvGrpSpPr/>
        <p:nvPr/>
      </p:nvGrpSpPr>
      <p:grpSpPr>
        <a:xfrm>
          <a:off x="0" y="0"/>
          <a:ext cx="0" cy="0"/>
          <a:chOff x="0" y="0"/>
          <a:chExt cx="0" cy="0"/>
        </a:xfrm>
      </p:grpSpPr>
      <p:cxnSp>
        <p:nvCxnSpPr>
          <p:cNvPr id="22" name="直接连接符 21">
            <a:extLst>
              <a:ext uri="{FF2B5EF4-FFF2-40B4-BE49-F238E27FC236}">
                <a16:creationId xmlns:a16="http://schemas.microsoft.com/office/drawing/2014/main" id="{43D0D28C-F871-4D64-8DD2-F89BD90684B5}"/>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1" name="arrow_游标">
            <a:extLst>
              <a:ext uri="{FF2B5EF4-FFF2-40B4-BE49-F238E27FC236}">
                <a16:creationId xmlns:a16="http://schemas.microsoft.com/office/drawing/2014/main" id="{B1E9A17C-8FBF-4337-89CB-8E006152EA95}"/>
              </a:ext>
            </a:extLst>
          </p:cNvPr>
          <p:cNvGrpSpPr>
            <a:grpSpLocks noChangeAspect="1"/>
          </p:cNvGrpSpPr>
          <p:nvPr userDrawn="1"/>
        </p:nvGrpSpPr>
        <p:grpSpPr>
          <a:xfrm rot="10800000" flipH="1">
            <a:off x="1836031" y="3504741"/>
            <a:ext cx="206884" cy="206884"/>
            <a:chOff x="510977" y="1676698"/>
            <a:chExt cx="174686" cy="174686"/>
          </a:xfrm>
          <a:solidFill>
            <a:schemeClr val="bg1"/>
          </a:solidFill>
        </p:grpSpPr>
        <p:sp>
          <p:nvSpPr>
            <p:cNvPr id="42" name="椭圆 41">
              <a:extLst>
                <a:ext uri="{FF2B5EF4-FFF2-40B4-BE49-F238E27FC236}">
                  <a16:creationId xmlns:a16="http://schemas.microsoft.com/office/drawing/2014/main" id="{A06F3A03-4688-417C-9C6D-1F3B96FF4EA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3" name="直接连接符 42">
              <a:extLst>
                <a:ext uri="{FF2B5EF4-FFF2-40B4-BE49-F238E27FC236}">
                  <a16:creationId xmlns:a16="http://schemas.microsoft.com/office/drawing/2014/main" id="{1AA2C85F-68DD-4E4B-A7C7-C1A3F7DB5105}"/>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23E441E-A817-4BF0-8717-A74A9B2A1E02}"/>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A3C4E4D-B3AF-4C82-B8E1-3E9A497E9B69}"/>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46" name="Picture 10">
            <a:extLst>
              <a:ext uri="{FF2B5EF4-FFF2-40B4-BE49-F238E27FC236}">
                <a16:creationId xmlns:a16="http://schemas.microsoft.com/office/drawing/2014/main" id="{29B72CFE-97F8-4284-B0E3-89FFD511A1D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7" name="title_2">
            <a:extLst>
              <a:ext uri="{FF2B5EF4-FFF2-40B4-BE49-F238E27FC236}">
                <a16:creationId xmlns:a16="http://schemas.microsoft.com/office/drawing/2014/main" id="{0DACD02F-392B-4965-9B64-D794D019B4E4}"/>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8" name="title_3">
            <a:extLst>
              <a:ext uri="{FF2B5EF4-FFF2-40B4-BE49-F238E27FC236}">
                <a16:creationId xmlns:a16="http://schemas.microsoft.com/office/drawing/2014/main" id="{279C359E-91B0-4E30-BFB7-57329280C31A}"/>
              </a:ext>
            </a:extLst>
          </p:cNvPr>
          <p:cNvSpPr/>
          <p:nvPr userDrawn="1"/>
        </p:nvSpPr>
        <p:spPr>
          <a:xfrm>
            <a:off x="168275" y="273843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49" name="title_4">
            <a:extLst>
              <a:ext uri="{FF2B5EF4-FFF2-40B4-BE49-F238E27FC236}">
                <a16:creationId xmlns:a16="http://schemas.microsoft.com/office/drawing/2014/main" id="{224C529D-B94B-4D42-829F-3B036ADD50DE}"/>
              </a:ext>
            </a:extLst>
          </p:cNvPr>
          <p:cNvSpPr/>
          <p:nvPr userDrawn="1"/>
        </p:nvSpPr>
        <p:spPr>
          <a:xfrm>
            <a:off x="168275" y="2124075"/>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endParaRPr lang="en-US" altLang="zh-CN" kern="0">
              <a:solidFill>
                <a:sysClr val="windowText" lastClr="000000"/>
              </a:solidFill>
              <a:latin typeface="Calibri"/>
              <a:ea typeface="+mn-ea"/>
            </a:endParaRPr>
          </a:p>
        </p:txBody>
      </p:sp>
      <p:sp>
        <p:nvSpPr>
          <p:cNvPr id="50" name="title_5">
            <a:extLst>
              <a:ext uri="{FF2B5EF4-FFF2-40B4-BE49-F238E27FC236}">
                <a16:creationId xmlns:a16="http://schemas.microsoft.com/office/drawing/2014/main" id="{565C2400-1492-4BD6-AA93-EAAE1B9C3A57}"/>
              </a:ext>
            </a:extLst>
          </p:cNvPr>
          <p:cNvSpPr/>
          <p:nvPr userDrawn="1"/>
        </p:nvSpPr>
        <p:spPr>
          <a:xfrm>
            <a:off x="168275" y="3963988"/>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51" name="title_6">
            <a:extLst>
              <a:ext uri="{FF2B5EF4-FFF2-40B4-BE49-F238E27FC236}">
                <a16:creationId xmlns:a16="http://schemas.microsoft.com/office/drawing/2014/main" id="{5FA2C59A-57E7-48B4-9CBE-7AF4016CF48D}"/>
              </a:ext>
            </a:extLst>
          </p:cNvPr>
          <p:cNvSpPr/>
          <p:nvPr userDrawn="1"/>
        </p:nvSpPr>
        <p:spPr>
          <a:xfrm>
            <a:off x="168275" y="4575175"/>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52" name="title_6">
            <a:extLst>
              <a:ext uri="{FF2B5EF4-FFF2-40B4-BE49-F238E27FC236}">
                <a16:creationId xmlns:a16="http://schemas.microsoft.com/office/drawing/2014/main" id="{50C47F66-7700-41F6-A1BA-6B790CD959E2}"/>
              </a:ext>
            </a:extLst>
          </p:cNvPr>
          <p:cNvSpPr/>
          <p:nvPr userDrawn="1"/>
        </p:nvSpPr>
        <p:spPr>
          <a:xfrm>
            <a:off x="168275" y="51863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53" name="title_1_green">
            <a:extLst>
              <a:ext uri="{FF2B5EF4-FFF2-40B4-BE49-F238E27FC236}">
                <a16:creationId xmlns:a16="http://schemas.microsoft.com/office/drawing/2014/main" id="{0612F683-39BC-48BD-B8B9-AC9AEEA549B3}"/>
              </a:ext>
            </a:extLst>
          </p:cNvPr>
          <p:cNvSpPr/>
          <p:nvPr userDrawn="1"/>
        </p:nvSpPr>
        <p:spPr>
          <a:xfrm>
            <a:off x="168275" y="3349625"/>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已完成工作</a:t>
            </a:r>
          </a:p>
        </p:txBody>
      </p:sp>
      <p:sp>
        <p:nvSpPr>
          <p:cNvPr id="18" name="五边形 8">
            <a:extLst>
              <a:ext uri="{FF2B5EF4-FFF2-40B4-BE49-F238E27FC236}">
                <a16:creationId xmlns:a16="http://schemas.microsoft.com/office/drawing/2014/main" id="{A051EF04-FEB3-42BA-994C-C9685C5E8764}"/>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3" name="矩形 22">
            <a:extLst>
              <a:ext uri="{FF2B5EF4-FFF2-40B4-BE49-F238E27FC236}">
                <a16:creationId xmlns:a16="http://schemas.microsoft.com/office/drawing/2014/main" id="{F94B00A4-988B-455A-96A8-3B441DA9AAB8}"/>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1776487260"/>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预期目标">
    <p:spTree>
      <p:nvGrpSpPr>
        <p:cNvPr id="1" name=""/>
        <p:cNvGrpSpPr/>
        <p:nvPr/>
      </p:nvGrpSpPr>
      <p:grpSpPr>
        <a:xfrm>
          <a:off x="0" y="0"/>
          <a:ext cx="0" cy="0"/>
          <a:chOff x="0" y="0"/>
          <a:chExt cx="0" cy="0"/>
        </a:xfrm>
      </p:grpSpPr>
      <p:cxnSp>
        <p:nvCxnSpPr>
          <p:cNvPr id="18" name="直接连接符 17">
            <a:extLst>
              <a:ext uri="{FF2B5EF4-FFF2-40B4-BE49-F238E27FC236}">
                <a16:creationId xmlns:a16="http://schemas.microsoft.com/office/drawing/2014/main" id="{883996A1-AA0A-4761-A209-57746CB4EE13}"/>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27" name="arrow_游标">
            <a:extLst>
              <a:ext uri="{FF2B5EF4-FFF2-40B4-BE49-F238E27FC236}">
                <a16:creationId xmlns:a16="http://schemas.microsoft.com/office/drawing/2014/main" id="{AD3CC518-0B28-447B-BF79-5B7E6E5D7DAD}"/>
              </a:ext>
            </a:extLst>
          </p:cNvPr>
          <p:cNvGrpSpPr>
            <a:grpSpLocks noChangeAspect="1"/>
          </p:cNvGrpSpPr>
          <p:nvPr userDrawn="1"/>
        </p:nvGrpSpPr>
        <p:grpSpPr>
          <a:xfrm rot="10800000" flipH="1">
            <a:off x="1836031" y="4092115"/>
            <a:ext cx="206884" cy="206884"/>
            <a:chOff x="510977" y="1676698"/>
            <a:chExt cx="174686" cy="174686"/>
          </a:xfrm>
          <a:solidFill>
            <a:schemeClr val="bg1"/>
          </a:solidFill>
        </p:grpSpPr>
        <p:sp>
          <p:nvSpPr>
            <p:cNvPr id="28" name="椭圆 27">
              <a:extLst>
                <a:ext uri="{FF2B5EF4-FFF2-40B4-BE49-F238E27FC236}">
                  <a16:creationId xmlns:a16="http://schemas.microsoft.com/office/drawing/2014/main" id="{A9DE5797-D6ED-45AD-8544-AF5E100F2A91}"/>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29" name="直接连接符 28">
              <a:extLst>
                <a:ext uri="{FF2B5EF4-FFF2-40B4-BE49-F238E27FC236}">
                  <a16:creationId xmlns:a16="http://schemas.microsoft.com/office/drawing/2014/main" id="{030E10E1-4245-4041-8E76-D2E915841C80}"/>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51EE7DD-DDA2-4BA1-A5B7-A7682A7ABB9C}"/>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04184733-6272-4A62-8924-7A9C7F3B509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2" name="Picture 10">
            <a:extLst>
              <a:ext uri="{FF2B5EF4-FFF2-40B4-BE49-F238E27FC236}">
                <a16:creationId xmlns:a16="http://schemas.microsoft.com/office/drawing/2014/main" id="{0729201F-2A83-4147-A33E-C7766FB06056}"/>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40" name="title_2">
            <a:extLst>
              <a:ext uri="{FF2B5EF4-FFF2-40B4-BE49-F238E27FC236}">
                <a16:creationId xmlns:a16="http://schemas.microsoft.com/office/drawing/2014/main" id="{47B475DE-F9A3-44AC-B627-EEB611058906}"/>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41" name="title_3">
            <a:extLst>
              <a:ext uri="{FF2B5EF4-FFF2-40B4-BE49-F238E27FC236}">
                <a16:creationId xmlns:a16="http://schemas.microsoft.com/office/drawing/2014/main" id="{DBDC64ED-1830-415B-A1D4-26A8A2CA151F}"/>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42" name="title_4">
            <a:extLst>
              <a:ext uri="{FF2B5EF4-FFF2-40B4-BE49-F238E27FC236}">
                <a16:creationId xmlns:a16="http://schemas.microsoft.com/office/drawing/2014/main" id="{E82EE167-049D-4A74-A31F-6B2D9376157C}"/>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43" name="title_5">
            <a:extLst>
              <a:ext uri="{FF2B5EF4-FFF2-40B4-BE49-F238E27FC236}">
                <a16:creationId xmlns:a16="http://schemas.microsoft.com/office/drawing/2014/main" id="{4008366A-7DC5-402B-865F-C78CEB369A6A}"/>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44" name="title_6">
            <a:extLst>
              <a:ext uri="{FF2B5EF4-FFF2-40B4-BE49-F238E27FC236}">
                <a16:creationId xmlns:a16="http://schemas.microsoft.com/office/drawing/2014/main" id="{9596935A-2952-43BA-8526-91739448E6BA}"/>
              </a:ext>
            </a:extLst>
          </p:cNvPr>
          <p:cNvSpPr/>
          <p:nvPr userDrawn="1"/>
        </p:nvSpPr>
        <p:spPr>
          <a:xfrm>
            <a:off x="168275" y="45719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45" name="title_6">
            <a:extLst>
              <a:ext uri="{FF2B5EF4-FFF2-40B4-BE49-F238E27FC236}">
                <a16:creationId xmlns:a16="http://schemas.microsoft.com/office/drawing/2014/main" id="{823B2198-9855-4C49-9955-B2C3D827FF6B}"/>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46" name="title_1_green">
            <a:extLst>
              <a:ext uri="{FF2B5EF4-FFF2-40B4-BE49-F238E27FC236}">
                <a16:creationId xmlns:a16="http://schemas.microsoft.com/office/drawing/2014/main" id="{6870CF5B-3A2C-4907-A078-C6275908D4A8}"/>
              </a:ext>
            </a:extLst>
          </p:cNvPr>
          <p:cNvSpPr/>
          <p:nvPr userDrawn="1"/>
        </p:nvSpPr>
        <p:spPr>
          <a:xfrm>
            <a:off x="176884" y="3959224"/>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预期目标</a:t>
            </a:r>
          </a:p>
        </p:txBody>
      </p:sp>
      <p:sp>
        <p:nvSpPr>
          <p:cNvPr id="19" name="五边形 8">
            <a:extLst>
              <a:ext uri="{FF2B5EF4-FFF2-40B4-BE49-F238E27FC236}">
                <a16:creationId xmlns:a16="http://schemas.microsoft.com/office/drawing/2014/main" id="{05773393-73B7-4D56-8A6A-0148ECD0CECB}"/>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20" name="矩形 19">
            <a:extLst>
              <a:ext uri="{FF2B5EF4-FFF2-40B4-BE49-F238E27FC236}">
                <a16:creationId xmlns:a16="http://schemas.microsoft.com/office/drawing/2014/main" id="{FF70C837-D07D-4130-A16D-920007C5487A}"/>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1417996970"/>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进度安排">
    <p:spTree>
      <p:nvGrpSpPr>
        <p:cNvPr id="1" name=""/>
        <p:cNvGrpSpPr/>
        <p:nvPr/>
      </p:nvGrpSpPr>
      <p:grpSpPr>
        <a:xfrm>
          <a:off x="0" y="0"/>
          <a:ext cx="0" cy="0"/>
          <a:chOff x="0" y="0"/>
          <a:chExt cx="0" cy="0"/>
        </a:xfrm>
      </p:grpSpPr>
      <p:cxnSp>
        <p:nvCxnSpPr>
          <p:cNvPr id="29" name="直接连接符 28">
            <a:extLst>
              <a:ext uri="{FF2B5EF4-FFF2-40B4-BE49-F238E27FC236}">
                <a16:creationId xmlns:a16="http://schemas.microsoft.com/office/drawing/2014/main" id="{F4ADD359-EEBB-4D29-BA3E-7656E489116C}"/>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6" name="arrow_游标">
            <a:extLst>
              <a:ext uri="{FF2B5EF4-FFF2-40B4-BE49-F238E27FC236}">
                <a16:creationId xmlns:a16="http://schemas.microsoft.com/office/drawing/2014/main" id="{E56864B8-ADEA-41FC-80D1-2C40D4997B17}"/>
              </a:ext>
            </a:extLst>
          </p:cNvPr>
          <p:cNvGrpSpPr>
            <a:grpSpLocks noChangeAspect="1"/>
          </p:cNvGrpSpPr>
          <p:nvPr userDrawn="1"/>
        </p:nvGrpSpPr>
        <p:grpSpPr>
          <a:xfrm rot="10800000" flipH="1">
            <a:off x="1836031" y="4692190"/>
            <a:ext cx="206884" cy="206884"/>
            <a:chOff x="510977" y="1676698"/>
            <a:chExt cx="174686" cy="174686"/>
          </a:xfrm>
          <a:solidFill>
            <a:schemeClr val="bg1"/>
          </a:solidFill>
        </p:grpSpPr>
        <p:sp>
          <p:nvSpPr>
            <p:cNvPr id="17" name="椭圆 16">
              <a:extLst>
                <a:ext uri="{FF2B5EF4-FFF2-40B4-BE49-F238E27FC236}">
                  <a16:creationId xmlns:a16="http://schemas.microsoft.com/office/drawing/2014/main" id="{9CAD5C6A-872C-462B-83E8-3BF62D71DA8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18" name="直接连接符 17">
              <a:extLst>
                <a:ext uri="{FF2B5EF4-FFF2-40B4-BE49-F238E27FC236}">
                  <a16:creationId xmlns:a16="http://schemas.microsoft.com/office/drawing/2014/main" id="{97EFBA2A-F038-4EBA-A72A-184A3E51B002}"/>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1FF8511-457F-4258-99E4-6F5B5FC1C950}"/>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DF80507-29DD-4131-908F-63E4268AD96F}"/>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1" name="Picture 10">
            <a:extLst>
              <a:ext uri="{FF2B5EF4-FFF2-40B4-BE49-F238E27FC236}">
                <a16:creationId xmlns:a16="http://schemas.microsoft.com/office/drawing/2014/main" id="{727B6868-A741-4D9E-BFC2-09C2293008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22" name="title_2">
            <a:extLst>
              <a:ext uri="{FF2B5EF4-FFF2-40B4-BE49-F238E27FC236}">
                <a16:creationId xmlns:a16="http://schemas.microsoft.com/office/drawing/2014/main" id="{B4195B67-BBFC-4092-AE2C-07FFA5F10459}"/>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23" name="title_3">
            <a:extLst>
              <a:ext uri="{FF2B5EF4-FFF2-40B4-BE49-F238E27FC236}">
                <a16:creationId xmlns:a16="http://schemas.microsoft.com/office/drawing/2014/main" id="{58BD4344-A7A9-42F6-A8C6-9582A5FC9179}"/>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24" name="title_4">
            <a:extLst>
              <a:ext uri="{FF2B5EF4-FFF2-40B4-BE49-F238E27FC236}">
                <a16:creationId xmlns:a16="http://schemas.microsoft.com/office/drawing/2014/main" id="{796ED851-E3E1-4A26-8CD8-02D0DAED8FF2}"/>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25" name="title_5">
            <a:extLst>
              <a:ext uri="{FF2B5EF4-FFF2-40B4-BE49-F238E27FC236}">
                <a16:creationId xmlns:a16="http://schemas.microsoft.com/office/drawing/2014/main" id="{88253BB6-2E3B-4165-AF58-42FEAB1AF134}"/>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26" name="title_6">
            <a:extLst>
              <a:ext uri="{FF2B5EF4-FFF2-40B4-BE49-F238E27FC236}">
                <a16:creationId xmlns:a16="http://schemas.microsoft.com/office/drawing/2014/main" id="{11D12D69-2F4A-40E2-8337-89373EB439B2}"/>
              </a:ext>
            </a:extLst>
          </p:cNvPr>
          <p:cNvSpPr/>
          <p:nvPr userDrawn="1"/>
        </p:nvSpPr>
        <p:spPr>
          <a:xfrm>
            <a:off x="168275" y="395641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27" name="title_6">
            <a:extLst>
              <a:ext uri="{FF2B5EF4-FFF2-40B4-BE49-F238E27FC236}">
                <a16:creationId xmlns:a16="http://schemas.microsoft.com/office/drawing/2014/main" id="{5271A8D3-1064-4B0C-9279-D2EC7142057C}"/>
              </a:ext>
            </a:extLst>
          </p:cNvPr>
          <p:cNvSpPr/>
          <p:nvPr userDrawn="1"/>
        </p:nvSpPr>
        <p:spPr>
          <a:xfrm>
            <a:off x="168275" y="5183186"/>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参考文献</a:t>
            </a:r>
          </a:p>
        </p:txBody>
      </p:sp>
      <p:sp>
        <p:nvSpPr>
          <p:cNvPr id="28" name="title_1_green">
            <a:extLst>
              <a:ext uri="{FF2B5EF4-FFF2-40B4-BE49-F238E27FC236}">
                <a16:creationId xmlns:a16="http://schemas.microsoft.com/office/drawing/2014/main" id="{40CB4765-B928-4DCA-8D71-5ADF362DD793}"/>
              </a:ext>
            </a:extLst>
          </p:cNvPr>
          <p:cNvSpPr/>
          <p:nvPr userDrawn="1"/>
        </p:nvSpPr>
        <p:spPr>
          <a:xfrm>
            <a:off x="168275" y="4574806"/>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进度安排</a:t>
            </a:r>
          </a:p>
        </p:txBody>
      </p:sp>
      <p:sp>
        <p:nvSpPr>
          <p:cNvPr id="30" name="五边形 8">
            <a:extLst>
              <a:ext uri="{FF2B5EF4-FFF2-40B4-BE49-F238E27FC236}">
                <a16:creationId xmlns:a16="http://schemas.microsoft.com/office/drawing/2014/main" id="{688AFFDC-98EA-4493-973C-9A5F69937790}"/>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31" name="矩形 30">
            <a:extLst>
              <a:ext uri="{FF2B5EF4-FFF2-40B4-BE49-F238E27FC236}">
                <a16:creationId xmlns:a16="http://schemas.microsoft.com/office/drawing/2014/main" id="{34132558-E7F2-4148-82B7-7EB835560189}"/>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43045710"/>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参考文献">
    <p:spTree>
      <p:nvGrpSpPr>
        <p:cNvPr id="1" name=""/>
        <p:cNvGrpSpPr/>
        <p:nvPr/>
      </p:nvGrpSpPr>
      <p:grpSpPr>
        <a:xfrm>
          <a:off x="0" y="0"/>
          <a:ext cx="0" cy="0"/>
          <a:chOff x="0" y="0"/>
          <a:chExt cx="0" cy="0"/>
        </a:xfrm>
      </p:grpSpPr>
      <p:cxnSp>
        <p:nvCxnSpPr>
          <p:cNvPr id="29" name="直接连接符 28">
            <a:extLst>
              <a:ext uri="{FF2B5EF4-FFF2-40B4-BE49-F238E27FC236}">
                <a16:creationId xmlns:a16="http://schemas.microsoft.com/office/drawing/2014/main" id="{66196417-BCA7-4B6A-B473-E34FB72D43BE}"/>
              </a:ext>
            </a:extLst>
          </p:cNvPr>
          <p:cNvCxnSpPr>
            <a:cxnSpLocks/>
          </p:cNvCxnSpPr>
          <p:nvPr userDrawn="1"/>
        </p:nvCxnSpPr>
        <p:spPr>
          <a:xfrm>
            <a:off x="1925551" y="423949"/>
            <a:ext cx="33424" cy="6076864"/>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6" name="arrow_游标">
            <a:extLst>
              <a:ext uri="{FF2B5EF4-FFF2-40B4-BE49-F238E27FC236}">
                <a16:creationId xmlns:a16="http://schemas.microsoft.com/office/drawing/2014/main" id="{E56864B8-ADEA-41FC-80D1-2C40D4997B17}"/>
              </a:ext>
            </a:extLst>
          </p:cNvPr>
          <p:cNvGrpSpPr>
            <a:grpSpLocks noChangeAspect="1"/>
          </p:cNvGrpSpPr>
          <p:nvPr userDrawn="1"/>
        </p:nvGrpSpPr>
        <p:grpSpPr>
          <a:xfrm rot="10800000" flipH="1">
            <a:off x="1834895" y="5315797"/>
            <a:ext cx="206884" cy="206884"/>
            <a:chOff x="510977" y="1676698"/>
            <a:chExt cx="174686" cy="174686"/>
          </a:xfrm>
          <a:solidFill>
            <a:schemeClr val="bg1"/>
          </a:solidFill>
        </p:grpSpPr>
        <p:sp>
          <p:nvSpPr>
            <p:cNvPr id="17" name="椭圆 16">
              <a:extLst>
                <a:ext uri="{FF2B5EF4-FFF2-40B4-BE49-F238E27FC236}">
                  <a16:creationId xmlns:a16="http://schemas.microsoft.com/office/drawing/2014/main" id="{9CAD5C6A-872C-462B-83E8-3BF62D71DA88}"/>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18" name="直接连接符 17">
              <a:extLst>
                <a:ext uri="{FF2B5EF4-FFF2-40B4-BE49-F238E27FC236}">
                  <a16:creationId xmlns:a16="http://schemas.microsoft.com/office/drawing/2014/main" id="{97EFBA2A-F038-4EBA-A72A-184A3E51B002}"/>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1FF8511-457F-4258-99E4-6F5B5FC1C950}"/>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DF80507-29DD-4131-908F-63E4268AD96F}"/>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1" name="Picture 10">
            <a:extLst>
              <a:ext uri="{FF2B5EF4-FFF2-40B4-BE49-F238E27FC236}">
                <a16:creationId xmlns:a16="http://schemas.microsoft.com/office/drawing/2014/main" id="{727B6868-A741-4D9E-BFC2-09C22930082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00489" y="11107"/>
            <a:ext cx="891511" cy="815001"/>
          </a:xfrm>
          <a:prstGeom prst="rect">
            <a:avLst/>
          </a:prstGeom>
          <a:noFill/>
          <a:extLst>
            <a:ext uri="{909E8E84-426E-40DD-AFC4-6F175D3DCCD1}">
              <a14:hiddenFill xmlns:a14="http://schemas.microsoft.com/office/drawing/2010/main">
                <a:solidFill>
                  <a:srgbClr val="FFFFFF"/>
                </a:solidFill>
              </a14:hiddenFill>
            </a:ext>
          </a:extLst>
        </p:spPr>
      </p:pic>
      <p:sp>
        <p:nvSpPr>
          <p:cNvPr id="22" name="title_2">
            <a:extLst>
              <a:ext uri="{FF2B5EF4-FFF2-40B4-BE49-F238E27FC236}">
                <a16:creationId xmlns:a16="http://schemas.microsoft.com/office/drawing/2014/main" id="{B4195B67-BBFC-4092-AE2C-07FFA5F10459}"/>
              </a:ext>
            </a:extLst>
          </p:cNvPr>
          <p:cNvSpPr/>
          <p:nvPr userDrawn="1"/>
        </p:nvSpPr>
        <p:spPr>
          <a:xfrm>
            <a:off x="168275" y="1508125"/>
            <a:ext cx="1485900" cy="493712"/>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选题背景</a:t>
            </a:r>
          </a:p>
        </p:txBody>
      </p:sp>
      <p:sp>
        <p:nvSpPr>
          <p:cNvPr id="23" name="title_3">
            <a:extLst>
              <a:ext uri="{FF2B5EF4-FFF2-40B4-BE49-F238E27FC236}">
                <a16:creationId xmlns:a16="http://schemas.microsoft.com/office/drawing/2014/main" id="{58BD4344-A7A9-42F6-A8C6-9582A5FC9179}"/>
              </a:ext>
            </a:extLst>
          </p:cNvPr>
          <p:cNvSpPr/>
          <p:nvPr userDrawn="1"/>
        </p:nvSpPr>
        <p:spPr>
          <a:xfrm>
            <a:off x="168275" y="2735262"/>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研究内容</a:t>
            </a:r>
          </a:p>
        </p:txBody>
      </p:sp>
      <p:sp>
        <p:nvSpPr>
          <p:cNvPr id="24" name="title_4">
            <a:extLst>
              <a:ext uri="{FF2B5EF4-FFF2-40B4-BE49-F238E27FC236}">
                <a16:creationId xmlns:a16="http://schemas.microsoft.com/office/drawing/2014/main" id="{796ED851-E3E1-4A26-8CD8-02D0DAED8FF2}"/>
              </a:ext>
            </a:extLst>
          </p:cNvPr>
          <p:cNvSpPr/>
          <p:nvPr userDrawn="1"/>
        </p:nvSpPr>
        <p:spPr>
          <a:xfrm>
            <a:off x="168275" y="334803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已完成工作</a:t>
            </a:r>
            <a:endParaRPr lang="en-US" altLang="zh-CN" kern="0">
              <a:solidFill>
                <a:sysClr val="windowText" lastClr="000000"/>
              </a:solidFill>
              <a:latin typeface="Calibri"/>
              <a:ea typeface="+mn-ea"/>
            </a:endParaRPr>
          </a:p>
        </p:txBody>
      </p:sp>
      <p:sp>
        <p:nvSpPr>
          <p:cNvPr id="25" name="title_5">
            <a:extLst>
              <a:ext uri="{FF2B5EF4-FFF2-40B4-BE49-F238E27FC236}">
                <a16:creationId xmlns:a16="http://schemas.microsoft.com/office/drawing/2014/main" id="{88253BB6-2E3B-4165-AF58-42FEAB1AF134}"/>
              </a:ext>
            </a:extLst>
          </p:cNvPr>
          <p:cNvSpPr/>
          <p:nvPr userDrawn="1"/>
        </p:nvSpPr>
        <p:spPr>
          <a:xfrm>
            <a:off x="168275" y="2120899"/>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研究现状</a:t>
            </a:r>
          </a:p>
        </p:txBody>
      </p:sp>
      <p:sp>
        <p:nvSpPr>
          <p:cNvPr id="26" name="title_6">
            <a:extLst>
              <a:ext uri="{FF2B5EF4-FFF2-40B4-BE49-F238E27FC236}">
                <a16:creationId xmlns:a16="http://schemas.microsoft.com/office/drawing/2014/main" id="{11D12D69-2F4A-40E2-8337-89373EB439B2}"/>
              </a:ext>
            </a:extLst>
          </p:cNvPr>
          <p:cNvSpPr/>
          <p:nvPr userDrawn="1"/>
        </p:nvSpPr>
        <p:spPr>
          <a:xfrm>
            <a:off x="168275" y="395641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预期目标</a:t>
            </a:r>
          </a:p>
        </p:txBody>
      </p:sp>
      <p:sp>
        <p:nvSpPr>
          <p:cNvPr id="27" name="title_6">
            <a:extLst>
              <a:ext uri="{FF2B5EF4-FFF2-40B4-BE49-F238E27FC236}">
                <a16:creationId xmlns:a16="http://schemas.microsoft.com/office/drawing/2014/main" id="{5271A8D3-1064-4B0C-9279-D2EC7142057C}"/>
              </a:ext>
            </a:extLst>
          </p:cNvPr>
          <p:cNvSpPr/>
          <p:nvPr userDrawn="1"/>
        </p:nvSpPr>
        <p:spPr>
          <a:xfrm>
            <a:off x="168275" y="4564797"/>
            <a:ext cx="1485900"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ysClr val="windowText" lastClr="000000"/>
                </a:solidFill>
                <a:latin typeface="Calibri"/>
                <a:ea typeface="+mn-ea"/>
              </a:rPr>
              <a:t>进度安排</a:t>
            </a:r>
          </a:p>
        </p:txBody>
      </p:sp>
      <p:sp>
        <p:nvSpPr>
          <p:cNvPr id="28" name="title_1_green">
            <a:extLst>
              <a:ext uri="{FF2B5EF4-FFF2-40B4-BE49-F238E27FC236}">
                <a16:creationId xmlns:a16="http://schemas.microsoft.com/office/drawing/2014/main" id="{40CB4765-B928-4DCA-8D71-5ADF362DD793}"/>
              </a:ext>
            </a:extLst>
          </p:cNvPr>
          <p:cNvSpPr/>
          <p:nvPr userDrawn="1"/>
        </p:nvSpPr>
        <p:spPr>
          <a:xfrm>
            <a:off x="168275" y="5173177"/>
            <a:ext cx="1485900"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kern="0">
                <a:solidFill>
                  <a:schemeClr val="bg1"/>
                </a:solidFill>
                <a:latin typeface="Calibri"/>
                <a:ea typeface="+mn-ea"/>
              </a:rPr>
              <a:t>参考文献</a:t>
            </a:r>
          </a:p>
        </p:txBody>
      </p:sp>
      <p:sp>
        <p:nvSpPr>
          <p:cNvPr id="30" name="五边形 8">
            <a:extLst>
              <a:ext uri="{FF2B5EF4-FFF2-40B4-BE49-F238E27FC236}">
                <a16:creationId xmlns:a16="http://schemas.microsoft.com/office/drawing/2014/main" id="{E375F342-5C0F-4ED7-9D03-BF347DFB8074}"/>
              </a:ext>
            </a:extLst>
          </p:cNvPr>
          <p:cNvSpPr/>
          <p:nvPr userDrawn="1"/>
        </p:nvSpPr>
        <p:spPr>
          <a:xfrm flipH="1">
            <a:off x="11211743" y="5950072"/>
            <a:ext cx="986607" cy="50405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8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31" name="矩形 30">
            <a:extLst>
              <a:ext uri="{FF2B5EF4-FFF2-40B4-BE49-F238E27FC236}">
                <a16:creationId xmlns:a16="http://schemas.microsoft.com/office/drawing/2014/main" id="{144E1970-92B9-426C-8174-524680E0615B}"/>
              </a:ext>
            </a:extLst>
          </p:cNvPr>
          <p:cNvSpPr/>
          <p:nvPr userDrawn="1"/>
        </p:nvSpPr>
        <p:spPr>
          <a:xfrm flipV="1">
            <a:off x="1958975" y="1047749"/>
            <a:ext cx="1006475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Tree>
    <p:extLst>
      <p:ext uri="{BB962C8B-B14F-4D97-AF65-F5344CB8AC3E}">
        <p14:creationId xmlns:p14="http://schemas.microsoft.com/office/powerpoint/2010/main" val="227376817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3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027310"/>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客观存在</a:t>
            </a:r>
          </a:p>
        </p:txBody>
      </p:sp>
      <p:sp>
        <p:nvSpPr>
          <p:cNvPr id="35" name="title_3">
            <a:extLst>
              <a:ext uri="{FF2B5EF4-FFF2-40B4-BE49-F238E27FC236}">
                <a16:creationId xmlns:a16="http://schemas.microsoft.com/office/drawing/2014/main" id="{5E55DA65-B873-475F-868B-79475144CBDE}"/>
              </a:ext>
            </a:extLst>
          </p:cNvPr>
          <p:cNvSpPr/>
          <p:nvPr userDrawn="1"/>
        </p:nvSpPr>
        <p:spPr>
          <a:xfrm>
            <a:off x="176606" y="1928264"/>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与人共存</a:t>
            </a: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8466" y="1169930"/>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505950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192963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与人共存</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2829218"/>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69098" y="207225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2376234"/>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5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67290" y="2829218"/>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病毒消失</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74664" y="3728797"/>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2971838"/>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11803438"/>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6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80924" y="3728797"/>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哲学意义</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4628376"/>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总结</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3871417"/>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922036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_整体流程">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C82C2F31-E965-4350-AB4C-763E779DFFEA}"/>
              </a:ext>
            </a:extLst>
          </p:cNvPr>
          <p:cNvSpPr/>
          <p:nvPr userDrawn="1"/>
        </p:nvSpPr>
        <p:spPr>
          <a:xfrm flipV="1">
            <a:off x="1572540" y="720294"/>
            <a:ext cx="1023216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ct val="0"/>
              </a:spcBef>
              <a:spcAft>
                <a:spcPct val="0"/>
              </a:spcAft>
              <a:defRPr/>
            </a:pPr>
            <a:endParaRPr lang="zh-CN" altLang="en-US" sz="2400"/>
          </a:p>
        </p:txBody>
      </p:sp>
      <p:sp>
        <p:nvSpPr>
          <p:cNvPr id="33" name="title_1_green">
            <a:extLst>
              <a:ext uri="{FF2B5EF4-FFF2-40B4-BE49-F238E27FC236}">
                <a16:creationId xmlns:a16="http://schemas.microsoft.com/office/drawing/2014/main" id="{77B26BF0-26E6-4F60-A925-2B35FD3D984A}"/>
              </a:ext>
            </a:extLst>
          </p:cNvPr>
          <p:cNvSpPr/>
          <p:nvPr userDrawn="1"/>
        </p:nvSpPr>
        <p:spPr>
          <a:xfrm>
            <a:off x="174664" y="4615809"/>
            <a:ext cx="1257918" cy="492125"/>
          </a:xfrm>
          <a:prstGeom prst="rect">
            <a:avLst/>
          </a:prstGeom>
          <a:gradFill flip="none" rotWithShape="1">
            <a:gsLst>
              <a:gs pos="100000">
                <a:schemeClr val="accent1">
                  <a:lumMod val="50000"/>
                </a:schemeClr>
              </a:gs>
              <a:gs pos="0">
                <a:schemeClr val="accent1">
                  <a:lumMod val="50000"/>
                </a:schemeClr>
              </a:gs>
              <a:gs pos="7000">
                <a:schemeClr val="accent1"/>
              </a:gs>
              <a:gs pos="90000">
                <a:schemeClr val="accent1"/>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chemeClr val="bg1"/>
                </a:solidFill>
                <a:latin typeface="微软雅黑" panose="020B0503020204020204" pitchFamily="34" charset="-122"/>
                <a:ea typeface="微软雅黑" panose="020B0503020204020204" pitchFamily="34" charset="-122"/>
              </a:rPr>
              <a:t>总结</a:t>
            </a:r>
            <a:endParaRPr lang="en-US" altLang="zh-CN" sz="1600" b="1" kern="0" spc="120" baseline="0" dirty="0">
              <a:solidFill>
                <a:schemeClr val="bg1"/>
              </a:solidFill>
              <a:latin typeface="微软雅黑" panose="020B0503020204020204" pitchFamily="34" charset="-122"/>
              <a:ea typeface="微软雅黑" panose="020B0503020204020204" pitchFamily="34" charset="-122"/>
            </a:endParaRPr>
          </a:p>
        </p:txBody>
      </p:sp>
      <p:sp>
        <p:nvSpPr>
          <p:cNvPr id="35" name="title_3">
            <a:extLst>
              <a:ext uri="{FF2B5EF4-FFF2-40B4-BE49-F238E27FC236}">
                <a16:creationId xmlns:a16="http://schemas.microsoft.com/office/drawing/2014/main" id="{5E55DA65-B873-475F-868B-79475144CBDE}"/>
              </a:ext>
            </a:extLst>
          </p:cNvPr>
          <p:cNvSpPr/>
          <p:nvPr userDrawn="1"/>
        </p:nvSpPr>
        <p:spPr>
          <a:xfrm>
            <a:off x="174664" y="1030060"/>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algn="ctr" eaLnBrk="1" fontAlgn="auto"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rPr>
              <a:t>客观存在</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endParaRPr>
          </a:p>
        </p:txBody>
      </p:sp>
      <p:sp>
        <p:nvSpPr>
          <p:cNvPr id="36" name="title_4">
            <a:extLst>
              <a:ext uri="{FF2B5EF4-FFF2-40B4-BE49-F238E27FC236}">
                <a16:creationId xmlns:a16="http://schemas.microsoft.com/office/drawing/2014/main" id="{4E61924D-0897-4E85-A0B9-AB13E9129712}"/>
              </a:ext>
            </a:extLst>
          </p:cNvPr>
          <p:cNvSpPr/>
          <p:nvPr userDrawn="1"/>
        </p:nvSpPr>
        <p:spPr>
          <a:xfrm>
            <a:off x="174664" y="192963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与人共存</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cxnSp>
        <p:nvCxnSpPr>
          <p:cNvPr id="39" name="直接连接符 38">
            <a:extLst>
              <a:ext uri="{FF2B5EF4-FFF2-40B4-BE49-F238E27FC236}">
                <a16:creationId xmlns:a16="http://schemas.microsoft.com/office/drawing/2014/main" id="{77F8A917-A8B7-4216-8E2D-8FC9472633AC}"/>
              </a:ext>
            </a:extLst>
          </p:cNvPr>
          <p:cNvCxnSpPr>
            <a:cxnSpLocks/>
          </p:cNvCxnSpPr>
          <p:nvPr userDrawn="1"/>
        </p:nvCxnSpPr>
        <p:spPr>
          <a:xfrm>
            <a:off x="1572540" y="65049"/>
            <a:ext cx="9554" cy="6389079"/>
          </a:xfrm>
          <a:prstGeom prst="line">
            <a:avLst/>
          </a:prstGeom>
          <a:ln w="9525">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5" name="Picture 10">
            <a:extLst>
              <a:ext uri="{FF2B5EF4-FFF2-40B4-BE49-F238E27FC236}">
                <a16:creationId xmlns:a16="http://schemas.microsoft.com/office/drawing/2014/main" id="{8DC4F4A9-276E-4C16-9617-3664CBFF44D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93473" y="65049"/>
            <a:ext cx="789727" cy="721952"/>
          </a:xfrm>
          <a:prstGeom prst="rect">
            <a:avLst/>
          </a:prstGeom>
          <a:noFill/>
          <a:extLst>
            <a:ext uri="{909E8E84-426E-40DD-AFC4-6F175D3DCCD1}">
              <a14:hiddenFill xmlns:a14="http://schemas.microsoft.com/office/drawing/2010/main">
                <a:solidFill>
                  <a:srgbClr val="FFFFFF"/>
                </a:solidFill>
              </a14:hiddenFill>
            </a:ext>
          </a:extLst>
        </p:spPr>
      </p:pic>
      <p:sp>
        <p:nvSpPr>
          <p:cNvPr id="18" name="五边形 8">
            <a:extLst>
              <a:ext uri="{FF2B5EF4-FFF2-40B4-BE49-F238E27FC236}">
                <a16:creationId xmlns:a16="http://schemas.microsoft.com/office/drawing/2014/main" id="{06880DEB-C5B0-48B1-9160-9232A2381955}"/>
              </a:ext>
            </a:extLst>
          </p:cNvPr>
          <p:cNvSpPr/>
          <p:nvPr userDrawn="1"/>
        </p:nvSpPr>
        <p:spPr>
          <a:xfrm flipH="1">
            <a:off x="11655749" y="6357844"/>
            <a:ext cx="552786" cy="345696"/>
          </a:xfrm>
          <a:prstGeom prst="homePlate">
            <a:avLst/>
          </a:prstGeom>
          <a:solidFill>
            <a:schemeClr val="accent1">
              <a:lumMod val="75000"/>
            </a:schemeClr>
          </a:solidFill>
          <a:ln w="25400" cap="flat" cmpd="sng" algn="ctr">
            <a:no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fld id="{170C0C04-E408-48A9-82A4-3716296300DE}"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a:t>
            </a:fld>
            <a:endParaRPr lang="zh-CN" altLang="en-US" kern="0">
              <a:solidFill>
                <a:sysClr val="window" lastClr="FFFFFF"/>
              </a:solidFill>
              <a:latin typeface="Calibri"/>
              <a:ea typeface="宋体"/>
            </a:endParaRPr>
          </a:p>
        </p:txBody>
      </p:sp>
      <p:sp>
        <p:nvSpPr>
          <p:cNvPr id="15" name="title_4">
            <a:extLst>
              <a:ext uri="{FF2B5EF4-FFF2-40B4-BE49-F238E27FC236}">
                <a16:creationId xmlns:a16="http://schemas.microsoft.com/office/drawing/2014/main" id="{AE5EAC3B-AC9D-42D4-9A13-A3620F1C0191}"/>
              </a:ext>
            </a:extLst>
          </p:cNvPr>
          <p:cNvSpPr/>
          <p:nvPr userDrawn="1"/>
        </p:nvSpPr>
        <p:spPr>
          <a:xfrm>
            <a:off x="181027" y="282502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病毒消失</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sp>
        <p:nvSpPr>
          <p:cNvPr id="16" name="title_4">
            <a:extLst>
              <a:ext uri="{FF2B5EF4-FFF2-40B4-BE49-F238E27FC236}">
                <a16:creationId xmlns:a16="http://schemas.microsoft.com/office/drawing/2014/main" id="{75654813-D8CC-440F-807D-BBC1959BFF79}"/>
              </a:ext>
            </a:extLst>
          </p:cNvPr>
          <p:cNvSpPr/>
          <p:nvPr userDrawn="1"/>
        </p:nvSpPr>
        <p:spPr>
          <a:xfrm>
            <a:off x="174664" y="3720419"/>
            <a:ext cx="1257918" cy="492125"/>
          </a:xfrm>
          <a:prstGeom prst="rect">
            <a:avLst/>
          </a:prstGeom>
          <a:gradFill flip="none" rotWithShape="1">
            <a:gsLst>
              <a:gs pos="100000">
                <a:schemeClr val="bg1">
                  <a:lumMod val="50000"/>
                </a:schemeClr>
              </a:gs>
              <a:gs pos="0">
                <a:schemeClr val="bg1">
                  <a:lumMod val="50000"/>
                </a:schemeClr>
              </a:gs>
              <a:gs pos="7000">
                <a:schemeClr val="bg1">
                  <a:lumMod val="95000"/>
                </a:schemeClr>
              </a:gs>
              <a:gs pos="90000">
                <a:schemeClr val="bg1">
                  <a:lumMod val="95000"/>
                </a:schemeClr>
              </a:gs>
            </a:gsLst>
            <a:lin ang="10800000" scaled="1"/>
          </a:gradFill>
          <a:ln w="9525" cap="flat" cmpd="sng" algn="ctr">
            <a:noFill/>
            <a:prstDash val="solid"/>
          </a:ln>
          <a:effectLst>
            <a:outerShdw blurRad="254000" dist="38100" dir="5400000" algn="t" rotWithShape="0">
              <a:prstClr val="black">
                <a:alpha val="40000"/>
              </a:prstClr>
            </a:outerShdw>
          </a:effectLst>
        </p:spPr>
        <p:txBody>
          <a:bodyPr anchor="ctr"/>
          <a:lstStyle/>
          <a:p>
            <a:pPr marL="0" algn="ctr" defTabSz="914400" rtl="0" eaLnBrk="1" fontAlgn="auto" latinLnBrk="0" hangingPunct="1">
              <a:spcBef>
                <a:spcPct val="0"/>
              </a:spcBef>
              <a:spcAft>
                <a:spcPct val="0"/>
              </a:spcAft>
              <a:defRPr/>
            </a:pPr>
            <a:r>
              <a:rPr lang="zh-CN" altLang="en-US" sz="1600" b="1" kern="0" spc="120" baseline="0" dirty="0">
                <a:solidFill>
                  <a:sysClr val="windowText" lastClr="000000"/>
                </a:solidFill>
                <a:latin typeface="微软雅黑" panose="020B0503020204020204" pitchFamily="34" charset="-122"/>
                <a:ea typeface="微软雅黑" panose="020B0503020204020204" pitchFamily="34" charset="-122"/>
                <a:cs typeface="+mn-cs"/>
              </a:rPr>
              <a:t>哲学意义</a:t>
            </a:r>
            <a:endParaRPr lang="en-US" altLang="zh-CN" sz="1600" b="1" kern="0" spc="120" baseline="0" dirty="0">
              <a:solidFill>
                <a:sysClr val="windowText" lastClr="000000"/>
              </a:solidFill>
              <a:latin typeface="微软雅黑" panose="020B0503020204020204" pitchFamily="34" charset="-122"/>
              <a:ea typeface="微软雅黑" panose="020B0503020204020204" pitchFamily="34" charset="-122"/>
              <a:cs typeface="+mn-cs"/>
            </a:endParaRPr>
          </a:p>
        </p:txBody>
      </p:sp>
      <p:pic>
        <p:nvPicPr>
          <p:cNvPr id="19" name="图片 18">
            <a:extLst>
              <a:ext uri="{FF2B5EF4-FFF2-40B4-BE49-F238E27FC236}">
                <a16:creationId xmlns:a16="http://schemas.microsoft.com/office/drawing/2014/main" id="{81CCC42A-E4C9-4590-BC29-DBE4867566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8252" y="5527955"/>
            <a:ext cx="1315995" cy="369452"/>
          </a:xfrm>
          <a:prstGeom prst="rect">
            <a:avLst/>
          </a:prstGeom>
        </p:spPr>
      </p:pic>
      <p:grpSp>
        <p:nvGrpSpPr>
          <p:cNvPr id="40" name="arrow_游标">
            <a:extLst>
              <a:ext uri="{FF2B5EF4-FFF2-40B4-BE49-F238E27FC236}">
                <a16:creationId xmlns:a16="http://schemas.microsoft.com/office/drawing/2014/main" id="{719AA324-DCEC-4D36-B3D3-183D504B90D0}"/>
              </a:ext>
            </a:extLst>
          </p:cNvPr>
          <p:cNvGrpSpPr>
            <a:grpSpLocks noChangeAspect="1"/>
          </p:cNvGrpSpPr>
          <p:nvPr userDrawn="1"/>
        </p:nvGrpSpPr>
        <p:grpSpPr>
          <a:xfrm rot="10800000" flipH="1">
            <a:off x="1478652" y="4758429"/>
            <a:ext cx="206884" cy="206884"/>
            <a:chOff x="510977" y="1676698"/>
            <a:chExt cx="174686" cy="174686"/>
          </a:xfrm>
          <a:solidFill>
            <a:schemeClr val="bg1"/>
          </a:solidFill>
        </p:grpSpPr>
        <p:sp>
          <p:nvSpPr>
            <p:cNvPr id="41" name="椭圆 40">
              <a:extLst>
                <a:ext uri="{FF2B5EF4-FFF2-40B4-BE49-F238E27FC236}">
                  <a16:creationId xmlns:a16="http://schemas.microsoft.com/office/drawing/2014/main" id="{7E4A5468-03C2-4557-A250-A70C6EFBAC0A}"/>
                </a:ext>
              </a:extLst>
            </p:cNvPr>
            <p:cNvSpPr/>
            <p:nvPr/>
          </p:nvSpPr>
          <p:spPr>
            <a:xfrm>
              <a:off x="510977" y="1676698"/>
              <a:ext cx="174686" cy="174686"/>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hangingPunct="1">
                <a:spcBef>
                  <a:spcPct val="0"/>
                </a:spcBef>
                <a:spcAft>
                  <a:spcPct val="0"/>
                </a:spcAft>
                <a:defRPr/>
              </a:pPr>
              <a:endParaRPr lang="zh-CN" altLang="en-US" sz="2400">
                <a:solidFill>
                  <a:schemeClr val="bg1">
                    <a:lumMod val="50000"/>
                  </a:schemeClr>
                </a:solidFill>
              </a:endParaRPr>
            </a:p>
          </p:txBody>
        </p:sp>
        <p:cxnSp>
          <p:nvCxnSpPr>
            <p:cNvPr id="42" name="直接连接符 41">
              <a:extLst>
                <a:ext uri="{FF2B5EF4-FFF2-40B4-BE49-F238E27FC236}">
                  <a16:creationId xmlns:a16="http://schemas.microsoft.com/office/drawing/2014/main" id="{37815810-D81C-44D3-8540-1672C1DBF167}"/>
                </a:ext>
              </a:extLst>
            </p:cNvPr>
            <p:cNvCxnSpPr/>
            <p:nvPr/>
          </p:nvCxnSpPr>
          <p:spPr>
            <a:xfrm>
              <a:off x="541962" y="1766660"/>
              <a:ext cx="945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D16DF73-13C1-4C31-823B-18ACCAC3CBC5}"/>
                </a:ext>
              </a:extLst>
            </p:cNvPr>
            <p:cNvCxnSpPr/>
            <p:nvPr/>
          </p:nvCxnSpPr>
          <p:spPr>
            <a:xfrm rot="2700000">
              <a:off x="579030" y="1740848"/>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380634E-4A77-4574-8831-00DBB25D2D7B}"/>
                </a:ext>
              </a:extLst>
            </p:cNvPr>
            <p:cNvCxnSpPr/>
            <p:nvPr/>
          </p:nvCxnSpPr>
          <p:spPr>
            <a:xfrm rot="8100000">
              <a:off x="582566" y="1790770"/>
              <a:ext cx="75600" cy="0"/>
            </a:xfrm>
            <a:prstGeom prst="line">
              <a:avLst/>
            </a:prstGeom>
            <a:grpFill/>
            <a:ln w="952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31059257"/>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332704"/>
      </p:ext>
    </p:extLst>
  </p:cSld>
  <p:clrMap bg1="lt1" tx1="dk1" bg2="lt2" tx2="dk2" accent1="accent1" accent2="accent2" accent3="accent3" accent4="accent4" accent5="accent5" accent6="accent6" hlink="hlink" folHlink="folHlink"/>
  <p:sldLayoutIdLst>
    <p:sldLayoutId id="2147483671" r:id="rId1"/>
    <p:sldLayoutId id="2147483695" r:id="rId2"/>
    <p:sldLayoutId id="2147483703" r:id="rId3"/>
    <p:sldLayoutId id="2147483704" r:id="rId4"/>
    <p:sldLayoutId id="2147483705" r:id="rId5"/>
    <p:sldLayoutId id="2147483706" r:id="rId6"/>
    <p:sldLayoutId id="2147483702" r:id="rId7"/>
    <p:sldLayoutId id="2147483696" r:id="rId8"/>
    <p:sldLayoutId id="2147483697" r:id="rId9"/>
    <p:sldLayoutId id="2147483698" r:id="rId10"/>
    <p:sldLayoutId id="2147483699" r:id="rId11"/>
    <p:sldLayoutId id="2147483700" r:id="rId12"/>
    <p:sldLayoutId id="2147483701" r:id="rId13"/>
    <p:sldLayoutId id="2147483674" r:id="rId14"/>
    <p:sldLayoutId id="2147483686" r:id="rId15"/>
    <p:sldLayoutId id="2147483687" r:id="rId16"/>
    <p:sldLayoutId id="2147483688" r:id="rId17"/>
    <p:sldLayoutId id="2147483692" r:id="rId18"/>
    <p:sldLayoutId id="2147483693" r:id="rId19"/>
    <p:sldLayoutId id="2147483694" r:id="rId20"/>
    <p:sldLayoutId id="2147483689" r:id="rId21"/>
    <p:sldLayoutId id="2147483690" r:id="rId22"/>
    <p:sldLayoutId id="2147483691" r:id="rId23"/>
    <p:sldLayoutId id="2147483685" r:id="rId24"/>
    <p:sldLayoutId id="2147483681" r:id="rId25"/>
    <p:sldLayoutId id="2147483684" r:id="rId26"/>
    <p:sldLayoutId id="2147483683" r:id="rId27"/>
    <p:sldLayoutId id="2147483675" r:id="rId28"/>
    <p:sldLayoutId id="2147483676" r:id="rId29"/>
    <p:sldLayoutId id="2147483677" r:id="rId30"/>
    <p:sldLayoutId id="2147483678" r:id="rId31"/>
    <p:sldLayoutId id="2147483679" r:id="rId32"/>
    <p:sldLayoutId id="2147483680" r:id="rId33"/>
    <p:sldLayoutId id="2147483707" r:id="rId34"/>
    <p:sldLayoutId id="2147483708" r:id="rId35"/>
    <p:sldLayoutId id="2147483709" r:id="rId36"/>
    <p:sldLayoutId id="2147483710" r:id="rId37"/>
    <p:sldLayoutId id="2147483711" r:id="rId38"/>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099EAAB-44F9-4F97-9F56-800302F6BA17}"/>
              </a:ext>
            </a:extLst>
          </p:cNvPr>
          <p:cNvSpPr/>
          <p:nvPr/>
        </p:nvSpPr>
        <p:spPr>
          <a:xfrm>
            <a:off x="0" y="4312118"/>
            <a:ext cx="12192000" cy="25458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28F071F8-A151-48AC-B63A-AA2A8CAA84E8}"/>
              </a:ext>
            </a:extLst>
          </p:cNvPr>
          <p:cNvSpPr/>
          <p:nvPr/>
        </p:nvSpPr>
        <p:spPr>
          <a:xfrm>
            <a:off x="1515979" y="1140697"/>
            <a:ext cx="9375808" cy="2229637"/>
          </a:xfrm>
          <a:prstGeom prst="rect">
            <a:avLst/>
          </a:prstGeom>
        </p:spPr>
        <p:txBody>
          <a:bodyPr wrap="none">
            <a:noAutofit/>
          </a:bodyPr>
          <a:lstStyle/>
          <a:p>
            <a:pPr lvl="0" algn="ctr">
              <a:defRPr/>
            </a:pPr>
            <a:r>
              <a:rPr lang="en-US" altLang="zh-CN" sz="4000" b="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CSAL: the Next-Gen Local Disks for the Cloud</a:t>
            </a:r>
            <a:r>
              <a:rPr kumimoji="0" lang="en-US" altLang="zh-CN" sz="4000" b="1"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 </a:t>
            </a:r>
            <a:endParaRPr lang="en-US" altLang="zh-CN" sz="4000" b="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b="1"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a:p>
            <a:pPr algn="ctr"/>
            <a:r>
              <a:rPr lang="en-US" altLang="zh-CN" dirty="0" err="1"/>
              <a:t>Yanbo</a:t>
            </a:r>
            <a:r>
              <a:rPr lang="en-US" altLang="zh-CN" dirty="0"/>
              <a:t> Zhou</a:t>
            </a:r>
            <a:r>
              <a:rPr lang="en-US" altLang="zh-CN" baseline="30000" dirty="0"/>
              <a:t>1</a:t>
            </a:r>
            <a:r>
              <a:rPr lang="en-US" altLang="zh-CN" dirty="0"/>
              <a:t>, </a:t>
            </a:r>
            <a:r>
              <a:rPr lang="en-US" altLang="zh-CN" dirty="0" err="1"/>
              <a:t>Erci</a:t>
            </a:r>
            <a:r>
              <a:rPr lang="en-US" altLang="zh-CN" dirty="0"/>
              <a:t> Xu</a:t>
            </a:r>
            <a:r>
              <a:rPr lang="en-US" altLang="zh-CN" baseline="30000" dirty="0"/>
              <a:t>∗1</a:t>
            </a:r>
            <a:r>
              <a:rPr lang="en-US" altLang="zh-CN" dirty="0"/>
              <a:t>, Li Zhang</a:t>
            </a:r>
            <a:r>
              <a:rPr lang="en-US" altLang="zh-CN" baseline="30000" dirty="0"/>
              <a:t>1</a:t>
            </a:r>
            <a:r>
              <a:rPr lang="en-US" altLang="zh-CN" dirty="0"/>
              <a:t>, Kapil Karkra</a:t>
            </a:r>
            <a:r>
              <a:rPr lang="en-US" altLang="zh-CN" baseline="30000" dirty="0"/>
              <a:t>2</a:t>
            </a:r>
            <a:r>
              <a:rPr lang="en-US" altLang="zh-CN" dirty="0"/>
              <a:t>, Mariusz Barczak</a:t>
            </a:r>
            <a:r>
              <a:rPr lang="en-US" altLang="zh-CN" baseline="30000" dirty="0"/>
              <a:t>2</a:t>
            </a:r>
            <a:r>
              <a:rPr lang="en-US" altLang="zh-CN" dirty="0"/>
              <a:t>, Wayne Gao</a:t>
            </a:r>
            <a:r>
              <a:rPr lang="en-US" altLang="zh-CN" baseline="30000" dirty="0"/>
              <a:t>2</a:t>
            </a:r>
            <a:r>
              <a:rPr lang="en-US" altLang="zh-CN" dirty="0"/>
              <a:t>, </a:t>
            </a:r>
          </a:p>
          <a:p>
            <a:pPr algn="ctr"/>
            <a:r>
              <a:rPr lang="en-US" altLang="zh-CN" dirty="0"/>
              <a:t>Wojciech Malikowski</a:t>
            </a:r>
            <a:r>
              <a:rPr lang="en-US" altLang="zh-CN" baseline="30000" dirty="0"/>
              <a:t>2</a:t>
            </a:r>
            <a:r>
              <a:rPr lang="en-US" altLang="zh-CN" dirty="0"/>
              <a:t>, Mateusz Kozlowski</a:t>
            </a:r>
            <a:r>
              <a:rPr lang="en-US" altLang="zh-CN" baseline="30000" dirty="0"/>
              <a:t>2</a:t>
            </a:r>
            <a:r>
              <a:rPr lang="en-US" altLang="zh-CN" dirty="0"/>
              <a:t>, </a:t>
            </a:r>
            <a:r>
              <a:rPr lang="en-US" altLang="zh-CN" dirty="0" err="1"/>
              <a:t>Łukasz</a:t>
            </a:r>
            <a:r>
              <a:rPr lang="en-US" altLang="zh-CN" dirty="0"/>
              <a:t> Łasek</a:t>
            </a:r>
            <a:r>
              <a:rPr lang="en-US" altLang="zh-CN" baseline="30000" dirty="0"/>
              <a:t>2</a:t>
            </a:r>
            <a:r>
              <a:rPr lang="en-US" altLang="zh-CN" dirty="0"/>
              <a:t>, </a:t>
            </a:r>
            <a:r>
              <a:rPr lang="en-US" altLang="zh-CN" dirty="0" err="1"/>
              <a:t>Ruiming</a:t>
            </a:r>
            <a:r>
              <a:rPr lang="en-US" altLang="zh-CN" dirty="0"/>
              <a:t> Lu</a:t>
            </a:r>
            <a:r>
              <a:rPr lang="en-US" altLang="zh-CN" baseline="30000" dirty="0"/>
              <a:t>1</a:t>
            </a:r>
            <a:r>
              <a:rPr lang="en-US" altLang="zh-CN" dirty="0"/>
              <a:t>, Feng Yang</a:t>
            </a:r>
            <a:r>
              <a:rPr lang="en-US" altLang="zh-CN" baseline="30000" dirty="0"/>
              <a:t>1</a:t>
            </a:r>
            <a:r>
              <a:rPr lang="en-US" altLang="zh-CN" dirty="0"/>
              <a:t>, </a:t>
            </a:r>
          </a:p>
          <a:p>
            <a:pPr algn="ctr"/>
            <a:r>
              <a:rPr lang="en-US" altLang="zh-CN" dirty="0" err="1"/>
              <a:t>Lilong</a:t>
            </a:r>
            <a:r>
              <a:rPr lang="en-US" altLang="zh-CN" dirty="0"/>
              <a:t> Huang</a:t>
            </a:r>
            <a:r>
              <a:rPr lang="en-US" altLang="zh-CN" baseline="30000" dirty="0"/>
              <a:t>1</a:t>
            </a:r>
            <a:r>
              <a:rPr lang="en-US" altLang="zh-CN" dirty="0"/>
              <a:t>, </a:t>
            </a:r>
            <a:r>
              <a:rPr lang="en-US" altLang="zh-CN" dirty="0" err="1"/>
              <a:t>Xiaolu</a:t>
            </a:r>
            <a:r>
              <a:rPr lang="en-US" altLang="zh-CN" dirty="0"/>
              <a:t> Zhang</a:t>
            </a:r>
            <a:r>
              <a:rPr lang="en-US" altLang="zh-CN" baseline="30000" dirty="0"/>
              <a:t>1</a:t>
            </a:r>
            <a:r>
              <a:rPr lang="en-US" altLang="zh-CN" dirty="0"/>
              <a:t>, Keqiang Niu</a:t>
            </a:r>
            <a:r>
              <a:rPr lang="en-US" altLang="zh-CN" baseline="30000" dirty="0"/>
              <a:t>1</a:t>
            </a:r>
            <a:r>
              <a:rPr lang="en-US" altLang="zh-CN" dirty="0"/>
              <a:t>, </a:t>
            </a:r>
            <a:r>
              <a:rPr lang="en-US" altLang="zh-CN" dirty="0" err="1"/>
              <a:t>Jiaji</a:t>
            </a:r>
            <a:r>
              <a:rPr lang="en-US" altLang="zh-CN" dirty="0"/>
              <a:t> Zhu</a:t>
            </a:r>
            <a:r>
              <a:rPr lang="en-US" altLang="zh-CN" baseline="30000" dirty="0"/>
              <a:t>1</a:t>
            </a:r>
            <a:r>
              <a:rPr lang="en-US" altLang="zh-CN" dirty="0"/>
              <a:t>, </a:t>
            </a:r>
            <a:r>
              <a:rPr lang="en-US" altLang="zh-CN" dirty="0" err="1"/>
              <a:t>Jiesheng</a:t>
            </a:r>
            <a:r>
              <a:rPr lang="en-US" altLang="zh-CN" dirty="0"/>
              <a:t> Wu</a:t>
            </a:r>
            <a:r>
              <a:rPr lang="en-US" altLang="zh-CN" baseline="30000" dirty="0"/>
              <a:t>1</a:t>
            </a:r>
            <a:r>
              <a:rPr lang="en-US" altLang="zh-CN" dirty="0"/>
              <a:t> </a:t>
            </a:r>
          </a:p>
          <a:p>
            <a:pPr algn="ctr"/>
            <a:endParaRPr lang="en-US" altLang="zh-CN" baseline="30000" dirty="0"/>
          </a:p>
          <a:p>
            <a:pPr algn="ctr"/>
            <a:r>
              <a:rPr lang="en-US" altLang="zh-CN" baseline="30000" dirty="0"/>
              <a:t>1</a:t>
            </a:r>
            <a:r>
              <a:rPr lang="en-US" altLang="zh-CN" dirty="0"/>
              <a:t>Alibaba Group; </a:t>
            </a:r>
            <a:r>
              <a:rPr lang="en-US" altLang="zh-CN" baseline="30000" dirty="0"/>
              <a:t>2</a:t>
            </a:r>
            <a:r>
              <a:rPr lang="en-US" altLang="zh-CN" dirty="0"/>
              <a:t>Solidigm</a:t>
            </a:r>
            <a:endPar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p:txBody>
      </p:sp>
      <p:sp>
        <p:nvSpPr>
          <p:cNvPr id="11" name="文本框 10">
            <a:extLst>
              <a:ext uri="{FF2B5EF4-FFF2-40B4-BE49-F238E27FC236}">
                <a16:creationId xmlns:a16="http://schemas.microsoft.com/office/drawing/2014/main" id="{2E2C70A9-9F89-4214-A032-30D737E21BAC}"/>
              </a:ext>
            </a:extLst>
          </p:cNvPr>
          <p:cNvSpPr txBox="1"/>
          <p:nvPr/>
        </p:nvSpPr>
        <p:spPr>
          <a:xfrm>
            <a:off x="-298383" y="114115"/>
            <a:ext cx="3628724" cy="707886"/>
          </a:xfrm>
          <a:prstGeom prst="rect">
            <a:avLst/>
          </a:prstGeom>
          <a:noFill/>
        </p:spPr>
        <p:txBody>
          <a:bodyPr wrap="square">
            <a:spAutoFit/>
          </a:bodyPr>
          <a:lstStyle/>
          <a:p>
            <a:pPr algn="ctr"/>
            <a:r>
              <a:rPr lang="en-US" altLang="zh-CN" sz="4000" b="1" i="0" dirty="0">
                <a:solidFill>
                  <a:srgbClr val="264B8C"/>
                </a:solidFill>
                <a:effectLst/>
                <a:latin typeface="OpenSans"/>
              </a:rPr>
              <a:t>EuroSys’24</a:t>
            </a:r>
          </a:p>
        </p:txBody>
      </p:sp>
      <p:sp>
        <p:nvSpPr>
          <p:cNvPr id="13" name="矩形 12">
            <a:extLst>
              <a:ext uri="{FF2B5EF4-FFF2-40B4-BE49-F238E27FC236}">
                <a16:creationId xmlns:a16="http://schemas.microsoft.com/office/drawing/2014/main" id="{E4D026F4-245F-4996-9CEC-47656E25448D}"/>
              </a:ext>
            </a:extLst>
          </p:cNvPr>
          <p:cNvSpPr/>
          <p:nvPr/>
        </p:nvSpPr>
        <p:spPr>
          <a:xfrm>
            <a:off x="4324717" y="4618006"/>
            <a:ext cx="4118627" cy="1177659"/>
          </a:xfrm>
          <a:prstGeom prst="rect">
            <a:avLst/>
          </a:prstGeom>
          <a:ln>
            <a:noFill/>
          </a:ln>
        </p:spPr>
        <p:txBody>
          <a:bodyPr wrap="square">
            <a:noAutofit/>
          </a:bodyPr>
          <a:lstStyle/>
          <a:p>
            <a:pPr marL="0" marR="0" lvl="0" indent="0" defTabSz="914400" rtl="0" eaLnBrk="1" fontAlgn="auto" latinLnBrk="0" hangingPunct="1">
              <a:lnSpc>
                <a:spcPct val="150000"/>
              </a:lnSpc>
              <a:spcBef>
                <a:spcPts val="0"/>
              </a:spcBef>
              <a:spcAft>
                <a:spcPts val="0"/>
              </a:spcAft>
              <a:buClrTx/>
              <a:buSzTx/>
              <a:buFontTx/>
              <a:buNone/>
              <a:defRPr/>
            </a:pPr>
            <a:r>
              <a:rPr lang="zh-CN" altLang="en-US" sz="2800" dirty="0">
                <a:solidFill>
                  <a:schemeClr val="bg1"/>
                </a:solidFill>
                <a:latin typeface="Century Gothic" panose="020B0502020202020204" pitchFamily="34" charset="0"/>
                <a:ea typeface="微软雅黑" panose="020B0503020204020204" charset="-122"/>
                <a:sym typeface="Century Gothic" panose="020B0502020202020204" pitchFamily="34" charset="0"/>
              </a:rPr>
              <a:t>论文汇报：</a:t>
            </a:r>
            <a:r>
              <a:rPr kumimoji="0" lang="zh-CN" altLang="en-US" sz="2800"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rPr>
              <a:t>杨</a:t>
            </a:r>
            <a:r>
              <a:rPr lang="zh-CN" altLang="en-US" sz="2800" dirty="0">
                <a:solidFill>
                  <a:schemeClr val="bg1"/>
                </a:solidFill>
                <a:latin typeface="Century Gothic" panose="020B0502020202020204" pitchFamily="34" charset="0"/>
                <a:ea typeface="微软雅黑" panose="020B0503020204020204" charset="-122"/>
                <a:sym typeface="Century Gothic" panose="020B0502020202020204" pitchFamily="34" charset="0"/>
              </a:rPr>
              <a:t>大荣</a:t>
            </a:r>
            <a:endParaRPr kumimoji="0" lang="en-US" altLang="zh-CN" sz="2800"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marL="0" marR="0" lvl="0" indent="0" defTabSz="914400" rtl="0" eaLnBrk="1" fontAlgn="auto" latinLnBrk="0" hangingPunct="1">
              <a:lnSpc>
                <a:spcPct val="150000"/>
              </a:lnSpc>
              <a:spcBef>
                <a:spcPts val="0"/>
              </a:spcBef>
              <a:spcAft>
                <a:spcPts val="0"/>
              </a:spcAft>
              <a:buClrTx/>
              <a:buSzTx/>
              <a:buFontTx/>
              <a:buNone/>
              <a:defRPr/>
            </a:pPr>
            <a:r>
              <a:rPr lang="zh-CN" altLang="en-US" sz="2800" noProof="0" dirty="0">
                <a:solidFill>
                  <a:schemeClr val="bg1"/>
                </a:solidFill>
                <a:latin typeface="Century Gothic" panose="020B0502020202020204" pitchFamily="34" charset="0"/>
                <a:ea typeface="微软雅黑" panose="020B0503020204020204" charset="-122"/>
                <a:sym typeface="Century Gothic" panose="020B0502020202020204" pitchFamily="34" charset="0"/>
              </a:rPr>
              <a:t>指导老师：夏文教授</a:t>
            </a:r>
            <a:endParaRPr kumimoji="0" lang="zh-CN" altLang="en-US" sz="2800"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8" name="矩形 7">
            <a:extLst>
              <a:ext uri="{FF2B5EF4-FFF2-40B4-BE49-F238E27FC236}">
                <a16:creationId xmlns:a16="http://schemas.microsoft.com/office/drawing/2014/main" id="{FE36BBE0-A216-4202-A937-3ABADF73662C}"/>
              </a:ext>
            </a:extLst>
          </p:cNvPr>
          <p:cNvSpPr/>
          <p:nvPr/>
        </p:nvSpPr>
        <p:spPr>
          <a:xfrm>
            <a:off x="876702" y="3574037"/>
            <a:ext cx="9942094" cy="654927"/>
          </a:xfrm>
          <a:prstGeom prst="rect">
            <a:avLst/>
          </a:prstGeom>
        </p:spPr>
        <p:txBody>
          <a:bodyPr wrap="none">
            <a:noAutofit/>
          </a:bodyPr>
          <a:lstStyle/>
          <a:p>
            <a:pPr lvl="0" algn="ctr">
              <a:defRPr/>
            </a:pPr>
            <a:r>
              <a:rPr lang="en-US" altLang="zh-CN" sz="2800" b="1" i="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Keywords</a:t>
            </a:r>
            <a:r>
              <a:rPr lang="en-US" altLang="zh-CN" sz="2800" b="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 </a:t>
            </a:r>
            <a:r>
              <a:rPr lang="en-US" altLang="zh-CN" sz="2800"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NAND Flash, Caching, Cloud Storage</a:t>
            </a:r>
          </a:p>
        </p:txBody>
      </p:sp>
    </p:spTree>
    <p:extLst>
      <p:ext uri="{BB962C8B-B14F-4D97-AF65-F5344CB8AC3E}">
        <p14:creationId xmlns:p14="http://schemas.microsoft.com/office/powerpoint/2010/main" val="3288424557"/>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bldLvl="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0FD81F7F-6C97-C0C1-A2E3-3B463A325872}"/>
              </a:ext>
            </a:extLst>
          </p:cNvPr>
          <p:cNvSpPr/>
          <p:nvPr/>
        </p:nvSpPr>
        <p:spPr>
          <a:xfrm>
            <a:off x="1693532" y="148262"/>
            <a:ext cx="555860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1.1 </a:t>
            </a:r>
            <a:r>
              <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背景</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(1/2)</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822E4A26-AA76-E7E6-EFE4-3F05187D8E79}"/>
              </a:ext>
            </a:extLst>
          </p:cNvPr>
          <p:cNvSpPr txBox="1"/>
          <p:nvPr/>
        </p:nvSpPr>
        <p:spPr>
          <a:xfrm>
            <a:off x="2069394" y="1360519"/>
            <a:ext cx="9855905" cy="27757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内核的软件正在成为存储的瓶颈</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随着高性能设备的发展，新型的</a:t>
            </a:r>
            <a:r>
              <a:rPr lang="en-US" altLang="zh-CN" sz="2400" dirty="0">
                <a:latin typeface="宋体" panose="02010600030101010101" pitchFamily="2" charset="-122"/>
                <a:ea typeface="宋体" panose="02010600030101010101" pitchFamily="2" charset="-122"/>
              </a:rPr>
              <a:t>NVME</a:t>
            </a:r>
            <a:r>
              <a:rPr lang="zh-CN" altLang="en-US" sz="2400" dirty="0">
                <a:latin typeface="宋体" panose="02010600030101010101" pitchFamily="2" charset="-122"/>
                <a:ea typeface="宋体" panose="02010600030101010101" pitchFamily="2" charset="-122"/>
              </a:rPr>
              <a:t>存储设备可以达到至多</a:t>
            </a:r>
            <a:r>
              <a:rPr lang="en-US" altLang="zh-CN" sz="2400" dirty="0">
                <a:latin typeface="宋体" panose="02010600030101010101" pitchFamily="2" charset="-122"/>
                <a:ea typeface="宋体" panose="02010600030101010101" pitchFamily="2" charset="-122"/>
              </a:rPr>
              <a:t>7GB/s</a:t>
            </a:r>
            <a:r>
              <a:rPr lang="zh-CN" altLang="en-US" sz="2400" dirty="0">
                <a:latin typeface="宋体" panose="02010600030101010101" pitchFamily="2" charset="-122"/>
                <a:ea typeface="宋体" panose="02010600030101010101" pitchFamily="2" charset="-122"/>
              </a:rPr>
              <a:t>的带宽和至少</a:t>
            </a:r>
            <a:r>
              <a:rPr lang="en-US" altLang="zh-CN" sz="2400" dirty="0">
                <a:latin typeface="宋体" panose="02010600030101010101" pitchFamily="2" charset="-122"/>
                <a:ea typeface="宋体" panose="02010600030101010101" pitchFamily="2" charset="-122"/>
              </a:rPr>
              <a:t>3us</a:t>
            </a:r>
            <a:r>
              <a:rPr lang="zh-CN" altLang="en-US" sz="2400" dirty="0">
                <a:latin typeface="宋体" panose="02010600030101010101" pitchFamily="2" charset="-122"/>
                <a:ea typeface="宋体" panose="02010600030101010101" pitchFamily="2" charset="-122"/>
              </a:rPr>
              <a:t>的延迟</a:t>
            </a:r>
            <a:endParaRPr lang="en-US" altLang="zh-CN" sz="2400" dirty="0">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目前存在方法解决这个问题，但是这些方法都有缺陷，这篇文章打算用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来解决这个问题，但是在解决的过程中又发现了新的挑战</a:t>
            </a:r>
          </a:p>
        </p:txBody>
      </p:sp>
    </p:spTree>
    <p:extLst>
      <p:ext uri="{BB962C8B-B14F-4D97-AF65-F5344CB8AC3E}">
        <p14:creationId xmlns:p14="http://schemas.microsoft.com/office/powerpoint/2010/main" val="12060835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23A5F3D-5712-4A14-84F1-CD6BDAB3ACC2}"/>
              </a:ext>
            </a:extLst>
          </p:cNvPr>
          <p:cNvSpPr/>
          <p:nvPr/>
        </p:nvSpPr>
        <p:spPr>
          <a:xfrm>
            <a:off x="1693532" y="90684"/>
            <a:ext cx="96856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2.1 </a:t>
            </a:r>
            <a:r>
              <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动机</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1(1/2)</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D2FA1CB9-C98B-C306-8FFC-1A20D868CFE1}"/>
              </a:ext>
            </a:extLst>
          </p:cNvPr>
          <p:cNvPicPr>
            <a:picLocks noChangeAspect="1"/>
          </p:cNvPicPr>
          <p:nvPr/>
        </p:nvPicPr>
        <p:blipFill>
          <a:blip r:embed="rId2"/>
          <a:stretch>
            <a:fillRect/>
          </a:stretch>
        </p:blipFill>
        <p:spPr>
          <a:xfrm>
            <a:off x="2075468" y="962543"/>
            <a:ext cx="9430191" cy="4446359"/>
          </a:xfrm>
          <a:prstGeom prst="rect">
            <a:avLst/>
          </a:prstGeom>
        </p:spPr>
      </p:pic>
      <p:sp>
        <p:nvSpPr>
          <p:cNvPr id="3" name="文本框 2">
            <a:extLst>
              <a:ext uri="{FF2B5EF4-FFF2-40B4-BE49-F238E27FC236}">
                <a16:creationId xmlns:a16="http://schemas.microsoft.com/office/drawing/2014/main" id="{6CC3B512-8D6C-1045-797D-C9008B229E14}"/>
              </a:ext>
            </a:extLst>
          </p:cNvPr>
          <p:cNvSpPr txBox="1"/>
          <p:nvPr/>
        </p:nvSpPr>
        <p:spPr>
          <a:xfrm>
            <a:off x="2130357" y="5525311"/>
            <a:ext cx="9248843"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常规的</a:t>
            </a:r>
            <a:r>
              <a:rPr lang="en-US" altLang="zh-CN" sz="2400" dirty="0">
                <a:latin typeface="宋体" panose="02010600030101010101" pitchFamily="2" charset="-122"/>
                <a:ea typeface="宋体" panose="02010600030101010101" pitchFamily="2" charset="-122"/>
              </a:rPr>
              <a:t>B+ tree</a:t>
            </a:r>
            <a:r>
              <a:rPr lang="zh-CN" altLang="en-US" sz="2400" dirty="0">
                <a:latin typeface="宋体" panose="02010600030101010101" pitchFamily="2" charset="-122"/>
                <a:ea typeface="宋体" panose="02010600030101010101" pitchFamily="2" charset="-122"/>
              </a:rPr>
              <a:t>搜索方式</a:t>
            </a:r>
          </a:p>
        </p:txBody>
      </p:sp>
    </p:spTree>
    <p:extLst>
      <p:ext uri="{BB962C8B-B14F-4D97-AF65-F5344CB8AC3E}">
        <p14:creationId xmlns:p14="http://schemas.microsoft.com/office/powerpoint/2010/main" val="270966238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2D827BB1-ADF8-1549-5C24-FEFA6BB1EBDA}"/>
              </a:ext>
            </a:extLst>
          </p:cNvPr>
          <p:cNvSpPr/>
          <p:nvPr/>
        </p:nvSpPr>
        <p:spPr>
          <a:xfrm>
            <a:off x="1693532" y="90684"/>
            <a:ext cx="6462496"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3.1 </a:t>
            </a:r>
            <a:r>
              <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设计</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1(1/2)</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FB164D22-A0FE-67C4-E85D-D81B97DED396}"/>
              </a:ext>
            </a:extLst>
          </p:cNvPr>
          <p:cNvPicPr>
            <a:picLocks noChangeAspect="1"/>
          </p:cNvPicPr>
          <p:nvPr/>
        </p:nvPicPr>
        <p:blipFill>
          <a:blip r:embed="rId3"/>
          <a:stretch>
            <a:fillRect/>
          </a:stretch>
        </p:blipFill>
        <p:spPr>
          <a:xfrm>
            <a:off x="2113946" y="1318076"/>
            <a:ext cx="9144470" cy="3759393"/>
          </a:xfrm>
          <a:prstGeom prst="rect">
            <a:avLst/>
          </a:prstGeom>
        </p:spPr>
      </p:pic>
    </p:spTree>
    <p:extLst>
      <p:ext uri="{BB962C8B-B14F-4D97-AF65-F5344CB8AC3E}">
        <p14:creationId xmlns:p14="http://schemas.microsoft.com/office/powerpoint/2010/main" val="174347278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53DEC8CC-585F-4731-B472-B3C24C444A8D}"/>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测试</a:t>
            </a:r>
            <a:r>
              <a:rPr lang="en-US" altLang="zh-CN"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1(1/2)</a:t>
            </a:r>
            <a:endParaRPr lang="zh-CN" altLang="en-US" sz="3200" b="1" spc="300" dirty="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DDD0BCD-2B31-AFEB-9F4A-2B8ED0244F1A}"/>
              </a:ext>
            </a:extLst>
          </p:cNvPr>
          <p:cNvSpPr txBox="1"/>
          <p:nvPr/>
        </p:nvSpPr>
        <p:spPr>
          <a:xfrm>
            <a:off x="2020710" y="1196622"/>
            <a:ext cx="9031111" cy="4893647"/>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实验平台：</a:t>
            </a:r>
            <a:r>
              <a:rPr lang="en-US" altLang="zh-CN" sz="2400" dirty="0">
                <a:latin typeface="宋体" panose="02010600030101010101" pitchFamily="2" charset="-122"/>
                <a:ea typeface="宋体" panose="02010600030101010101" pitchFamily="2" charset="-122"/>
              </a:rPr>
              <a:t>6-core i5-8500 3GHz server with 16GB of memory, using Ubuntu 20.04, and Linux 5.12.0 with an Intel Optane 5800X prototype</a:t>
            </a:r>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对比对象</a:t>
            </a:r>
            <a:r>
              <a:rPr lang="en-US" altLang="zh-CN" sz="2400" dirty="0">
                <a:latin typeface="宋体" panose="02010600030101010101" pitchFamily="2" charset="-122"/>
                <a:ea typeface="宋体" panose="02010600030101010101" pitchFamily="2" charset="-122"/>
              </a:rPr>
              <a:t>:</a:t>
            </a:r>
          </a:p>
          <a:p>
            <a:r>
              <a:rPr lang="en-US" altLang="zh-CN" sz="2400" dirty="0">
                <a:latin typeface="宋体" panose="02010600030101010101" pitchFamily="2" charset="-122"/>
                <a:ea typeface="宋体" panose="02010600030101010101" pitchFamily="2" charset="-122"/>
              </a:rPr>
              <a:t>1.XRP</a:t>
            </a:r>
          </a:p>
          <a:p>
            <a:r>
              <a:rPr lang="en-US" altLang="zh-CN" sz="2400" dirty="0">
                <a:latin typeface="宋体" panose="02010600030101010101" pitchFamily="2" charset="-122"/>
                <a:ea typeface="宋体" panose="02010600030101010101" pitchFamily="2" charset="-122"/>
              </a:rPr>
              <a:t>2.SPDK</a:t>
            </a:r>
          </a:p>
          <a:p>
            <a:r>
              <a:rPr lang="en-US" altLang="zh-CN" sz="2400" dirty="0">
                <a:latin typeface="宋体" panose="02010600030101010101" pitchFamily="2" charset="-122"/>
                <a:ea typeface="宋体" panose="02010600030101010101" pitchFamily="2" charset="-122"/>
              </a:rPr>
              <a:t>3.Standard read() system calls</a:t>
            </a:r>
          </a:p>
          <a:p>
            <a:r>
              <a:rPr lang="en-US" altLang="zh-CN" sz="2400" dirty="0">
                <a:latin typeface="宋体" panose="02010600030101010101" pitchFamily="2" charset="-122"/>
                <a:ea typeface="宋体" panose="02010600030101010101" pitchFamily="2" charset="-122"/>
              </a:rPr>
              <a:t>4.Standard </a:t>
            </a:r>
            <a:r>
              <a:rPr lang="en-US" altLang="zh-CN" sz="2400" dirty="0" err="1">
                <a:latin typeface="宋体" panose="02010600030101010101" pitchFamily="2" charset="-122"/>
                <a:ea typeface="宋体" panose="02010600030101010101" pitchFamily="2" charset="-122"/>
              </a:rPr>
              <a:t>io_uring</a:t>
            </a:r>
            <a:r>
              <a:rPr lang="en-US" altLang="zh-CN" sz="2400" dirty="0">
                <a:latin typeface="宋体" panose="02010600030101010101" pitchFamily="2" charset="-122"/>
                <a:ea typeface="宋体" panose="02010600030101010101" pitchFamily="2" charset="-122"/>
              </a:rPr>
              <a:t> system calls</a:t>
            </a:r>
          </a:p>
          <a:p>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测试方法：将</a:t>
            </a: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集成到了两个</a:t>
            </a:r>
            <a:r>
              <a:rPr lang="en-US" altLang="zh-CN" sz="2400" dirty="0">
                <a:latin typeface="宋体" panose="02010600030101010101" pitchFamily="2" charset="-122"/>
                <a:ea typeface="宋体" panose="02010600030101010101" pitchFamily="2" charset="-122"/>
              </a:rPr>
              <a:t>KV</a:t>
            </a:r>
            <a:r>
              <a:rPr lang="zh-CN" altLang="en-US" sz="2400" dirty="0">
                <a:latin typeface="宋体" panose="02010600030101010101" pitchFamily="2" charset="-122"/>
                <a:ea typeface="宋体" panose="02010600030101010101" pitchFamily="2" charset="-122"/>
              </a:rPr>
              <a:t>系统中，</a:t>
            </a:r>
            <a:r>
              <a:rPr lang="en-US" altLang="zh-CN" sz="2400" dirty="0">
                <a:latin typeface="宋体" panose="02010600030101010101" pitchFamily="2" charset="-122"/>
                <a:ea typeface="宋体" panose="02010600030101010101" pitchFamily="2" charset="-122"/>
              </a:rPr>
              <a:t>BPF-KV</a:t>
            </a:r>
            <a:r>
              <a:rPr lang="zh-CN" altLang="en-US" sz="2400" dirty="0">
                <a:latin typeface="宋体" panose="02010600030101010101" pitchFamily="2" charset="-122"/>
                <a:ea typeface="宋体" panose="02010600030101010101" pitchFamily="2" charset="-122"/>
              </a:rPr>
              <a:t>是自己实现的一个简单的</a:t>
            </a:r>
            <a:r>
              <a:rPr lang="en-US" altLang="zh-CN" sz="2400" dirty="0">
                <a:latin typeface="宋体" panose="02010600030101010101" pitchFamily="2" charset="-122"/>
                <a:ea typeface="宋体" panose="02010600030101010101" pitchFamily="2" charset="-122"/>
              </a:rPr>
              <a:t>B+ tree </a:t>
            </a:r>
            <a:r>
              <a:rPr lang="en-US" altLang="zh-CN" sz="2400" dirty="0" err="1">
                <a:latin typeface="宋体" panose="02010600030101010101" pitchFamily="2" charset="-122"/>
                <a:ea typeface="宋体" panose="02010600030101010101" pitchFamily="2" charset="-122"/>
              </a:rPr>
              <a:t>kv</a:t>
            </a:r>
            <a:r>
              <a:rPr lang="en-US" altLang="zh-CN" sz="2400" dirty="0">
                <a:latin typeface="宋体" panose="02010600030101010101" pitchFamily="2" charset="-122"/>
                <a:ea typeface="宋体" panose="02010600030101010101" pitchFamily="2" charset="-122"/>
              </a:rPr>
              <a:t> store, WIREDTIGER</a:t>
            </a:r>
            <a:r>
              <a:rPr lang="zh-CN" altLang="en-US" sz="2400" dirty="0">
                <a:latin typeface="宋体" panose="02010600030101010101" pitchFamily="2" charset="-122"/>
                <a:ea typeface="宋体" panose="02010600030101010101" pitchFamily="2" charset="-122"/>
              </a:rPr>
              <a:t>是一个常用的</a:t>
            </a:r>
            <a:r>
              <a:rPr lang="en-US" altLang="zh-CN" sz="2400" dirty="0">
                <a:latin typeface="宋体" panose="02010600030101010101" pitchFamily="2" charset="-122"/>
                <a:ea typeface="宋体" panose="02010600030101010101" pitchFamily="2" charset="-122"/>
              </a:rPr>
              <a:t>LSM-tree</a:t>
            </a:r>
            <a:r>
              <a:rPr lang="zh-CN" altLang="en-US" sz="2400" dirty="0">
                <a:latin typeface="宋体" panose="02010600030101010101" pitchFamily="2" charset="-122"/>
                <a:ea typeface="宋体" panose="02010600030101010101" pitchFamily="2" charset="-122"/>
              </a:rPr>
              <a:t>为基础的</a:t>
            </a:r>
            <a:r>
              <a:rPr lang="en-US" altLang="zh-CN" sz="2400" dirty="0" err="1">
                <a:latin typeface="宋体" panose="02010600030101010101" pitchFamily="2" charset="-122"/>
                <a:ea typeface="宋体" panose="02010600030101010101" pitchFamily="2" charset="-122"/>
              </a:rPr>
              <a:t>kv</a:t>
            </a:r>
            <a:r>
              <a:rPr lang="en-US" altLang="zh-CN" sz="2400" dirty="0">
                <a:latin typeface="宋体" panose="02010600030101010101" pitchFamily="2" charset="-122"/>
                <a:ea typeface="宋体" panose="02010600030101010101" pitchFamily="2" charset="-122"/>
              </a:rPr>
              <a:t> store</a:t>
            </a:r>
          </a:p>
        </p:txBody>
      </p:sp>
    </p:spTree>
    <p:extLst>
      <p:ext uri="{BB962C8B-B14F-4D97-AF65-F5344CB8AC3E}">
        <p14:creationId xmlns:p14="http://schemas.microsoft.com/office/powerpoint/2010/main" val="181220505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关于我们">
            <a:extLst>
              <a:ext uri="{FF2B5EF4-FFF2-40B4-BE49-F238E27FC236}">
                <a16:creationId xmlns:a16="http://schemas.microsoft.com/office/drawing/2014/main" id="{EDFC3E38-B791-400B-AD83-E2ADFB9927EE}"/>
              </a:ext>
            </a:extLst>
          </p:cNvPr>
          <p:cNvSpPr/>
          <p:nvPr/>
        </p:nvSpPr>
        <p:spPr>
          <a:xfrm>
            <a:off x="1693532" y="90684"/>
            <a:ext cx="7336168" cy="584775"/>
          </a:xfrm>
          <a:prstGeom prst="rect">
            <a:avLst/>
          </a:prstGeom>
        </p:spPr>
        <p:txBody>
          <a:bodyPr wrap="square">
            <a:spAutoFit/>
          </a:bodyPr>
          <a:lstStyle/>
          <a:p>
            <a:pPr eaLnBrk="1" fontAlgn="auto" hangingPunct="1">
              <a:spcBef>
                <a:spcPct val="0"/>
              </a:spcBef>
              <a:spcAft>
                <a:spcPct val="0"/>
              </a:spcAft>
              <a:defRPr/>
            </a:pPr>
            <a:r>
              <a:rPr lang="en-US" altLang="zh-CN" sz="3200" b="1" spc="300">
                <a:solidFill>
                  <a:srgbClr val="264B8C"/>
                </a:solidFill>
                <a:latin typeface="微软雅黑" panose="020B0503020204020204" pitchFamily="34" charset="-122"/>
                <a:ea typeface="微软雅黑" panose="020B0503020204020204" pitchFamily="34" charset="-122"/>
                <a:cs typeface="Times New Roman" panose="02020603050405020304" pitchFamily="18" charset="0"/>
              </a:rPr>
              <a:t>Summary</a:t>
            </a:r>
            <a:endParaRPr lang="zh-CN" altLang="en-US" sz="3200" b="1" spc="300">
              <a:solidFill>
                <a:srgbClr val="264B8C"/>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F112237E-7DEC-6230-00DD-4439DE9E0846}"/>
              </a:ext>
            </a:extLst>
          </p:cNvPr>
          <p:cNvSpPr txBox="1"/>
          <p:nvPr/>
        </p:nvSpPr>
        <p:spPr>
          <a:xfrm>
            <a:off x="1755422" y="1027289"/>
            <a:ext cx="10176934" cy="4893647"/>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总结</a:t>
            </a:r>
            <a:endParaRPr lang="en-US" altLang="zh-CN" sz="2400" b="1"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is the first system to use BPF to accelerate common storage functions</a:t>
            </a:r>
          </a:p>
          <a:p>
            <a:pPr marL="342900" indent="-342900">
              <a:buFont typeface="Arial" panose="020B0604020202020204" pitchFamily="34" charset="0"/>
              <a:buChar char="•"/>
            </a:pPr>
            <a:r>
              <a:rPr lang="en-US" altLang="zh-CN" sz="2400" dirty="0">
                <a:latin typeface="宋体" panose="02010600030101010101" pitchFamily="2" charset="-122"/>
                <a:ea typeface="宋体" panose="02010600030101010101" pitchFamily="2" charset="-122"/>
              </a:rPr>
              <a:t>XRP</a:t>
            </a:r>
            <a:r>
              <a:rPr lang="zh-CN" altLang="en-US" sz="2400" dirty="0">
                <a:latin typeface="宋体" panose="02010600030101010101" pitchFamily="2" charset="-122"/>
                <a:ea typeface="宋体" panose="02010600030101010101" pitchFamily="2" charset="-122"/>
              </a:rPr>
              <a:t>在保留了大部分的通过绕过内核能够提供的性能收益的同时，没有损失</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的利用率和访问权限控制能力</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endParaRPr lang="en-US" altLang="zh-CN" sz="2400"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优点</a:t>
            </a:r>
            <a:endParaRPr lang="en-US" altLang="zh-CN" sz="2400" b="1"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内容非常丰富，文章中有很多篇幅在讲代码的设计与系统在一些特殊情况下如何处理</a:t>
            </a:r>
            <a:endParaRPr lang="en-US" altLang="zh-CN" sz="24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问题与解决方案都很直接，问题就是因为</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绕过内核的方法不够好，所以作者用</a:t>
            </a:r>
            <a:r>
              <a:rPr lang="en-US" altLang="zh-CN" sz="2400" dirty="0" err="1">
                <a:latin typeface="宋体" panose="02010600030101010101" pitchFamily="2" charset="-122"/>
                <a:ea typeface="宋体" panose="02010600030101010101" pitchFamily="2" charset="-122"/>
              </a:rPr>
              <a:t>eBPF</a:t>
            </a:r>
            <a:r>
              <a:rPr lang="zh-CN" altLang="en-US" sz="2400" dirty="0">
                <a:latin typeface="宋体" panose="02010600030101010101" pitchFamily="2" charset="-122"/>
                <a:ea typeface="宋体" panose="02010600030101010101" pitchFamily="2" charset="-122"/>
              </a:rPr>
              <a:t>来绕过内核解决</a:t>
            </a:r>
            <a:r>
              <a:rPr lang="en-US" altLang="zh-CN" sz="2400" dirty="0">
                <a:latin typeface="宋体" panose="02010600030101010101" pitchFamily="2" charset="-122"/>
                <a:ea typeface="宋体" panose="02010600030101010101" pitchFamily="2" charset="-122"/>
              </a:rPr>
              <a:t>SPDK</a:t>
            </a:r>
            <a:r>
              <a:rPr lang="zh-CN" altLang="en-US" sz="2400" dirty="0">
                <a:latin typeface="宋体" panose="02010600030101010101" pitchFamily="2" charset="-122"/>
                <a:ea typeface="宋体" panose="02010600030101010101" pitchFamily="2" charset="-122"/>
              </a:rPr>
              <a:t>的问题。但是在前面引出这些问题的过程中作者大量地描述了例如别的方法的缺点、设计方案应该注意的问题、设计的思路与挑战等，引出</a:t>
            </a:r>
            <a:r>
              <a:rPr lang="en-US" altLang="zh-CN" sz="2400" dirty="0">
                <a:latin typeface="宋体" panose="02010600030101010101" pitchFamily="2" charset="-122"/>
                <a:ea typeface="宋体" panose="02010600030101010101" pitchFamily="2" charset="-122"/>
              </a:rPr>
              <a:t>design</a:t>
            </a:r>
            <a:r>
              <a:rPr lang="zh-CN" altLang="en-US" sz="2400" dirty="0">
                <a:latin typeface="宋体" panose="02010600030101010101" pitchFamily="2" charset="-122"/>
                <a:ea typeface="宋体" panose="02010600030101010101" pitchFamily="2" charset="-122"/>
              </a:rPr>
              <a:t>部分很自然</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0094603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099EAAB-44F9-4F97-9F56-800302F6BA17}"/>
              </a:ext>
            </a:extLst>
          </p:cNvPr>
          <p:cNvSpPr/>
          <p:nvPr/>
        </p:nvSpPr>
        <p:spPr>
          <a:xfrm>
            <a:off x="0" y="4158114"/>
            <a:ext cx="12192000" cy="2699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28F071F8-A151-48AC-B63A-AA2A8CAA84E8}"/>
              </a:ext>
            </a:extLst>
          </p:cNvPr>
          <p:cNvSpPr/>
          <p:nvPr/>
        </p:nvSpPr>
        <p:spPr>
          <a:xfrm>
            <a:off x="1515979" y="1140697"/>
            <a:ext cx="9375808" cy="2229637"/>
          </a:xfrm>
          <a:prstGeom prst="rect">
            <a:avLst/>
          </a:prstGeom>
        </p:spPr>
        <p:txBody>
          <a:bodyPr wrap="none">
            <a:noAutofit/>
          </a:bodyPr>
          <a:lstStyle/>
          <a:p>
            <a:pPr lvl="0" algn="ctr">
              <a:defRPr/>
            </a:pPr>
            <a:r>
              <a:rPr lang="en-US" altLang="zh-CN" sz="4000" b="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CSAL: the Next-Gen Local Disks for the Cloud</a:t>
            </a:r>
            <a:r>
              <a:rPr kumimoji="0" lang="en-US" altLang="zh-CN" sz="4000" b="1"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rPr>
              <a:t> </a:t>
            </a:r>
            <a:endParaRPr lang="en-US" altLang="zh-CN" sz="4000" b="1" dirty="0">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b="1"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a:p>
            <a:pPr algn="ctr"/>
            <a:r>
              <a:rPr lang="en-US" altLang="zh-CN" dirty="0" err="1"/>
              <a:t>Yanbo</a:t>
            </a:r>
            <a:r>
              <a:rPr lang="en-US" altLang="zh-CN" dirty="0"/>
              <a:t> Zhou</a:t>
            </a:r>
            <a:r>
              <a:rPr lang="en-US" altLang="zh-CN" baseline="30000" dirty="0"/>
              <a:t>1</a:t>
            </a:r>
            <a:r>
              <a:rPr lang="en-US" altLang="zh-CN" dirty="0"/>
              <a:t>, </a:t>
            </a:r>
            <a:r>
              <a:rPr lang="en-US" altLang="zh-CN" dirty="0" err="1"/>
              <a:t>Erci</a:t>
            </a:r>
            <a:r>
              <a:rPr lang="en-US" altLang="zh-CN" dirty="0"/>
              <a:t> Xu</a:t>
            </a:r>
            <a:r>
              <a:rPr lang="en-US" altLang="zh-CN" baseline="30000" dirty="0"/>
              <a:t>∗1</a:t>
            </a:r>
            <a:r>
              <a:rPr lang="en-US" altLang="zh-CN" dirty="0"/>
              <a:t>, Li Zhang</a:t>
            </a:r>
            <a:r>
              <a:rPr lang="en-US" altLang="zh-CN" baseline="30000" dirty="0"/>
              <a:t>1</a:t>
            </a:r>
            <a:r>
              <a:rPr lang="en-US" altLang="zh-CN" dirty="0"/>
              <a:t>, Kapil Karkra</a:t>
            </a:r>
            <a:r>
              <a:rPr lang="en-US" altLang="zh-CN" baseline="30000" dirty="0"/>
              <a:t>2</a:t>
            </a:r>
            <a:r>
              <a:rPr lang="en-US" altLang="zh-CN" dirty="0"/>
              <a:t>, Mariusz Barczak</a:t>
            </a:r>
            <a:r>
              <a:rPr lang="en-US" altLang="zh-CN" baseline="30000" dirty="0"/>
              <a:t>2</a:t>
            </a:r>
            <a:r>
              <a:rPr lang="en-US" altLang="zh-CN" dirty="0"/>
              <a:t>, Wayne Gao</a:t>
            </a:r>
            <a:r>
              <a:rPr lang="en-US" altLang="zh-CN" baseline="30000" dirty="0"/>
              <a:t>2</a:t>
            </a:r>
            <a:r>
              <a:rPr lang="en-US" altLang="zh-CN" dirty="0"/>
              <a:t>, </a:t>
            </a:r>
          </a:p>
          <a:p>
            <a:pPr algn="ctr"/>
            <a:r>
              <a:rPr lang="en-US" altLang="zh-CN" dirty="0"/>
              <a:t>Wojciech Malikowski</a:t>
            </a:r>
            <a:r>
              <a:rPr lang="en-US" altLang="zh-CN" baseline="30000" dirty="0"/>
              <a:t>2</a:t>
            </a:r>
            <a:r>
              <a:rPr lang="en-US" altLang="zh-CN" dirty="0"/>
              <a:t>, Mateusz Kozlowski</a:t>
            </a:r>
            <a:r>
              <a:rPr lang="en-US" altLang="zh-CN" baseline="30000" dirty="0"/>
              <a:t>2</a:t>
            </a:r>
            <a:r>
              <a:rPr lang="en-US" altLang="zh-CN" dirty="0"/>
              <a:t>, </a:t>
            </a:r>
            <a:r>
              <a:rPr lang="en-US" altLang="zh-CN" dirty="0" err="1"/>
              <a:t>Łukasz</a:t>
            </a:r>
            <a:r>
              <a:rPr lang="en-US" altLang="zh-CN" dirty="0"/>
              <a:t> Łasek</a:t>
            </a:r>
            <a:r>
              <a:rPr lang="en-US" altLang="zh-CN" baseline="30000" dirty="0"/>
              <a:t>2</a:t>
            </a:r>
            <a:r>
              <a:rPr lang="en-US" altLang="zh-CN" dirty="0"/>
              <a:t>, </a:t>
            </a:r>
            <a:r>
              <a:rPr lang="en-US" altLang="zh-CN" dirty="0" err="1"/>
              <a:t>Ruiming</a:t>
            </a:r>
            <a:r>
              <a:rPr lang="en-US" altLang="zh-CN" dirty="0"/>
              <a:t> Lu</a:t>
            </a:r>
            <a:r>
              <a:rPr lang="en-US" altLang="zh-CN" baseline="30000" dirty="0"/>
              <a:t>1</a:t>
            </a:r>
            <a:r>
              <a:rPr lang="en-US" altLang="zh-CN" dirty="0"/>
              <a:t>, Feng Yang</a:t>
            </a:r>
            <a:r>
              <a:rPr lang="en-US" altLang="zh-CN" baseline="30000" dirty="0"/>
              <a:t>1</a:t>
            </a:r>
            <a:r>
              <a:rPr lang="en-US" altLang="zh-CN" dirty="0"/>
              <a:t>, </a:t>
            </a:r>
          </a:p>
          <a:p>
            <a:pPr algn="ctr"/>
            <a:r>
              <a:rPr lang="en-US" altLang="zh-CN" dirty="0" err="1"/>
              <a:t>Lilong</a:t>
            </a:r>
            <a:r>
              <a:rPr lang="en-US" altLang="zh-CN" dirty="0"/>
              <a:t> Huang</a:t>
            </a:r>
            <a:r>
              <a:rPr lang="en-US" altLang="zh-CN" baseline="30000" dirty="0"/>
              <a:t>1</a:t>
            </a:r>
            <a:r>
              <a:rPr lang="en-US" altLang="zh-CN" dirty="0"/>
              <a:t>, </a:t>
            </a:r>
            <a:r>
              <a:rPr lang="en-US" altLang="zh-CN" dirty="0" err="1"/>
              <a:t>Xiaolu</a:t>
            </a:r>
            <a:r>
              <a:rPr lang="en-US" altLang="zh-CN" dirty="0"/>
              <a:t> Zhang</a:t>
            </a:r>
            <a:r>
              <a:rPr lang="en-US" altLang="zh-CN" baseline="30000" dirty="0"/>
              <a:t>1</a:t>
            </a:r>
            <a:r>
              <a:rPr lang="en-US" altLang="zh-CN" dirty="0"/>
              <a:t>, Keqiang Niu</a:t>
            </a:r>
            <a:r>
              <a:rPr lang="en-US" altLang="zh-CN" baseline="30000" dirty="0"/>
              <a:t>1</a:t>
            </a:r>
            <a:r>
              <a:rPr lang="en-US" altLang="zh-CN" dirty="0"/>
              <a:t>, </a:t>
            </a:r>
            <a:r>
              <a:rPr lang="en-US" altLang="zh-CN" dirty="0" err="1"/>
              <a:t>Jiaji</a:t>
            </a:r>
            <a:r>
              <a:rPr lang="en-US" altLang="zh-CN" dirty="0"/>
              <a:t> Zhu</a:t>
            </a:r>
            <a:r>
              <a:rPr lang="en-US" altLang="zh-CN" baseline="30000" dirty="0"/>
              <a:t>1</a:t>
            </a:r>
            <a:r>
              <a:rPr lang="en-US" altLang="zh-CN" dirty="0"/>
              <a:t>, </a:t>
            </a:r>
            <a:r>
              <a:rPr lang="en-US" altLang="zh-CN" dirty="0" err="1"/>
              <a:t>Jiesheng</a:t>
            </a:r>
            <a:r>
              <a:rPr lang="en-US" altLang="zh-CN" dirty="0"/>
              <a:t> Wu</a:t>
            </a:r>
            <a:r>
              <a:rPr lang="en-US" altLang="zh-CN" baseline="30000" dirty="0"/>
              <a:t>1</a:t>
            </a:r>
            <a:r>
              <a:rPr lang="en-US" altLang="zh-CN" dirty="0"/>
              <a:t> </a:t>
            </a:r>
          </a:p>
          <a:p>
            <a:pPr algn="ctr"/>
            <a:endParaRPr lang="en-US" altLang="zh-CN" baseline="30000" dirty="0"/>
          </a:p>
          <a:p>
            <a:pPr algn="ctr"/>
            <a:r>
              <a:rPr lang="en-US" altLang="zh-CN" baseline="30000" dirty="0"/>
              <a:t>1</a:t>
            </a:r>
            <a:r>
              <a:rPr lang="en-US" altLang="zh-CN" dirty="0"/>
              <a:t>Alibaba Group; </a:t>
            </a:r>
            <a:r>
              <a:rPr lang="en-US" altLang="zh-CN" baseline="30000" dirty="0"/>
              <a:t>2</a:t>
            </a:r>
            <a:r>
              <a:rPr lang="en-US" altLang="zh-CN" dirty="0"/>
              <a:t>Solidigm</a:t>
            </a:r>
            <a:endParaRPr kumimoji="0" lang="en-US" altLang="zh-CN" sz="2400" b="0" i="0" u="none" strike="noStrike" kern="1200" cap="none" spc="0" normalizeH="0" baseline="0" noProof="0" dirty="0">
              <a:ln>
                <a:noFill/>
              </a:ln>
              <a:effectLst/>
              <a:uLnTx/>
              <a:uFillTx/>
              <a:latin typeface="Times New Roman" panose="02020603050405020304" pitchFamily="18" charset="0"/>
              <a:ea typeface="微软雅黑" panose="020B0503020204020204" charset="-122"/>
              <a:cs typeface="Times New Roman" panose="02020603050405020304" pitchFamily="18" charset="0"/>
              <a:sym typeface="Century Gothic" panose="020B0502020202020204" pitchFamily="34" charset="0"/>
            </a:endParaRPr>
          </a:p>
        </p:txBody>
      </p:sp>
      <p:sp>
        <p:nvSpPr>
          <p:cNvPr id="11" name="文本框 10">
            <a:extLst>
              <a:ext uri="{FF2B5EF4-FFF2-40B4-BE49-F238E27FC236}">
                <a16:creationId xmlns:a16="http://schemas.microsoft.com/office/drawing/2014/main" id="{2E2C70A9-9F89-4214-A032-30D737E21BAC}"/>
              </a:ext>
            </a:extLst>
          </p:cNvPr>
          <p:cNvSpPr txBox="1"/>
          <p:nvPr/>
        </p:nvSpPr>
        <p:spPr>
          <a:xfrm>
            <a:off x="-298383" y="114115"/>
            <a:ext cx="3628724" cy="707886"/>
          </a:xfrm>
          <a:prstGeom prst="rect">
            <a:avLst/>
          </a:prstGeom>
          <a:noFill/>
        </p:spPr>
        <p:txBody>
          <a:bodyPr wrap="square">
            <a:spAutoFit/>
          </a:bodyPr>
          <a:lstStyle/>
          <a:p>
            <a:pPr algn="ctr"/>
            <a:r>
              <a:rPr lang="en-US" altLang="zh-CN" sz="4000" b="1" i="0" dirty="0">
                <a:solidFill>
                  <a:srgbClr val="264B8C"/>
                </a:solidFill>
                <a:effectLst/>
                <a:latin typeface="OpenSans"/>
              </a:rPr>
              <a:t>EuroSys’24</a:t>
            </a:r>
          </a:p>
        </p:txBody>
      </p:sp>
      <p:sp>
        <p:nvSpPr>
          <p:cNvPr id="13" name="矩形 12">
            <a:extLst>
              <a:ext uri="{FF2B5EF4-FFF2-40B4-BE49-F238E27FC236}">
                <a16:creationId xmlns:a16="http://schemas.microsoft.com/office/drawing/2014/main" id="{E4D026F4-245F-4996-9CEC-47656E25448D}"/>
              </a:ext>
            </a:extLst>
          </p:cNvPr>
          <p:cNvSpPr/>
          <p:nvPr/>
        </p:nvSpPr>
        <p:spPr>
          <a:xfrm>
            <a:off x="3964685" y="4539644"/>
            <a:ext cx="4118627" cy="1177659"/>
          </a:xfrm>
          <a:prstGeom prst="rect">
            <a:avLst/>
          </a:prstGeom>
          <a:ln>
            <a:noFill/>
          </a:ln>
        </p:spPr>
        <p:txBody>
          <a:bodyPr wrap="square">
            <a:no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800" dirty="0">
                <a:solidFill>
                  <a:schemeClr val="bg1"/>
                </a:solidFill>
                <a:latin typeface="Century Gothic" panose="020B0502020202020204" pitchFamily="34" charset="0"/>
                <a:ea typeface="微软雅黑" panose="020B0503020204020204" charset="-122"/>
                <a:sym typeface="Century Gothic" panose="020B0502020202020204" pitchFamily="34" charset="0"/>
              </a:rPr>
              <a:t>谢谢大家</a:t>
            </a:r>
            <a:endParaRPr lang="en-US" altLang="zh-CN" sz="2800" dirty="0">
              <a:solidFill>
                <a:schemeClr val="bg1"/>
              </a:solidFill>
              <a:latin typeface="Century Gothic" panose="020B0502020202020204" pitchFamily="34" charset="0"/>
              <a:ea typeface="微软雅黑" panose="020B0503020204020204" charset="-122"/>
              <a:sym typeface="Century Gothic" panose="020B0502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lang="zh-CN" altLang="en-US" sz="2800" dirty="0">
                <a:solidFill>
                  <a:schemeClr val="bg1"/>
                </a:solidFill>
                <a:latin typeface="Century Gothic" panose="020B0502020202020204" pitchFamily="34" charset="0"/>
                <a:ea typeface="微软雅黑" panose="020B0503020204020204" charset="-122"/>
                <a:sym typeface="Century Gothic" panose="020B0502020202020204" pitchFamily="34" charset="0"/>
              </a:rPr>
              <a:t>请老师和同学批评指正</a:t>
            </a:r>
            <a:endParaRPr kumimoji="0" lang="zh-CN" altLang="en-US" sz="2800"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
        <p:nvSpPr>
          <p:cNvPr id="8" name="矩形 7">
            <a:extLst>
              <a:ext uri="{FF2B5EF4-FFF2-40B4-BE49-F238E27FC236}">
                <a16:creationId xmlns:a16="http://schemas.microsoft.com/office/drawing/2014/main" id="{D8608009-C729-4BEE-9C99-7CFC62A1873A}"/>
              </a:ext>
            </a:extLst>
          </p:cNvPr>
          <p:cNvSpPr/>
          <p:nvPr/>
        </p:nvSpPr>
        <p:spPr>
          <a:xfrm>
            <a:off x="9435621" y="5887806"/>
            <a:ext cx="4118627" cy="1177659"/>
          </a:xfrm>
          <a:prstGeom prst="rect">
            <a:avLst/>
          </a:prstGeom>
          <a:ln>
            <a:noFill/>
          </a:ln>
        </p:spPr>
        <p:txBody>
          <a:bodyPr wrap="square">
            <a:noAutofit/>
          </a:bodyPr>
          <a:lstStyle/>
          <a:p>
            <a:pPr marL="342900" marR="0" lvl="0" indent="-342900"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zh-CN" altLang="en-US" dirty="0">
                <a:solidFill>
                  <a:schemeClr val="bg1"/>
                </a:solidFill>
                <a:latin typeface="Century Gothic" panose="020B0502020202020204" pitchFamily="34" charset="0"/>
                <a:ea typeface="微软雅黑" panose="020B0503020204020204" charset="-122"/>
                <a:sym typeface="Century Gothic" panose="020B0502020202020204" pitchFamily="34" charset="0"/>
              </a:rPr>
              <a:t>论文汇报：</a:t>
            </a:r>
            <a:r>
              <a:rPr kumimoji="0" lang="zh-CN" altLang="en-US"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rPr>
              <a:t>杨</a:t>
            </a:r>
            <a:r>
              <a:rPr lang="zh-CN" altLang="en-US" dirty="0">
                <a:solidFill>
                  <a:schemeClr val="bg1"/>
                </a:solidFill>
                <a:latin typeface="Century Gothic" panose="020B0502020202020204" pitchFamily="34" charset="0"/>
                <a:ea typeface="微软雅黑" panose="020B0503020204020204" charset="-122"/>
                <a:sym typeface="Century Gothic" panose="020B0502020202020204" pitchFamily="34" charset="0"/>
              </a:rPr>
              <a:t>大荣</a:t>
            </a:r>
            <a:endParaRPr kumimoji="0" lang="en-US" altLang="zh-CN"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a:p>
            <a:pPr marL="342900" marR="0" lvl="0" indent="-342900"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zh-CN" altLang="en-US" noProof="0" dirty="0">
                <a:solidFill>
                  <a:schemeClr val="bg1"/>
                </a:solidFill>
                <a:latin typeface="Century Gothic" panose="020B0502020202020204" pitchFamily="34" charset="0"/>
                <a:ea typeface="微软雅黑" panose="020B0503020204020204" charset="-122"/>
                <a:sym typeface="Century Gothic" panose="020B0502020202020204" pitchFamily="34" charset="0"/>
              </a:rPr>
              <a:t>指导老师：夏文教授</a:t>
            </a:r>
            <a:endParaRPr kumimoji="0" lang="zh-CN" altLang="en-US" b="0" i="0" u="none" strike="noStrike" kern="1200" cap="none" spc="0" normalizeH="0" baseline="0" noProof="0" dirty="0">
              <a:ln>
                <a:noFill/>
              </a:ln>
              <a:solidFill>
                <a:schemeClr val="bg1"/>
              </a:solidFill>
              <a:effectLst/>
              <a:uLnTx/>
              <a:uFillTx/>
              <a:latin typeface="Century Gothic" panose="020B0502020202020204" pitchFamily="34" charset="0"/>
              <a:ea typeface="微软雅黑" panose="020B0503020204020204" charset="-122"/>
              <a:sym typeface="Century Gothic" panose="020B0502020202020204" pitchFamily="34" charset="0"/>
            </a:endParaRPr>
          </a:p>
        </p:txBody>
      </p:sp>
    </p:spTree>
    <p:extLst>
      <p:ext uri="{BB962C8B-B14F-4D97-AF65-F5344CB8AC3E}">
        <p14:creationId xmlns:p14="http://schemas.microsoft.com/office/powerpoint/2010/main" val="1343628981"/>
      </p:ext>
    </p:extLst>
  </p:cSld>
  <p:clrMapOvr>
    <a:masterClrMapping/>
  </p:clrMapOvr>
  <p:transition spd="slow" advClick="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bldLvl="0"/>
      <p:bldP spid="8" grpId="0" bldLvl="0"/>
    </p:bldLst>
  </p:timing>
</p:sld>
</file>

<file path=ppt/tags/tag1.xml><?xml version="1.0" encoding="utf-8"?>
<p:tagLst xmlns:a="http://schemas.openxmlformats.org/drawingml/2006/main" xmlns:r="http://schemas.openxmlformats.org/officeDocument/2006/relationships" xmlns:p="http://schemas.openxmlformats.org/presentationml/2006/main">
  <p:tag name="AS_NET" val="2.0.50727.5485"/>
  <p:tag name="AS_OS" val="Microsoft Windows NT 6.1.7601 Service Pack 1"/>
  <p:tag name="AS_RELEASE_DATE" val="2018.04.09"/>
  <p:tag name="AS_TITLE" val="Aspose.Slides for .NET 2.0"/>
  <p:tag name="AS_VERSION" val="18.4"/>
  <p:tag name="ISPRING_PRESENTATION_TITLE" val="论文答辩"/>
</p:tagLst>
</file>

<file path=ppt/theme/theme1.xml><?xml version="1.0" encoding="utf-8"?>
<a:theme xmlns:a="http://schemas.openxmlformats.org/drawingml/2006/main" name="Office 主题">
  <a:themeElements>
    <a:clrScheme name="自定义 32-蓝黄">
      <a:dk1>
        <a:srgbClr val="000000"/>
      </a:dk1>
      <a:lt1>
        <a:srgbClr val="FFFFFF"/>
      </a:lt1>
      <a:dk2>
        <a:srgbClr val="455F51"/>
      </a:dk2>
      <a:lt2>
        <a:srgbClr val="E2DFCC"/>
      </a:lt2>
      <a:accent1>
        <a:srgbClr val="264B8C"/>
      </a:accent1>
      <a:accent2>
        <a:srgbClr val="FFC000"/>
      </a:accent2>
      <a:accent3>
        <a:srgbClr val="739A28"/>
      </a:accent3>
      <a:accent4>
        <a:srgbClr val="37A76F"/>
      </a:accent4>
      <a:accent5>
        <a:srgbClr val="4EB3CF"/>
      </a:accent5>
      <a:accent6>
        <a:srgbClr val="51C3F9"/>
      </a:accent6>
      <a:hlink>
        <a:srgbClr val="08A5EF"/>
      </a:hlink>
      <a:folHlink>
        <a:srgbClr val="977B2D"/>
      </a:folHlink>
    </a:clrScheme>
    <a:fontScheme name="自定义 6">
      <a:majorFont>
        <a:latin typeface="Arial"/>
        <a:ea typeface="微软雅黑 Light"/>
        <a:cs typeface="Arial"/>
      </a:majorFont>
      <a:minorFont>
        <a:latin typeface="Arial"/>
        <a:ea typeface="微软雅黑 Light"/>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21302</TotalTime>
  <Words>489</Words>
  <Application>Microsoft Office PowerPoint</Application>
  <PresentationFormat>宽屏</PresentationFormat>
  <Paragraphs>53</Paragraphs>
  <Slides>7</Slides>
  <Notes>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 Unicode MS</vt:lpstr>
      <vt:lpstr>OpenSans</vt:lpstr>
      <vt:lpstr>宋体</vt:lpstr>
      <vt:lpstr>微软雅黑</vt:lpstr>
      <vt:lpstr>微软雅黑 Light</vt:lpstr>
      <vt:lpstr>等线</vt:lpstr>
      <vt:lpstr>Arial</vt:lpstr>
      <vt:lpstr>Calibri</vt:lpstr>
      <vt:lpstr>Century Gothic</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风云办公</Manager>
  <Company>上海剑姬网络科技有限公司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风云办公PPT模板</dc:title>
  <dc:creator>风云办公</dc:creator>
  <cp:keywords>风云办公</cp:keywords>
  <dc:description>风云办公 http://www.ppt118.com</dc:description>
  <cp:lastModifiedBy>大荣 杨</cp:lastModifiedBy>
  <cp:revision>1137</cp:revision>
  <dcterms:created xsi:type="dcterms:W3CDTF">2014-06-18T03:33:50Z</dcterms:created>
  <dcterms:modified xsi:type="dcterms:W3CDTF">2024-09-02T11:21:42Z</dcterms:modified>
</cp:coreProperties>
</file>