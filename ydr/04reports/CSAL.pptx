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786" r:id="rId2"/>
    <p:sldId id="821" r:id="rId3"/>
    <p:sldId id="791" r:id="rId4"/>
    <p:sldId id="755" r:id="rId5"/>
    <p:sldId id="792" r:id="rId6"/>
    <p:sldId id="793" r:id="rId7"/>
    <p:sldId id="788" r:id="rId8"/>
    <p:sldId id="789" r:id="rId9"/>
    <p:sldId id="794" r:id="rId10"/>
    <p:sldId id="795" r:id="rId11"/>
    <p:sldId id="796" r:id="rId12"/>
    <p:sldId id="797" r:id="rId13"/>
    <p:sldId id="798" r:id="rId14"/>
    <p:sldId id="799" r:id="rId15"/>
    <p:sldId id="800" r:id="rId16"/>
    <p:sldId id="801" r:id="rId17"/>
    <p:sldId id="802" r:id="rId18"/>
    <p:sldId id="803" r:id="rId19"/>
    <p:sldId id="784" r:id="rId20"/>
    <p:sldId id="822" r:id="rId21"/>
    <p:sldId id="804" r:id="rId22"/>
    <p:sldId id="809" r:id="rId23"/>
    <p:sldId id="810" r:id="rId24"/>
    <p:sldId id="811" r:id="rId25"/>
    <p:sldId id="812" r:id="rId26"/>
    <p:sldId id="813" r:id="rId27"/>
    <p:sldId id="785" r:id="rId28"/>
    <p:sldId id="814" r:id="rId29"/>
    <p:sldId id="815" r:id="rId30"/>
    <p:sldId id="816" r:id="rId31"/>
    <p:sldId id="817" r:id="rId32"/>
    <p:sldId id="818" r:id="rId33"/>
    <p:sldId id="718" r:id="rId34"/>
    <p:sldId id="819" r:id="rId35"/>
    <p:sldId id="820" r:id="rId36"/>
    <p:sldId id="787" r:id="rId37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7E64633E-06BB-4715-8940-B98EA62A6B54}">
          <p14:sldIdLst>
            <p14:sldId id="786"/>
            <p14:sldId id="821"/>
          </p14:sldIdLst>
        </p14:section>
        <p14:section name="Introduction" id="{492F5F35-966A-4AEC-8E58-170C75B8FEA3}">
          <p14:sldIdLst>
            <p14:sldId id="791"/>
            <p14:sldId id="755"/>
            <p14:sldId id="792"/>
            <p14:sldId id="793"/>
            <p14:sldId id="788"/>
          </p14:sldIdLst>
        </p14:section>
        <p14:section name="Motivation" id="{1624E39A-21CA-462B-BAE2-BF9AA064F182}">
          <p14:sldIdLst>
            <p14:sldId id="789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</p14:sldIdLst>
        </p14:section>
        <p14:section name="Design" id="{6F09CBED-71AF-4628-803B-D18452339DC0}">
          <p14:sldIdLst>
            <p14:sldId id="784"/>
            <p14:sldId id="822"/>
            <p14:sldId id="804"/>
            <p14:sldId id="809"/>
            <p14:sldId id="810"/>
            <p14:sldId id="811"/>
            <p14:sldId id="812"/>
            <p14:sldId id="813"/>
          </p14:sldIdLst>
        </p14:section>
        <p14:section name="Evaluation" id="{F5B01EC3-09C8-401C-8889-47FBE330A3DE}">
          <p14:sldIdLst>
            <p14:sldId id="785"/>
            <p14:sldId id="814"/>
            <p14:sldId id="815"/>
            <p14:sldId id="816"/>
            <p14:sldId id="817"/>
            <p14:sldId id="818"/>
          </p14:sldIdLst>
        </p14:section>
        <p14:section name="Conclusion" id="{34724875-2FC1-4A03-8C8B-3EFCAEB730C4}">
          <p14:sldIdLst>
            <p14:sldId id="718"/>
            <p14:sldId id="819"/>
            <p14:sldId id="820"/>
          </p14:sldIdLst>
        </p14:section>
        <p14:section name="End" id="{7AEFFE86-1D55-4212-B44C-1C78C231CE69}">
          <p14:sldIdLst>
            <p14:sldId id="7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32" userDrawn="1">
          <p15:clr>
            <a:srgbClr val="A4A3A4"/>
          </p15:clr>
        </p15:guide>
        <p15:guide id="2" pos="55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B8C"/>
    <a:srgbClr val="FFFFFF"/>
    <a:srgbClr val="FF3399"/>
    <a:srgbClr val="F2F2F2"/>
    <a:srgbClr val="CACACA"/>
    <a:srgbClr val="A6A6A6"/>
    <a:srgbClr val="999999"/>
    <a:srgbClr val="0062AC"/>
    <a:srgbClr val="D9D9D9"/>
    <a:srgbClr val="BBB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2" autoAdjust="0"/>
    <p:restoredTop sz="93875" autoAdjust="0"/>
  </p:normalViewPr>
  <p:slideViewPr>
    <p:cSldViewPr snapToGrid="0">
      <p:cViewPr varScale="1">
        <p:scale>
          <a:sx n="64" d="100"/>
          <a:sy n="64" d="100"/>
        </p:scale>
        <p:origin x="884" y="36"/>
      </p:cViewPr>
      <p:guideLst>
        <p:guide orient="horz" pos="1032"/>
        <p:guide pos="55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6210" y="16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5BC5FC8-45B9-B339-253D-CB28166A8C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2A9121-D8C8-8108-46D0-D1640207A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81991-E076-4FC1-8E6B-802C1FF7EBBF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B01BFD-2026-01B4-38F2-09FD634A9E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86B0EF-6ECA-96B1-ACCD-C8AFC323C3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B9F7A-1CF2-4952-977B-C56BCDFB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742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3007C-0BBF-4CAD-B02F-7664B804665F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DC7C-EA85-41EA-BE8E-3BC04B957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09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B61A1E-9EDA-480D-B7B8-4B6F28920C12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206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B61A1E-9EDA-480D-B7B8-4B6F28920C12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0386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092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426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150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001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351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49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514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980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843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8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137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426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824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31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200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749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387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837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694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 Light" panose="020B0502040204020203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B61A1E-9EDA-480D-B7B8-4B6F28920C12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6524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1D0B40-851A-4384-A124-88734D474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143" y="-52384"/>
            <a:ext cx="3136190" cy="88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8050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Intro-</a:t>
            </a:r>
          </a:p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duction</a:t>
            </a:r>
            <a:endParaRPr lang="zh-CN" altLang="en-US" sz="1600" b="1" kern="0" spc="12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6606" y="1928264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Moti-</a:t>
            </a:r>
            <a:r>
              <a:rPr lang="en-US" altLang="zh-CN" sz="1600" b="1" kern="0" spc="120" baseline="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vation</a:t>
            </a:r>
            <a:endParaRPr lang="zh-CN" altLang="en-US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2829218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Design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Evalua-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tion</a:t>
            </a: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Conclu-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sion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CCC42A-E4C9-4590-BC29-DBE486756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143" y="-52384"/>
            <a:ext cx="3136190" cy="880453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8466" y="1169930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2" descr="Eurosys_ACM">
            <a:extLst>
              <a:ext uri="{FF2B5EF4-FFF2-40B4-BE49-F238E27FC236}">
                <a16:creationId xmlns:a16="http://schemas.microsoft.com/office/drawing/2014/main" id="{95535DBD-9C9B-4B4B-9D1A-D1147FB887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" y="5971005"/>
            <a:ext cx="2973629" cy="73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0900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Moti-</a:t>
            </a:r>
            <a:r>
              <a:rPr lang="en-US" altLang="zh-CN" sz="1600" b="1" kern="0" spc="120" baseline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vation</a:t>
            </a:r>
            <a:endParaRPr lang="en-US" altLang="zh-CN" sz="1600" b="1" kern="0" spc="12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Intro-</a:t>
            </a:r>
          </a:p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duction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2829218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Design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Evalua-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tion</a:t>
            </a: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Conclu-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sion</a:t>
            </a: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9098" y="2072259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2" descr="Eurosys_ACM">
            <a:extLst>
              <a:ext uri="{FF2B5EF4-FFF2-40B4-BE49-F238E27FC236}">
                <a16:creationId xmlns:a16="http://schemas.microsoft.com/office/drawing/2014/main" id="{F2E81081-280A-4655-9D83-2520B026EE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" y="5971005"/>
            <a:ext cx="2973629" cy="73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98A2428-190F-4610-86D3-894B5B15A5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143" y="-52384"/>
            <a:ext cx="3136190" cy="88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9699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67290" y="2829218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Design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Intro-</a:t>
            </a:r>
          </a:p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duction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Moti-</a:t>
            </a:r>
            <a:r>
              <a:rPr lang="en-US" altLang="zh-CN" sz="1600" b="1" kern="0" spc="120" baseline="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vation</a:t>
            </a:r>
            <a:endParaRPr lang="zh-CN" altLang="en-US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Evalua-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tion</a:t>
            </a: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Conclu-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sion</a:t>
            </a: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8652" y="2971838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C2BF7EE4-7114-4164-8F3C-6AE8BE3BB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143" y="-52384"/>
            <a:ext cx="3136190" cy="880453"/>
          </a:xfrm>
          <a:prstGeom prst="rect">
            <a:avLst/>
          </a:prstGeom>
        </p:spPr>
      </p:pic>
      <p:pic>
        <p:nvPicPr>
          <p:cNvPr id="20" name="Picture 2" descr="Eurosys_ACM">
            <a:extLst>
              <a:ext uri="{FF2B5EF4-FFF2-40B4-BE49-F238E27FC236}">
                <a16:creationId xmlns:a16="http://schemas.microsoft.com/office/drawing/2014/main" id="{8BDFAB5E-E55E-4EB3-92F8-06443CEC91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" y="5971005"/>
            <a:ext cx="2973629" cy="73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94719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8092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Evalua-</a:t>
            </a:r>
          </a:p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tion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Intro-</a:t>
            </a:r>
          </a:p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duction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Moti-</a:t>
            </a:r>
            <a:r>
              <a:rPr lang="en-US" altLang="zh-CN" sz="1600" b="1" kern="0" spc="120" baseline="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vation</a:t>
            </a:r>
            <a:endParaRPr lang="zh-CN" altLang="en-US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81027" y="282502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Design</a:t>
            </a: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Conclu-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sion</a:t>
            </a: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8652" y="3871417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E5C25D75-8431-404C-80CC-FAED7CA69B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143" y="-52384"/>
            <a:ext cx="3136190" cy="880453"/>
          </a:xfrm>
          <a:prstGeom prst="rect">
            <a:avLst/>
          </a:prstGeom>
        </p:spPr>
      </p:pic>
      <p:pic>
        <p:nvPicPr>
          <p:cNvPr id="20" name="Picture 2" descr="Eurosys_ACM">
            <a:extLst>
              <a:ext uri="{FF2B5EF4-FFF2-40B4-BE49-F238E27FC236}">
                <a16:creationId xmlns:a16="http://schemas.microsoft.com/office/drawing/2014/main" id="{54DE1204-87E7-40D1-8F20-9696D399F1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" y="5971005"/>
            <a:ext cx="2973629" cy="73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99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461580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Conclu-</a:t>
            </a:r>
          </a:p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sion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Intro-</a:t>
            </a:r>
          </a:p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duction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Moti-</a:t>
            </a:r>
            <a:r>
              <a:rPr lang="en-US" altLang="zh-CN" sz="1600" b="1" kern="0" spc="120" baseline="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vation</a:t>
            </a:r>
            <a:endParaRPr lang="zh-CN" altLang="en-US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81027" y="282502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Design</a:t>
            </a: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372041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Evalua-</a:t>
            </a:r>
          </a:p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tion</a:t>
            </a: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8652" y="4758429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29025FC4-9D24-4B00-BD79-2266955AC7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143" y="-52384"/>
            <a:ext cx="3136190" cy="880453"/>
          </a:xfrm>
          <a:prstGeom prst="rect">
            <a:avLst/>
          </a:prstGeom>
        </p:spPr>
      </p:pic>
      <p:pic>
        <p:nvPicPr>
          <p:cNvPr id="20" name="Picture 2" descr="Eurosys_ACM">
            <a:extLst>
              <a:ext uri="{FF2B5EF4-FFF2-40B4-BE49-F238E27FC236}">
                <a16:creationId xmlns:a16="http://schemas.microsoft.com/office/drawing/2014/main" id="{0ECEBECD-EB82-4FDF-81C1-A176E9A896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" y="5971005"/>
            <a:ext cx="2973629" cy="73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63051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86957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271183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研究现状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55409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396362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研究方案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BEFB66D8-D83C-4A61-83C1-E2970C40CF91}"/>
              </a:ext>
            </a:extLst>
          </p:cNvPr>
          <p:cNvSpPr/>
          <p:nvPr userDrawn="1"/>
        </p:nvSpPr>
        <p:spPr>
          <a:xfrm>
            <a:off x="174664" y="5238625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工作进展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CCC42A-E4C9-4590-BC29-DBE4867566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9" y="5988392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8466" y="1169930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44237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6368FE5-F5E5-4176-96C8-0967A6A09FD3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186957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271183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研究现状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600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55409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396362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研究方案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BEFB66D8-D83C-4A61-83C1-E2970C40CF91}"/>
              </a:ext>
            </a:extLst>
          </p:cNvPr>
          <p:cNvSpPr/>
          <p:nvPr userDrawn="1"/>
        </p:nvSpPr>
        <p:spPr>
          <a:xfrm>
            <a:off x="174664" y="5238625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工作进展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7272BD3-6FCD-440A-B475-9390841207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9" y="5988392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3559" y="201219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670010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0375C28-9FD3-4EF1-88E9-E56B7DD05E3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271183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86957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研究意义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sz="1600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55409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396362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研究方案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BEFB66D8-D83C-4A61-83C1-E2970C40CF91}"/>
              </a:ext>
            </a:extLst>
          </p:cNvPr>
          <p:cNvSpPr/>
          <p:nvPr userDrawn="1"/>
        </p:nvSpPr>
        <p:spPr>
          <a:xfrm>
            <a:off x="174664" y="5238625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工作进展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F33709C-93B4-4ED6-8119-118E471D2C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9" y="5988392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3559" y="2854456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62929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F5F10A6-B697-4D5B-B320-5EA9BFEDE8F2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69964" y="355075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86957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研究意义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69964" y="271016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研究现状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396362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研究方案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BEFB66D8-D83C-4A61-83C1-E2970C40CF91}"/>
              </a:ext>
            </a:extLst>
          </p:cNvPr>
          <p:cNvSpPr/>
          <p:nvPr userDrawn="1"/>
        </p:nvSpPr>
        <p:spPr>
          <a:xfrm>
            <a:off x="174664" y="5238625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工作进展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A9E4F26-3063-43AB-9A76-098AA595AF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9" y="5994570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2920" y="369337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635439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15FCA1A-B0C0-4CE4-A103-1BCD219D9CAB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6496" y="439134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86957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研究意义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69964" y="271016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研究现状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6496" y="355075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BEFB66D8-D83C-4A61-83C1-E2970C40CF91}"/>
              </a:ext>
            </a:extLst>
          </p:cNvPr>
          <p:cNvSpPr/>
          <p:nvPr userDrawn="1"/>
        </p:nvSpPr>
        <p:spPr>
          <a:xfrm>
            <a:off x="174664" y="5238625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工作进展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CC4A094-0390-4AD9-A650-64DC9488C8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9" y="5988392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3559" y="453396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793049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8078175-CD18-4065-B95B-BB47473A6DD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6496" y="523193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86957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研究意义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69964" y="271016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研究现状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6496" y="355075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BEFB66D8-D83C-4A61-83C1-E2970C40CF91}"/>
              </a:ext>
            </a:extLst>
          </p:cNvPr>
          <p:cNvSpPr/>
          <p:nvPr userDrawn="1"/>
        </p:nvSpPr>
        <p:spPr>
          <a:xfrm>
            <a:off x="182674" y="439134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研究方案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A773D1A-CF5B-4F1F-B340-AF11CB7C6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9" y="5988392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2920" y="537455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294009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A7C6132-5290-47C3-8028-DAEA85845557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6496" y="523193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spc="12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86957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研究意义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2920" y="537455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69964" y="271016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研究现状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6496" y="355075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BEFB66D8-D83C-4A61-83C1-E2970C40CF91}"/>
              </a:ext>
            </a:extLst>
          </p:cNvPr>
          <p:cNvSpPr/>
          <p:nvPr userDrawn="1"/>
        </p:nvSpPr>
        <p:spPr>
          <a:xfrm>
            <a:off x="182674" y="4391343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0" kern="0" spc="120" baseline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研究方案</a:t>
            </a:r>
            <a:endParaRPr lang="en-US" altLang="zh-CN" sz="1600" b="0" kern="0" spc="120" baseline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096518-B2FD-4990-89D1-09044A02C7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9" y="5988392"/>
            <a:ext cx="1315995" cy="36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9451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68090" y="15578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ker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</a:t>
            </a:r>
            <a:endParaRPr lang="zh-CN" altLang="en-US" sz="2000" b="1" kern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68090" y="25385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Algorithm Introduction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1796372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290" y="100560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3">
            <a:extLst>
              <a:ext uri="{FF2B5EF4-FFF2-40B4-BE49-F238E27FC236}">
                <a16:creationId xmlns:a16="http://schemas.microsoft.com/office/drawing/2014/main" id="{8CFF7E95-41AC-404E-B336-6346B3159D85}"/>
              </a:ext>
            </a:extLst>
          </p:cNvPr>
          <p:cNvSpPr/>
          <p:nvPr userDrawn="1"/>
        </p:nvSpPr>
        <p:spPr>
          <a:xfrm>
            <a:off x="168090" y="35192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Design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itle_3">
            <a:extLst>
              <a:ext uri="{FF2B5EF4-FFF2-40B4-BE49-F238E27FC236}">
                <a16:creationId xmlns:a16="http://schemas.microsoft.com/office/drawing/2014/main" id="{6045DDFB-338A-4A2E-AD2A-18C35F5B0068}"/>
              </a:ext>
            </a:extLst>
          </p:cNvPr>
          <p:cNvSpPr/>
          <p:nvPr userDrawn="1"/>
        </p:nvSpPr>
        <p:spPr>
          <a:xfrm>
            <a:off x="168090" y="44999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80678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gorithm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64345" y="15578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2777072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290" y="100560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3">
            <a:extLst>
              <a:ext uri="{FF2B5EF4-FFF2-40B4-BE49-F238E27FC236}">
                <a16:creationId xmlns:a16="http://schemas.microsoft.com/office/drawing/2014/main" id="{8CFF7E95-41AC-404E-B336-6346B3159D85}"/>
              </a:ext>
            </a:extLst>
          </p:cNvPr>
          <p:cNvSpPr/>
          <p:nvPr userDrawn="1"/>
        </p:nvSpPr>
        <p:spPr>
          <a:xfrm>
            <a:off x="168090" y="35192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Design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itle_3">
            <a:extLst>
              <a:ext uri="{FF2B5EF4-FFF2-40B4-BE49-F238E27FC236}">
                <a16:creationId xmlns:a16="http://schemas.microsoft.com/office/drawing/2014/main" id="{6045DDFB-338A-4A2E-AD2A-18C35F5B0068}"/>
              </a:ext>
            </a:extLst>
          </p:cNvPr>
          <p:cNvSpPr/>
          <p:nvPr userDrawn="1"/>
        </p:nvSpPr>
        <p:spPr>
          <a:xfrm>
            <a:off x="168090" y="44999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itle_1_green">
            <a:extLst>
              <a:ext uri="{FF2B5EF4-FFF2-40B4-BE49-F238E27FC236}">
                <a16:creationId xmlns:a16="http://schemas.microsoft.com/office/drawing/2014/main" id="{0223E6DD-4173-4A05-8293-0FF4EE8C04B1}"/>
              </a:ext>
            </a:extLst>
          </p:cNvPr>
          <p:cNvSpPr/>
          <p:nvPr userDrawn="1"/>
        </p:nvSpPr>
        <p:spPr>
          <a:xfrm>
            <a:off x="164345" y="25385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ker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Algorithm Introduction</a:t>
            </a:r>
          </a:p>
        </p:txBody>
      </p:sp>
    </p:spTree>
    <p:extLst>
      <p:ext uri="{BB962C8B-B14F-4D97-AF65-F5344CB8AC3E}">
        <p14:creationId xmlns:p14="http://schemas.microsoft.com/office/powerpoint/2010/main" val="55062918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ystem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64345" y="1551532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38821" y="3757772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290" y="100560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3">
            <a:extLst>
              <a:ext uri="{FF2B5EF4-FFF2-40B4-BE49-F238E27FC236}">
                <a16:creationId xmlns:a16="http://schemas.microsoft.com/office/drawing/2014/main" id="{8CFF7E95-41AC-404E-B336-6346B3159D85}"/>
              </a:ext>
            </a:extLst>
          </p:cNvPr>
          <p:cNvSpPr/>
          <p:nvPr userDrawn="1"/>
        </p:nvSpPr>
        <p:spPr>
          <a:xfrm>
            <a:off x="164345" y="2534326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Algorithm Introduction</a:t>
            </a:r>
          </a:p>
        </p:txBody>
      </p:sp>
      <p:sp>
        <p:nvSpPr>
          <p:cNvPr id="16" name="title_3">
            <a:extLst>
              <a:ext uri="{FF2B5EF4-FFF2-40B4-BE49-F238E27FC236}">
                <a16:creationId xmlns:a16="http://schemas.microsoft.com/office/drawing/2014/main" id="{6045DDFB-338A-4A2E-AD2A-18C35F5B0068}"/>
              </a:ext>
            </a:extLst>
          </p:cNvPr>
          <p:cNvSpPr/>
          <p:nvPr userDrawn="1"/>
        </p:nvSpPr>
        <p:spPr>
          <a:xfrm>
            <a:off x="168090" y="4499914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itle_1_green">
            <a:extLst>
              <a:ext uri="{FF2B5EF4-FFF2-40B4-BE49-F238E27FC236}">
                <a16:creationId xmlns:a16="http://schemas.microsoft.com/office/drawing/2014/main" id="{0223E6DD-4173-4A05-8293-0FF4EE8C04B1}"/>
              </a:ext>
            </a:extLst>
          </p:cNvPr>
          <p:cNvSpPr/>
          <p:nvPr userDrawn="1"/>
        </p:nvSpPr>
        <p:spPr>
          <a:xfrm>
            <a:off x="164345" y="3515026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ker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182348944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64345" y="1553626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</a:t>
            </a:r>
            <a:endParaRPr lang="zh-CN" altLang="en-US" sz="2000" kern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71088" y="4734284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9290" y="100560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3">
            <a:extLst>
              <a:ext uri="{FF2B5EF4-FFF2-40B4-BE49-F238E27FC236}">
                <a16:creationId xmlns:a16="http://schemas.microsoft.com/office/drawing/2014/main" id="{8CFF7E95-41AC-404E-B336-6346B3159D85}"/>
              </a:ext>
            </a:extLst>
          </p:cNvPr>
          <p:cNvSpPr/>
          <p:nvPr userDrawn="1"/>
        </p:nvSpPr>
        <p:spPr>
          <a:xfrm>
            <a:off x="164345" y="2534326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Algorithm Introduction</a:t>
            </a:r>
          </a:p>
        </p:txBody>
      </p:sp>
      <p:sp>
        <p:nvSpPr>
          <p:cNvPr id="16" name="title_3">
            <a:extLst>
              <a:ext uri="{FF2B5EF4-FFF2-40B4-BE49-F238E27FC236}">
                <a16:creationId xmlns:a16="http://schemas.microsoft.com/office/drawing/2014/main" id="{6045DDFB-338A-4A2E-AD2A-18C35F5B0068}"/>
              </a:ext>
            </a:extLst>
          </p:cNvPr>
          <p:cNvSpPr/>
          <p:nvPr userDrawn="1"/>
        </p:nvSpPr>
        <p:spPr>
          <a:xfrm>
            <a:off x="176226" y="3515026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ker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System Design</a:t>
            </a:r>
          </a:p>
        </p:txBody>
      </p:sp>
      <p:sp>
        <p:nvSpPr>
          <p:cNvPr id="17" name="title_1_green">
            <a:extLst>
              <a:ext uri="{FF2B5EF4-FFF2-40B4-BE49-F238E27FC236}">
                <a16:creationId xmlns:a16="http://schemas.microsoft.com/office/drawing/2014/main" id="{0223E6DD-4173-4A05-8293-0FF4EE8C04B1}"/>
              </a:ext>
            </a:extLst>
          </p:cNvPr>
          <p:cNvSpPr/>
          <p:nvPr userDrawn="1"/>
        </p:nvSpPr>
        <p:spPr>
          <a:xfrm>
            <a:off x="176226" y="4495726"/>
            <a:ext cx="1584000" cy="6840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ker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0186284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2" name="title_1">
            <a:extLst>
              <a:ext uri="{FF2B5EF4-FFF2-40B4-BE49-F238E27FC236}">
                <a16:creationId xmlns:a16="http://schemas.microsoft.com/office/drawing/2014/main" id="{BC6F872F-AD2A-490B-BEC2-0FD82BB0032F}"/>
              </a:ext>
            </a:extLst>
          </p:cNvPr>
          <p:cNvSpPr/>
          <p:nvPr userDrawn="1"/>
        </p:nvSpPr>
        <p:spPr>
          <a:xfrm>
            <a:off x="187325" y="1717268"/>
            <a:ext cx="1485900" cy="4921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67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工作回顾</a:t>
            </a:r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87325" y="171726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87325" y="253693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实现原理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335660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应用场景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48789" y="232748"/>
            <a:ext cx="10186" cy="6268065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081" y="1859684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71" y="137572"/>
            <a:ext cx="1019741" cy="9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94169992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析与测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AA47860-F3E4-42BB-AFD5-EC6EF4F11AD8}"/>
              </a:ext>
            </a:extLst>
          </p:cNvPr>
          <p:cNvCxnSpPr>
            <a:cxnSpLocks/>
          </p:cNvCxnSpPr>
          <p:nvPr userDrawn="1"/>
        </p:nvCxnSpPr>
        <p:spPr>
          <a:xfrm>
            <a:off x="1948789" y="232748"/>
            <a:ext cx="10186" cy="6268065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335660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应用场景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2679558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6" name="title_1_green">
            <a:extLst>
              <a:ext uri="{FF2B5EF4-FFF2-40B4-BE49-F238E27FC236}">
                <a16:creationId xmlns:a16="http://schemas.microsoft.com/office/drawing/2014/main" id="{8B4F0D23-AC1E-44B8-836D-90B596D1200B}"/>
              </a:ext>
            </a:extLst>
          </p:cNvPr>
          <p:cNvSpPr/>
          <p:nvPr userDrawn="1"/>
        </p:nvSpPr>
        <p:spPr>
          <a:xfrm>
            <a:off x="187325" y="2564405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实现原理</a:t>
            </a: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1FC11B20-B1E4-4F9E-9D04-A5E81732D5AE}"/>
              </a:ext>
            </a:extLst>
          </p:cNvPr>
          <p:cNvSpPr/>
          <p:nvPr userDrawn="1"/>
        </p:nvSpPr>
        <p:spPr>
          <a:xfrm>
            <a:off x="187325" y="168540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背景介绍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DB8A27FC-07E7-45CF-80A5-CBE5C45819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71" y="137572"/>
            <a:ext cx="1019741" cy="9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23779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未来计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CC0BBF9-A8AA-4AE5-ABD4-FA94125E8370}"/>
              </a:ext>
            </a:extLst>
          </p:cNvPr>
          <p:cNvCxnSpPr>
            <a:cxnSpLocks/>
          </p:cNvCxnSpPr>
          <p:nvPr userDrawn="1"/>
        </p:nvCxnSpPr>
        <p:spPr>
          <a:xfrm>
            <a:off x="1948789" y="232748"/>
            <a:ext cx="10186" cy="6268065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254400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实现原理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350276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6" name="title_1_green">
            <a:extLst>
              <a:ext uri="{FF2B5EF4-FFF2-40B4-BE49-F238E27FC236}">
                <a16:creationId xmlns:a16="http://schemas.microsoft.com/office/drawing/2014/main" id="{8B4F0D23-AC1E-44B8-836D-90B596D1200B}"/>
              </a:ext>
            </a:extLst>
          </p:cNvPr>
          <p:cNvSpPr/>
          <p:nvPr userDrawn="1"/>
        </p:nvSpPr>
        <p:spPr>
          <a:xfrm>
            <a:off x="187325" y="3360143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应用场景</a:t>
            </a: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1FC11B20-B1E4-4F9E-9D04-A5E81732D5AE}"/>
              </a:ext>
            </a:extLst>
          </p:cNvPr>
          <p:cNvSpPr/>
          <p:nvPr userDrawn="1"/>
        </p:nvSpPr>
        <p:spPr>
          <a:xfrm>
            <a:off x="187325" y="168540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背景介绍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1344C3B7-47A9-47B5-9573-79AE62A06A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71" y="137572"/>
            <a:ext cx="1019741" cy="9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38445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想法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2" name="title_1">
            <a:extLst>
              <a:ext uri="{FF2B5EF4-FFF2-40B4-BE49-F238E27FC236}">
                <a16:creationId xmlns:a16="http://schemas.microsoft.com/office/drawing/2014/main" id="{BC6F872F-AD2A-490B-BEC2-0FD82BB0032F}"/>
              </a:ext>
            </a:extLst>
          </p:cNvPr>
          <p:cNvSpPr/>
          <p:nvPr userDrawn="1"/>
        </p:nvSpPr>
        <p:spPr>
          <a:xfrm>
            <a:off x="187325" y="1717268"/>
            <a:ext cx="1485900" cy="4921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67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工作回顾</a:t>
            </a:r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87325" y="171726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想法介绍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87325" y="253693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实现效果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335660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未来计划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48789" y="232748"/>
            <a:ext cx="10186" cy="6268065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081" y="1859684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71" y="137572"/>
            <a:ext cx="1019741" cy="9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77457387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实现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AA47860-F3E4-42BB-AFD5-EC6EF4F11AD8}"/>
              </a:ext>
            </a:extLst>
          </p:cNvPr>
          <p:cNvCxnSpPr>
            <a:cxnSpLocks/>
          </p:cNvCxnSpPr>
          <p:nvPr userDrawn="1"/>
        </p:nvCxnSpPr>
        <p:spPr>
          <a:xfrm>
            <a:off x="1948789" y="232748"/>
            <a:ext cx="10186" cy="6268065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335660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未来计划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2679558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6" name="title_1_green">
            <a:extLst>
              <a:ext uri="{FF2B5EF4-FFF2-40B4-BE49-F238E27FC236}">
                <a16:creationId xmlns:a16="http://schemas.microsoft.com/office/drawing/2014/main" id="{8B4F0D23-AC1E-44B8-836D-90B596D1200B}"/>
              </a:ext>
            </a:extLst>
          </p:cNvPr>
          <p:cNvSpPr/>
          <p:nvPr userDrawn="1"/>
        </p:nvSpPr>
        <p:spPr>
          <a:xfrm>
            <a:off x="187325" y="2564405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实现效果</a:t>
            </a: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1FC11B20-B1E4-4F9E-9D04-A5E81732D5AE}"/>
              </a:ext>
            </a:extLst>
          </p:cNvPr>
          <p:cNvSpPr/>
          <p:nvPr userDrawn="1"/>
        </p:nvSpPr>
        <p:spPr>
          <a:xfrm>
            <a:off x="187325" y="168540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想法介绍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DB8A27FC-07E7-45CF-80A5-CBE5C45819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71" y="137572"/>
            <a:ext cx="1019741" cy="9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49289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未来计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CC0BBF9-A8AA-4AE5-ABD4-FA94125E8370}"/>
              </a:ext>
            </a:extLst>
          </p:cNvPr>
          <p:cNvCxnSpPr>
            <a:cxnSpLocks/>
          </p:cNvCxnSpPr>
          <p:nvPr userDrawn="1"/>
        </p:nvCxnSpPr>
        <p:spPr>
          <a:xfrm>
            <a:off x="1948789" y="232748"/>
            <a:ext cx="10186" cy="6268065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254400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实现效果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350276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6" name="title_1_green">
            <a:extLst>
              <a:ext uri="{FF2B5EF4-FFF2-40B4-BE49-F238E27FC236}">
                <a16:creationId xmlns:a16="http://schemas.microsoft.com/office/drawing/2014/main" id="{8B4F0D23-AC1E-44B8-836D-90B596D1200B}"/>
              </a:ext>
            </a:extLst>
          </p:cNvPr>
          <p:cNvSpPr/>
          <p:nvPr userDrawn="1"/>
        </p:nvSpPr>
        <p:spPr>
          <a:xfrm>
            <a:off x="187325" y="3360143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未来计划</a:t>
            </a: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1FC11B20-B1E4-4F9E-9D04-A5E81732D5AE}"/>
              </a:ext>
            </a:extLst>
          </p:cNvPr>
          <p:cNvSpPr/>
          <p:nvPr userDrawn="1"/>
        </p:nvSpPr>
        <p:spPr>
          <a:xfrm>
            <a:off x="187325" y="168540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想法介绍</a:t>
            </a:r>
            <a:endParaRPr lang="en-US" altLang="zh-CN" sz="1800" b="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1344C3B7-47A9-47B5-9573-79AE62A06A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71" y="137572"/>
            <a:ext cx="1019741" cy="9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40405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选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2" name="title_1">
            <a:extLst>
              <a:ext uri="{FF2B5EF4-FFF2-40B4-BE49-F238E27FC236}">
                <a16:creationId xmlns:a16="http://schemas.microsoft.com/office/drawing/2014/main" id="{BC6F872F-AD2A-490B-BEC2-0FD82BB0032F}"/>
              </a:ext>
            </a:extLst>
          </p:cNvPr>
          <p:cNvSpPr/>
          <p:nvPr userDrawn="1"/>
        </p:nvSpPr>
        <p:spPr>
          <a:xfrm>
            <a:off x="187325" y="1717268"/>
            <a:ext cx="1485900" cy="4921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67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工作回顾</a:t>
            </a:r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87325" y="171726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当前进度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87325" y="253693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实验结果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335660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未来计划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081" y="1859684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556671780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选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335660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未来计划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2679558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6" name="title_1_green">
            <a:extLst>
              <a:ext uri="{FF2B5EF4-FFF2-40B4-BE49-F238E27FC236}">
                <a16:creationId xmlns:a16="http://schemas.microsoft.com/office/drawing/2014/main" id="{8B4F0D23-AC1E-44B8-836D-90B596D1200B}"/>
              </a:ext>
            </a:extLst>
          </p:cNvPr>
          <p:cNvSpPr/>
          <p:nvPr userDrawn="1"/>
        </p:nvSpPr>
        <p:spPr>
          <a:xfrm>
            <a:off x="187325" y="2564405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实验结果</a:t>
            </a: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1FC11B20-B1E4-4F9E-9D04-A5E81732D5AE}"/>
              </a:ext>
            </a:extLst>
          </p:cNvPr>
          <p:cNvSpPr/>
          <p:nvPr userDrawn="1"/>
        </p:nvSpPr>
        <p:spPr>
          <a:xfrm>
            <a:off x="187325" y="168540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当前进度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85629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选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325" y="254400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实验结果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3502763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6" name="title_1_green">
            <a:extLst>
              <a:ext uri="{FF2B5EF4-FFF2-40B4-BE49-F238E27FC236}">
                <a16:creationId xmlns:a16="http://schemas.microsoft.com/office/drawing/2014/main" id="{8B4F0D23-AC1E-44B8-836D-90B596D1200B}"/>
              </a:ext>
            </a:extLst>
          </p:cNvPr>
          <p:cNvSpPr/>
          <p:nvPr userDrawn="1"/>
        </p:nvSpPr>
        <p:spPr>
          <a:xfrm>
            <a:off x="187325" y="3360143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未来计划</a:t>
            </a: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1FC11B20-B1E4-4F9E-9D04-A5E81732D5AE}"/>
              </a:ext>
            </a:extLst>
          </p:cNvPr>
          <p:cNvSpPr/>
          <p:nvPr userDrawn="1"/>
        </p:nvSpPr>
        <p:spPr>
          <a:xfrm>
            <a:off x="187325" y="168540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当前进度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128815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选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87254" y="255598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实验结果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37" name="title_5">
            <a:extLst>
              <a:ext uri="{FF2B5EF4-FFF2-40B4-BE49-F238E27FC236}">
                <a16:creationId xmlns:a16="http://schemas.microsoft.com/office/drawing/2014/main" id="{8748D38F-B15B-4342-A5AF-2E53053EA955}"/>
              </a:ext>
            </a:extLst>
          </p:cNvPr>
          <p:cNvSpPr/>
          <p:nvPr userDrawn="1"/>
        </p:nvSpPr>
        <p:spPr>
          <a:xfrm>
            <a:off x="187254" y="342656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未来计划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55533" y="4439770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7" name="title_4">
            <a:extLst>
              <a:ext uri="{FF2B5EF4-FFF2-40B4-BE49-F238E27FC236}">
                <a16:creationId xmlns:a16="http://schemas.microsoft.com/office/drawing/2014/main" id="{1FC11B20-B1E4-4F9E-9D04-A5E81732D5AE}"/>
              </a:ext>
            </a:extLst>
          </p:cNvPr>
          <p:cNvSpPr/>
          <p:nvPr userDrawn="1"/>
        </p:nvSpPr>
        <p:spPr>
          <a:xfrm>
            <a:off x="187325" y="168540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当前进度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15" name="title_1_green">
            <a:extLst>
              <a:ext uri="{FF2B5EF4-FFF2-40B4-BE49-F238E27FC236}">
                <a16:creationId xmlns:a16="http://schemas.microsoft.com/office/drawing/2014/main" id="{ED9F3CD4-B0FB-40A5-8679-233F3092ACA4}"/>
              </a:ext>
            </a:extLst>
          </p:cNvPr>
          <p:cNvSpPr/>
          <p:nvPr userDrawn="1"/>
        </p:nvSpPr>
        <p:spPr>
          <a:xfrm>
            <a:off x="187254" y="4297150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预期目标</a:t>
            </a:r>
          </a:p>
        </p:txBody>
      </p:sp>
    </p:spTree>
    <p:extLst>
      <p:ext uri="{BB962C8B-B14F-4D97-AF65-F5344CB8AC3E}">
        <p14:creationId xmlns:p14="http://schemas.microsoft.com/office/powerpoint/2010/main" val="418363533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现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5AF84CC-7C5D-4010-9FC1-0A9DDE716264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arrow_游标">
            <a:extLst>
              <a:ext uri="{FF2B5EF4-FFF2-40B4-BE49-F238E27FC236}">
                <a16:creationId xmlns:a16="http://schemas.microsoft.com/office/drawing/2014/main" id="{768FD2FD-8E19-46A2-B126-D05693AFB025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36031" y="2281632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6E25375D-83DB-47A2-99C2-6BB0FB4E44C1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B5EB2F4-B654-43B5-8383-5DCF5C318B1D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A13887-56D3-487D-B51A-E67F72EFFEBA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0F47D5F-995E-4E05-A856-ABE67C6C29B5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Picture 10">
            <a:extLst>
              <a:ext uri="{FF2B5EF4-FFF2-40B4-BE49-F238E27FC236}">
                <a16:creationId xmlns:a16="http://schemas.microsoft.com/office/drawing/2014/main" id="{448D6B4D-920E-42DB-BFBB-056F7154E5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itle_2">
            <a:extLst>
              <a:ext uri="{FF2B5EF4-FFF2-40B4-BE49-F238E27FC236}">
                <a16:creationId xmlns:a16="http://schemas.microsoft.com/office/drawing/2014/main" id="{E838677C-724C-4CAD-892B-CD9688C0D2D7}"/>
              </a:ext>
            </a:extLst>
          </p:cNvPr>
          <p:cNvSpPr/>
          <p:nvPr userDrawn="1"/>
        </p:nvSpPr>
        <p:spPr>
          <a:xfrm>
            <a:off x="168275" y="1516917"/>
            <a:ext cx="1485900" cy="493712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选题背景</a:t>
            </a:r>
          </a:p>
        </p:txBody>
      </p:sp>
      <p:sp>
        <p:nvSpPr>
          <p:cNvPr id="60" name="title_3">
            <a:extLst>
              <a:ext uri="{FF2B5EF4-FFF2-40B4-BE49-F238E27FC236}">
                <a16:creationId xmlns:a16="http://schemas.microsoft.com/office/drawing/2014/main" id="{B7496C3B-3CDA-44E7-B989-1731A6148D7C}"/>
              </a:ext>
            </a:extLst>
          </p:cNvPr>
          <p:cNvSpPr/>
          <p:nvPr userDrawn="1"/>
        </p:nvSpPr>
        <p:spPr>
          <a:xfrm>
            <a:off x="168275" y="2744054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研究内容</a:t>
            </a:r>
          </a:p>
        </p:txBody>
      </p:sp>
      <p:sp>
        <p:nvSpPr>
          <p:cNvPr id="61" name="title_4">
            <a:extLst>
              <a:ext uri="{FF2B5EF4-FFF2-40B4-BE49-F238E27FC236}">
                <a16:creationId xmlns:a16="http://schemas.microsoft.com/office/drawing/2014/main" id="{8A2DC838-06EF-4706-A5FE-597C379DF77F}"/>
              </a:ext>
            </a:extLst>
          </p:cNvPr>
          <p:cNvSpPr/>
          <p:nvPr userDrawn="1"/>
        </p:nvSpPr>
        <p:spPr>
          <a:xfrm>
            <a:off x="168275" y="335682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已完成工作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62" name="title_5">
            <a:extLst>
              <a:ext uri="{FF2B5EF4-FFF2-40B4-BE49-F238E27FC236}">
                <a16:creationId xmlns:a16="http://schemas.microsoft.com/office/drawing/2014/main" id="{E4CC7404-7926-433E-B8AB-A6724478465A}"/>
              </a:ext>
            </a:extLst>
          </p:cNvPr>
          <p:cNvSpPr/>
          <p:nvPr userDrawn="1"/>
        </p:nvSpPr>
        <p:spPr>
          <a:xfrm>
            <a:off x="168275" y="3969604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预期目标</a:t>
            </a:r>
          </a:p>
        </p:txBody>
      </p:sp>
      <p:sp>
        <p:nvSpPr>
          <p:cNvPr id="63" name="title_6">
            <a:extLst>
              <a:ext uri="{FF2B5EF4-FFF2-40B4-BE49-F238E27FC236}">
                <a16:creationId xmlns:a16="http://schemas.microsoft.com/office/drawing/2014/main" id="{AA086B6E-D8EE-4D6B-A9E4-ED7E933E49B1}"/>
              </a:ext>
            </a:extLst>
          </p:cNvPr>
          <p:cNvSpPr/>
          <p:nvPr userDrawn="1"/>
        </p:nvSpPr>
        <p:spPr>
          <a:xfrm>
            <a:off x="168275" y="4580791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进度安排</a:t>
            </a:r>
          </a:p>
        </p:txBody>
      </p:sp>
      <p:sp>
        <p:nvSpPr>
          <p:cNvPr id="64" name="title_6">
            <a:extLst>
              <a:ext uri="{FF2B5EF4-FFF2-40B4-BE49-F238E27FC236}">
                <a16:creationId xmlns:a16="http://schemas.microsoft.com/office/drawing/2014/main" id="{15A25762-99EC-4815-B74E-0E49CE159310}"/>
              </a:ext>
            </a:extLst>
          </p:cNvPr>
          <p:cNvSpPr/>
          <p:nvPr userDrawn="1"/>
        </p:nvSpPr>
        <p:spPr>
          <a:xfrm>
            <a:off x="168275" y="519197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参考文献</a:t>
            </a:r>
          </a:p>
        </p:txBody>
      </p:sp>
      <p:sp>
        <p:nvSpPr>
          <p:cNvPr id="65" name="title_1_green">
            <a:extLst>
              <a:ext uri="{FF2B5EF4-FFF2-40B4-BE49-F238E27FC236}">
                <a16:creationId xmlns:a16="http://schemas.microsoft.com/office/drawing/2014/main" id="{EB64FB3E-E275-4A80-B447-73D6BC0C4E26}"/>
              </a:ext>
            </a:extLst>
          </p:cNvPr>
          <p:cNvSpPr/>
          <p:nvPr userDrawn="1"/>
        </p:nvSpPr>
        <p:spPr>
          <a:xfrm>
            <a:off x="168275" y="213127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研究现状</a:t>
            </a:r>
          </a:p>
        </p:txBody>
      </p:sp>
      <p:sp>
        <p:nvSpPr>
          <p:cNvPr id="18" name="五边形 8">
            <a:extLst>
              <a:ext uri="{FF2B5EF4-FFF2-40B4-BE49-F238E27FC236}">
                <a16:creationId xmlns:a16="http://schemas.microsoft.com/office/drawing/2014/main" id="{02D82F3A-8CEC-4A1D-BCF9-4207FED08D47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513533-CB6F-420D-B18B-94945932F3E4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3000330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E26D6CA-C99F-49E7-A957-6A57F0504B55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arrow_游标">
            <a:extLst>
              <a:ext uri="{FF2B5EF4-FFF2-40B4-BE49-F238E27FC236}">
                <a16:creationId xmlns:a16="http://schemas.microsoft.com/office/drawing/2014/main" id="{05966C0E-425A-4486-9911-D8B17FD5F4C9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36031" y="2882440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A6A46C55-C764-4248-A5FB-DB732F2B8874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EDA48D5-A4D0-468D-BB37-B4CD908F6478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58125E7-BEA4-45C3-AC39-9241C0DB5DF4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5FE7AF7-7BC3-4E53-9FDD-7D49579846B7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10">
            <a:extLst>
              <a:ext uri="{FF2B5EF4-FFF2-40B4-BE49-F238E27FC236}">
                <a16:creationId xmlns:a16="http://schemas.microsoft.com/office/drawing/2014/main" id="{E60BF3B1-5DD4-4FF2-B5F8-9761566AAC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itle_2">
            <a:extLst>
              <a:ext uri="{FF2B5EF4-FFF2-40B4-BE49-F238E27FC236}">
                <a16:creationId xmlns:a16="http://schemas.microsoft.com/office/drawing/2014/main" id="{3FF2102D-B762-4BFD-8F33-B36B57342B23}"/>
              </a:ext>
            </a:extLst>
          </p:cNvPr>
          <p:cNvSpPr/>
          <p:nvPr userDrawn="1"/>
        </p:nvSpPr>
        <p:spPr>
          <a:xfrm>
            <a:off x="168275" y="1508125"/>
            <a:ext cx="1485900" cy="493712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选题背景</a:t>
            </a:r>
          </a:p>
        </p:txBody>
      </p:sp>
      <p:sp>
        <p:nvSpPr>
          <p:cNvPr id="41" name="title_3">
            <a:extLst>
              <a:ext uri="{FF2B5EF4-FFF2-40B4-BE49-F238E27FC236}">
                <a16:creationId xmlns:a16="http://schemas.microsoft.com/office/drawing/2014/main" id="{C7E81876-2BBC-409F-A443-89392809A59F}"/>
              </a:ext>
            </a:extLst>
          </p:cNvPr>
          <p:cNvSpPr/>
          <p:nvPr userDrawn="1"/>
        </p:nvSpPr>
        <p:spPr>
          <a:xfrm>
            <a:off x="168275" y="212358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研究现状</a:t>
            </a:r>
          </a:p>
        </p:txBody>
      </p:sp>
      <p:sp>
        <p:nvSpPr>
          <p:cNvPr id="42" name="title_4">
            <a:extLst>
              <a:ext uri="{FF2B5EF4-FFF2-40B4-BE49-F238E27FC236}">
                <a16:creationId xmlns:a16="http://schemas.microsoft.com/office/drawing/2014/main" id="{FC18ECAB-B75D-424E-BB1F-8CA7D2813888}"/>
              </a:ext>
            </a:extLst>
          </p:cNvPr>
          <p:cNvSpPr/>
          <p:nvPr userDrawn="1"/>
        </p:nvSpPr>
        <p:spPr>
          <a:xfrm>
            <a:off x="168275" y="334803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已完成工作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43" name="title_5">
            <a:extLst>
              <a:ext uri="{FF2B5EF4-FFF2-40B4-BE49-F238E27FC236}">
                <a16:creationId xmlns:a16="http://schemas.microsoft.com/office/drawing/2014/main" id="{4B475FFD-CFCD-47F0-ABA3-599CC3B89362}"/>
              </a:ext>
            </a:extLst>
          </p:cNvPr>
          <p:cNvSpPr/>
          <p:nvPr userDrawn="1"/>
        </p:nvSpPr>
        <p:spPr>
          <a:xfrm>
            <a:off x="168275" y="3960812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预期目标</a:t>
            </a:r>
          </a:p>
        </p:txBody>
      </p:sp>
      <p:sp>
        <p:nvSpPr>
          <p:cNvPr id="44" name="title_6">
            <a:extLst>
              <a:ext uri="{FF2B5EF4-FFF2-40B4-BE49-F238E27FC236}">
                <a16:creationId xmlns:a16="http://schemas.microsoft.com/office/drawing/2014/main" id="{42AF8A51-0BC4-46FE-A35B-3621413716D4}"/>
              </a:ext>
            </a:extLst>
          </p:cNvPr>
          <p:cNvSpPr/>
          <p:nvPr userDrawn="1"/>
        </p:nvSpPr>
        <p:spPr>
          <a:xfrm>
            <a:off x="168275" y="457199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进度安排</a:t>
            </a:r>
          </a:p>
        </p:txBody>
      </p:sp>
      <p:sp>
        <p:nvSpPr>
          <p:cNvPr id="45" name="title_6">
            <a:extLst>
              <a:ext uri="{FF2B5EF4-FFF2-40B4-BE49-F238E27FC236}">
                <a16:creationId xmlns:a16="http://schemas.microsoft.com/office/drawing/2014/main" id="{22F84321-52F0-47D3-8034-208084E8D18F}"/>
              </a:ext>
            </a:extLst>
          </p:cNvPr>
          <p:cNvSpPr/>
          <p:nvPr userDrawn="1"/>
        </p:nvSpPr>
        <p:spPr>
          <a:xfrm>
            <a:off x="168275" y="518318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参考文献</a:t>
            </a:r>
          </a:p>
        </p:txBody>
      </p:sp>
      <p:sp>
        <p:nvSpPr>
          <p:cNvPr id="46" name="title_1_green">
            <a:extLst>
              <a:ext uri="{FF2B5EF4-FFF2-40B4-BE49-F238E27FC236}">
                <a16:creationId xmlns:a16="http://schemas.microsoft.com/office/drawing/2014/main" id="{B7382B30-CAC7-40F7-A359-45170C8B263F}"/>
              </a:ext>
            </a:extLst>
          </p:cNvPr>
          <p:cNvSpPr/>
          <p:nvPr userDrawn="1"/>
        </p:nvSpPr>
        <p:spPr>
          <a:xfrm>
            <a:off x="168275" y="2734163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研究内容</a:t>
            </a:r>
          </a:p>
        </p:txBody>
      </p:sp>
      <p:sp>
        <p:nvSpPr>
          <p:cNvPr id="18" name="五边形 8">
            <a:extLst>
              <a:ext uri="{FF2B5EF4-FFF2-40B4-BE49-F238E27FC236}">
                <a16:creationId xmlns:a16="http://schemas.microsoft.com/office/drawing/2014/main" id="{F24F17E3-C30B-4558-9875-F07730B5AAAB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0670E59-CE5D-4378-A243-C54455C2AE7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3232753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已完成工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3D0D28C-F871-4D64-8DD2-F89BD90684B5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arrow_游标">
            <a:extLst>
              <a:ext uri="{FF2B5EF4-FFF2-40B4-BE49-F238E27FC236}">
                <a16:creationId xmlns:a16="http://schemas.microsoft.com/office/drawing/2014/main" id="{B1E9A17C-8FBF-4337-89CB-8E006152EA95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36031" y="3504741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06F3A03-4688-417C-9C6D-1F3B96FF4EA8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AA2C85F-68DD-4E4B-A7C7-C1A3F7DB5105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23E441E-A817-4BF0-8717-A74A9B2A1E02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A3C4E4D-B3AF-4C82-B8E1-3E9A497E9B69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Picture 10">
            <a:extLst>
              <a:ext uri="{FF2B5EF4-FFF2-40B4-BE49-F238E27FC236}">
                <a16:creationId xmlns:a16="http://schemas.microsoft.com/office/drawing/2014/main" id="{29B72CFE-97F8-4284-B0E3-89FFD511A1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itle_2">
            <a:extLst>
              <a:ext uri="{FF2B5EF4-FFF2-40B4-BE49-F238E27FC236}">
                <a16:creationId xmlns:a16="http://schemas.microsoft.com/office/drawing/2014/main" id="{0DACD02F-392B-4965-9B64-D794D019B4E4}"/>
              </a:ext>
            </a:extLst>
          </p:cNvPr>
          <p:cNvSpPr/>
          <p:nvPr userDrawn="1"/>
        </p:nvSpPr>
        <p:spPr>
          <a:xfrm>
            <a:off x="168275" y="1508125"/>
            <a:ext cx="1485900" cy="493712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选题背景</a:t>
            </a:r>
          </a:p>
        </p:txBody>
      </p:sp>
      <p:sp>
        <p:nvSpPr>
          <p:cNvPr id="48" name="title_3">
            <a:extLst>
              <a:ext uri="{FF2B5EF4-FFF2-40B4-BE49-F238E27FC236}">
                <a16:creationId xmlns:a16="http://schemas.microsoft.com/office/drawing/2014/main" id="{279C359E-91B0-4E30-BFB7-57329280C31A}"/>
              </a:ext>
            </a:extLst>
          </p:cNvPr>
          <p:cNvSpPr/>
          <p:nvPr userDrawn="1"/>
        </p:nvSpPr>
        <p:spPr>
          <a:xfrm>
            <a:off x="168275" y="273843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研究内容</a:t>
            </a:r>
          </a:p>
        </p:txBody>
      </p:sp>
      <p:sp>
        <p:nvSpPr>
          <p:cNvPr id="49" name="title_4">
            <a:extLst>
              <a:ext uri="{FF2B5EF4-FFF2-40B4-BE49-F238E27FC236}">
                <a16:creationId xmlns:a16="http://schemas.microsoft.com/office/drawing/2014/main" id="{224C529D-B94B-4D42-829F-3B036ADD50DE}"/>
              </a:ext>
            </a:extLst>
          </p:cNvPr>
          <p:cNvSpPr/>
          <p:nvPr userDrawn="1"/>
        </p:nvSpPr>
        <p:spPr>
          <a:xfrm>
            <a:off x="168275" y="2124075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研究现状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50" name="title_5">
            <a:extLst>
              <a:ext uri="{FF2B5EF4-FFF2-40B4-BE49-F238E27FC236}">
                <a16:creationId xmlns:a16="http://schemas.microsoft.com/office/drawing/2014/main" id="{565C2400-1492-4BD6-AA93-EAAE1B9C3A57}"/>
              </a:ext>
            </a:extLst>
          </p:cNvPr>
          <p:cNvSpPr/>
          <p:nvPr userDrawn="1"/>
        </p:nvSpPr>
        <p:spPr>
          <a:xfrm>
            <a:off x="168275" y="3963988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预期目标</a:t>
            </a:r>
          </a:p>
        </p:txBody>
      </p:sp>
      <p:sp>
        <p:nvSpPr>
          <p:cNvPr id="51" name="title_6">
            <a:extLst>
              <a:ext uri="{FF2B5EF4-FFF2-40B4-BE49-F238E27FC236}">
                <a16:creationId xmlns:a16="http://schemas.microsoft.com/office/drawing/2014/main" id="{5FA2C59A-57E7-48B4-9CBE-7AF4016CF48D}"/>
              </a:ext>
            </a:extLst>
          </p:cNvPr>
          <p:cNvSpPr/>
          <p:nvPr userDrawn="1"/>
        </p:nvSpPr>
        <p:spPr>
          <a:xfrm>
            <a:off x="168275" y="4575175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进度安排</a:t>
            </a:r>
          </a:p>
        </p:txBody>
      </p:sp>
      <p:sp>
        <p:nvSpPr>
          <p:cNvPr id="52" name="title_6">
            <a:extLst>
              <a:ext uri="{FF2B5EF4-FFF2-40B4-BE49-F238E27FC236}">
                <a16:creationId xmlns:a16="http://schemas.microsoft.com/office/drawing/2014/main" id="{50C47F66-7700-41F6-A1BA-6B790CD959E2}"/>
              </a:ext>
            </a:extLst>
          </p:cNvPr>
          <p:cNvSpPr/>
          <p:nvPr userDrawn="1"/>
        </p:nvSpPr>
        <p:spPr>
          <a:xfrm>
            <a:off x="168275" y="5186362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参考文献</a:t>
            </a:r>
          </a:p>
        </p:txBody>
      </p:sp>
      <p:sp>
        <p:nvSpPr>
          <p:cNvPr id="53" name="title_1_green">
            <a:extLst>
              <a:ext uri="{FF2B5EF4-FFF2-40B4-BE49-F238E27FC236}">
                <a16:creationId xmlns:a16="http://schemas.microsoft.com/office/drawing/2014/main" id="{0612F683-39BC-48BD-B8B9-AC9AEEA549B3}"/>
              </a:ext>
            </a:extLst>
          </p:cNvPr>
          <p:cNvSpPr/>
          <p:nvPr userDrawn="1"/>
        </p:nvSpPr>
        <p:spPr>
          <a:xfrm>
            <a:off x="168275" y="3349625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已完成工作</a:t>
            </a:r>
          </a:p>
        </p:txBody>
      </p:sp>
      <p:sp>
        <p:nvSpPr>
          <p:cNvPr id="18" name="五边形 8">
            <a:extLst>
              <a:ext uri="{FF2B5EF4-FFF2-40B4-BE49-F238E27FC236}">
                <a16:creationId xmlns:a16="http://schemas.microsoft.com/office/drawing/2014/main" id="{A051EF04-FEB3-42BA-994C-C9685C5E8764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4B00A4-988B-455A-96A8-3B441DA9AAB8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77648726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预期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83996A1-AA0A-4761-A209-57746CB4EE13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arrow_游标">
            <a:extLst>
              <a:ext uri="{FF2B5EF4-FFF2-40B4-BE49-F238E27FC236}">
                <a16:creationId xmlns:a16="http://schemas.microsoft.com/office/drawing/2014/main" id="{AD3CC518-0B28-447B-BF79-5B7E6E5D7DAD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36031" y="4092115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9DE5797-D6ED-45AD-8544-AF5E100F2A91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30E10E1-4245-4041-8E76-D2E915841C80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51EE7DD-DDA2-4BA1-A5B7-A7682A7ABB9C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4184733-6272-4A62-8924-7A9C7F3B509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10">
            <a:extLst>
              <a:ext uri="{FF2B5EF4-FFF2-40B4-BE49-F238E27FC236}">
                <a16:creationId xmlns:a16="http://schemas.microsoft.com/office/drawing/2014/main" id="{0729201F-2A83-4147-A33E-C7766FB060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itle_2">
            <a:extLst>
              <a:ext uri="{FF2B5EF4-FFF2-40B4-BE49-F238E27FC236}">
                <a16:creationId xmlns:a16="http://schemas.microsoft.com/office/drawing/2014/main" id="{47B475DE-F9A3-44AC-B627-EEB611058906}"/>
              </a:ext>
            </a:extLst>
          </p:cNvPr>
          <p:cNvSpPr/>
          <p:nvPr userDrawn="1"/>
        </p:nvSpPr>
        <p:spPr>
          <a:xfrm>
            <a:off x="168275" y="1508125"/>
            <a:ext cx="1485900" cy="493712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选题背景</a:t>
            </a:r>
          </a:p>
        </p:txBody>
      </p:sp>
      <p:sp>
        <p:nvSpPr>
          <p:cNvPr id="41" name="title_3">
            <a:extLst>
              <a:ext uri="{FF2B5EF4-FFF2-40B4-BE49-F238E27FC236}">
                <a16:creationId xmlns:a16="http://schemas.microsoft.com/office/drawing/2014/main" id="{DBDC64ED-1830-415B-A1D4-26A8A2CA151F}"/>
              </a:ext>
            </a:extLst>
          </p:cNvPr>
          <p:cNvSpPr/>
          <p:nvPr userDrawn="1"/>
        </p:nvSpPr>
        <p:spPr>
          <a:xfrm>
            <a:off x="168275" y="2735262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研究内容</a:t>
            </a:r>
          </a:p>
        </p:txBody>
      </p:sp>
      <p:sp>
        <p:nvSpPr>
          <p:cNvPr id="42" name="title_4">
            <a:extLst>
              <a:ext uri="{FF2B5EF4-FFF2-40B4-BE49-F238E27FC236}">
                <a16:creationId xmlns:a16="http://schemas.microsoft.com/office/drawing/2014/main" id="{E82EE167-049D-4A74-A31F-6B2D9376157C}"/>
              </a:ext>
            </a:extLst>
          </p:cNvPr>
          <p:cNvSpPr/>
          <p:nvPr userDrawn="1"/>
        </p:nvSpPr>
        <p:spPr>
          <a:xfrm>
            <a:off x="168275" y="334803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已完成工作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43" name="title_5">
            <a:extLst>
              <a:ext uri="{FF2B5EF4-FFF2-40B4-BE49-F238E27FC236}">
                <a16:creationId xmlns:a16="http://schemas.microsoft.com/office/drawing/2014/main" id="{4008366A-7DC5-402B-865F-C78CEB369A6A}"/>
              </a:ext>
            </a:extLst>
          </p:cNvPr>
          <p:cNvSpPr/>
          <p:nvPr userDrawn="1"/>
        </p:nvSpPr>
        <p:spPr>
          <a:xfrm>
            <a:off x="168275" y="212089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研究现状</a:t>
            </a:r>
          </a:p>
        </p:txBody>
      </p:sp>
      <p:sp>
        <p:nvSpPr>
          <p:cNvPr id="44" name="title_6">
            <a:extLst>
              <a:ext uri="{FF2B5EF4-FFF2-40B4-BE49-F238E27FC236}">
                <a16:creationId xmlns:a16="http://schemas.microsoft.com/office/drawing/2014/main" id="{9596935A-2952-43BA-8526-91739448E6BA}"/>
              </a:ext>
            </a:extLst>
          </p:cNvPr>
          <p:cNvSpPr/>
          <p:nvPr userDrawn="1"/>
        </p:nvSpPr>
        <p:spPr>
          <a:xfrm>
            <a:off x="168275" y="457199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进度安排</a:t>
            </a:r>
          </a:p>
        </p:txBody>
      </p:sp>
      <p:sp>
        <p:nvSpPr>
          <p:cNvPr id="45" name="title_6">
            <a:extLst>
              <a:ext uri="{FF2B5EF4-FFF2-40B4-BE49-F238E27FC236}">
                <a16:creationId xmlns:a16="http://schemas.microsoft.com/office/drawing/2014/main" id="{823B2198-9855-4C49-9955-B2C3D827FF6B}"/>
              </a:ext>
            </a:extLst>
          </p:cNvPr>
          <p:cNvSpPr/>
          <p:nvPr userDrawn="1"/>
        </p:nvSpPr>
        <p:spPr>
          <a:xfrm>
            <a:off x="168275" y="518318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参考文献</a:t>
            </a:r>
          </a:p>
        </p:txBody>
      </p:sp>
      <p:sp>
        <p:nvSpPr>
          <p:cNvPr id="46" name="title_1_green">
            <a:extLst>
              <a:ext uri="{FF2B5EF4-FFF2-40B4-BE49-F238E27FC236}">
                <a16:creationId xmlns:a16="http://schemas.microsoft.com/office/drawing/2014/main" id="{6870CF5B-3A2C-4907-A078-C6275908D4A8}"/>
              </a:ext>
            </a:extLst>
          </p:cNvPr>
          <p:cNvSpPr/>
          <p:nvPr userDrawn="1"/>
        </p:nvSpPr>
        <p:spPr>
          <a:xfrm>
            <a:off x="176884" y="3959224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预期目标</a:t>
            </a:r>
          </a:p>
        </p:txBody>
      </p:sp>
      <p:sp>
        <p:nvSpPr>
          <p:cNvPr id="19" name="五边形 8">
            <a:extLst>
              <a:ext uri="{FF2B5EF4-FFF2-40B4-BE49-F238E27FC236}">
                <a16:creationId xmlns:a16="http://schemas.microsoft.com/office/drawing/2014/main" id="{05773393-73B7-4D56-8A6A-0148ECD0CECB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70C837-D07D-4130-A16D-920007C5487A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417996970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进度安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4ADD359-EEBB-4D29-BA3E-7656E489116C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arrow_游标">
            <a:extLst>
              <a:ext uri="{FF2B5EF4-FFF2-40B4-BE49-F238E27FC236}">
                <a16:creationId xmlns:a16="http://schemas.microsoft.com/office/drawing/2014/main" id="{E56864B8-ADEA-41FC-80D1-2C40D4997B17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36031" y="4692190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9CAD5C6A-872C-462B-83E8-3BF62D71DA88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7EFBA2A-F038-4EBA-A72A-184A3E51B002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1FF8511-457F-4258-99E4-6F5B5FC1C950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DF80507-29DD-4131-908F-63E4268AD96F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10">
            <a:extLst>
              <a:ext uri="{FF2B5EF4-FFF2-40B4-BE49-F238E27FC236}">
                <a16:creationId xmlns:a16="http://schemas.microsoft.com/office/drawing/2014/main" id="{727B6868-A741-4D9E-BFC2-09C2293008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itle_2">
            <a:extLst>
              <a:ext uri="{FF2B5EF4-FFF2-40B4-BE49-F238E27FC236}">
                <a16:creationId xmlns:a16="http://schemas.microsoft.com/office/drawing/2014/main" id="{B4195B67-BBFC-4092-AE2C-07FFA5F10459}"/>
              </a:ext>
            </a:extLst>
          </p:cNvPr>
          <p:cNvSpPr/>
          <p:nvPr userDrawn="1"/>
        </p:nvSpPr>
        <p:spPr>
          <a:xfrm>
            <a:off x="168275" y="1508125"/>
            <a:ext cx="1485900" cy="493712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选题背景</a:t>
            </a:r>
          </a:p>
        </p:txBody>
      </p:sp>
      <p:sp>
        <p:nvSpPr>
          <p:cNvPr id="23" name="title_3">
            <a:extLst>
              <a:ext uri="{FF2B5EF4-FFF2-40B4-BE49-F238E27FC236}">
                <a16:creationId xmlns:a16="http://schemas.microsoft.com/office/drawing/2014/main" id="{58BD4344-A7A9-42F6-A8C6-9582A5FC9179}"/>
              </a:ext>
            </a:extLst>
          </p:cNvPr>
          <p:cNvSpPr/>
          <p:nvPr userDrawn="1"/>
        </p:nvSpPr>
        <p:spPr>
          <a:xfrm>
            <a:off x="168275" y="2735262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研究内容</a:t>
            </a:r>
          </a:p>
        </p:txBody>
      </p:sp>
      <p:sp>
        <p:nvSpPr>
          <p:cNvPr id="24" name="title_4">
            <a:extLst>
              <a:ext uri="{FF2B5EF4-FFF2-40B4-BE49-F238E27FC236}">
                <a16:creationId xmlns:a16="http://schemas.microsoft.com/office/drawing/2014/main" id="{796ED851-E3E1-4A26-8CD8-02D0DAED8FF2}"/>
              </a:ext>
            </a:extLst>
          </p:cNvPr>
          <p:cNvSpPr/>
          <p:nvPr userDrawn="1"/>
        </p:nvSpPr>
        <p:spPr>
          <a:xfrm>
            <a:off x="168275" y="334803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已完成工作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25" name="title_5">
            <a:extLst>
              <a:ext uri="{FF2B5EF4-FFF2-40B4-BE49-F238E27FC236}">
                <a16:creationId xmlns:a16="http://schemas.microsoft.com/office/drawing/2014/main" id="{88253BB6-2E3B-4165-AF58-42FEAB1AF134}"/>
              </a:ext>
            </a:extLst>
          </p:cNvPr>
          <p:cNvSpPr/>
          <p:nvPr userDrawn="1"/>
        </p:nvSpPr>
        <p:spPr>
          <a:xfrm>
            <a:off x="168275" y="212089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研究现状</a:t>
            </a:r>
          </a:p>
        </p:txBody>
      </p:sp>
      <p:sp>
        <p:nvSpPr>
          <p:cNvPr id="26" name="title_6">
            <a:extLst>
              <a:ext uri="{FF2B5EF4-FFF2-40B4-BE49-F238E27FC236}">
                <a16:creationId xmlns:a16="http://schemas.microsoft.com/office/drawing/2014/main" id="{11D12D69-2F4A-40E2-8337-89373EB439B2}"/>
              </a:ext>
            </a:extLst>
          </p:cNvPr>
          <p:cNvSpPr/>
          <p:nvPr userDrawn="1"/>
        </p:nvSpPr>
        <p:spPr>
          <a:xfrm>
            <a:off x="168275" y="395641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预期目标</a:t>
            </a:r>
          </a:p>
        </p:txBody>
      </p:sp>
      <p:sp>
        <p:nvSpPr>
          <p:cNvPr id="27" name="title_6">
            <a:extLst>
              <a:ext uri="{FF2B5EF4-FFF2-40B4-BE49-F238E27FC236}">
                <a16:creationId xmlns:a16="http://schemas.microsoft.com/office/drawing/2014/main" id="{5271A8D3-1064-4B0C-9279-D2EC7142057C}"/>
              </a:ext>
            </a:extLst>
          </p:cNvPr>
          <p:cNvSpPr/>
          <p:nvPr userDrawn="1"/>
        </p:nvSpPr>
        <p:spPr>
          <a:xfrm>
            <a:off x="168275" y="518318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参考文献</a:t>
            </a:r>
          </a:p>
        </p:txBody>
      </p:sp>
      <p:sp>
        <p:nvSpPr>
          <p:cNvPr id="28" name="title_1_green">
            <a:extLst>
              <a:ext uri="{FF2B5EF4-FFF2-40B4-BE49-F238E27FC236}">
                <a16:creationId xmlns:a16="http://schemas.microsoft.com/office/drawing/2014/main" id="{40CB4765-B928-4DCA-8D71-5ADF362DD793}"/>
              </a:ext>
            </a:extLst>
          </p:cNvPr>
          <p:cNvSpPr/>
          <p:nvPr userDrawn="1"/>
        </p:nvSpPr>
        <p:spPr>
          <a:xfrm>
            <a:off x="168275" y="4574806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进度安排</a:t>
            </a:r>
          </a:p>
        </p:txBody>
      </p:sp>
      <p:sp>
        <p:nvSpPr>
          <p:cNvPr id="30" name="五边形 8">
            <a:extLst>
              <a:ext uri="{FF2B5EF4-FFF2-40B4-BE49-F238E27FC236}">
                <a16:creationId xmlns:a16="http://schemas.microsoft.com/office/drawing/2014/main" id="{688AFFDC-98EA-4493-973C-9A5F69937790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4132558-E7F2-4148-82B7-7EB835560189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304571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6196417-BCA7-4B6A-B473-E34FB72D43BE}"/>
              </a:ext>
            </a:extLst>
          </p:cNvPr>
          <p:cNvCxnSpPr>
            <a:cxnSpLocks/>
          </p:cNvCxnSpPr>
          <p:nvPr userDrawn="1"/>
        </p:nvCxnSpPr>
        <p:spPr>
          <a:xfrm>
            <a:off x="1925551" y="423949"/>
            <a:ext cx="33424" cy="607686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arrow_游标">
            <a:extLst>
              <a:ext uri="{FF2B5EF4-FFF2-40B4-BE49-F238E27FC236}">
                <a16:creationId xmlns:a16="http://schemas.microsoft.com/office/drawing/2014/main" id="{E56864B8-ADEA-41FC-80D1-2C40D4997B17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834895" y="5315797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9CAD5C6A-872C-462B-83E8-3BF62D71DA88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7EFBA2A-F038-4EBA-A72A-184A3E51B002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1FF8511-457F-4258-99E4-6F5B5FC1C950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DF80507-29DD-4131-908F-63E4268AD96F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10">
            <a:extLst>
              <a:ext uri="{FF2B5EF4-FFF2-40B4-BE49-F238E27FC236}">
                <a16:creationId xmlns:a16="http://schemas.microsoft.com/office/drawing/2014/main" id="{727B6868-A741-4D9E-BFC2-09C2293008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489" y="11107"/>
            <a:ext cx="891511" cy="8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itle_2">
            <a:extLst>
              <a:ext uri="{FF2B5EF4-FFF2-40B4-BE49-F238E27FC236}">
                <a16:creationId xmlns:a16="http://schemas.microsoft.com/office/drawing/2014/main" id="{B4195B67-BBFC-4092-AE2C-07FFA5F10459}"/>
              </a:ext>
            </a:extLst>
          </p:cNvPr>
          <p:cNvSpPr/>
          <p:nvPr userDrawn="1"/>
        </p:nvSpPr>
        <p:spPr>
          <a:xfrm>
            <a:off x="168275" y="1508125"/>
            <a:ext cx="1485900" cy="493712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选题背景</a:t>
            </a:r>
          </a:p>
        </p:txBody>
      </p:sp>
      <p:sp>
        <p:nvSpPr>
          <p:cNvPr id="23" name="title_3">
            <a:extLst>
              <a:ext uri="{FF2B5EF4-FFF2-40B4-BE49-F238E27FC236}">
                <a16:creationId xmlns:a16="http://schemas.microsoft.com/office/drawing/2014/main" id="{58BD4344-A7A9-42F6-A8C6-9582A5FC9179}"/>
              </a:ext>
            </a:extLst>
          </p:cNvPr>
          <p:cNvSpPr/>
          <p:nvPr userDrawn="1"/>
        </p:nvSpPr>
        <p:spPr>
          <a:xfrm>
            <a:off x="168275" y="2735262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研究内容</a:t>
            </a:r>
          </a:p>
        </p:txBody>
      </p:sp>
      <p:sp>
        <p:nvSpPr>
          <p:cNvPr id="24" name="title_4">
            <a:extLst>
              <a:ext uri="{FF2B5EF4-FFF2-40B4-BE49-F238E27FC236}">
                <a16:creationId xmlns:a16="http://schemas.microsoft.com/office/drawing/2014/main" id="{796ED851-E3E1-4A26-8CD8-02D0DAED8FF2}"/>
              </a:ext>
            </a:extLst>
          </p:cNvPr>
          <p:cNvSpPr/>
          <p:nvPr userDrawn="1"/>
        </p:nvSpPr>
        <p:spPr>
          <a:xfrm>
            <a:off x="168275" y="334803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已完成工作</a:t>
            </a:r>
            <a:endParaRPr lang="en-US" altLang="zh-CN" kern="0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25" name="title_5">
            <a:extLst>
              <a:ext uri="{FF2B5EF4-FFF2-40B4-BE49-F238E27FC236}">
                <a16:creationId xmlns:a16="http://schemas.microsoft.com/office/drawing/2014/main" id="{88253BB6-2E3B-4165-AF58-42FEAB1AF134}"/>
              </a:ext>
            </a:extLst>
          </p:cNvPr>
          <p:cNvSpPr/>
          <p:nvPr userDrawn="1"/>
        </p:nvSpPr>
        <p:spPr>
          <a:xfrm>
            <a:off x="168275" y="2120899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研究现状</a:t>
            </a:r>
          </a:p>
        </p:txBody>
      </p:sp>
      <p:sp>
        <p:nvSpPr>
          <p:cNvPr id="26" name="title_6">
            <a:extLst>
              <a:ext uri="{FF2B5EF4-FFF2-40B4-BE49-F238E27FC236}">
                <a16:creationId xmlns:a16="http://schemas.microsoft.com/office/drawing/2014/main" id="{11D12D69-2F4A-40E2-8337-89373EB439B2}"/>
              </a:ext>
            </a:extLst>
          </p:cNvPr>
          <p:cNvSpPr/>
          <p:nvPr userDrawn="1"/>
        </p:nvSpPr>
        <p:spPr>
          <a:xfrm>
            <a:off x="168275" y="395641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预期目标</a:t>
            </a:r>
          </a:p>
        </p:txBody>
      </p:sp>
      <p:sp>
        <p:nvSpPr>
          <p:cNvPr id="27" name="title_6">
            <a:extLst>
              <a:ext uri="{FF2B5EF4-FFF2-40B4-BE49-F238E27FC236}">
                <a16:creationId xmlns:a16="http://schemas.microsoft.com/office/drawing/2014/main" id="{5271A8D3-1064-4B0C-9279-D2EC7142057C}"/>
              </a:ext>
            </a:extLst>
          </p:cNvPr>
          <p:cNvSpPr/>
          <p:nvPr userDrawn="1"/>
        </p:nvSpPr>
        <p:spPr>
          <a:xfrm>
            <a:off x="168275" y="456479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ysClr val="windowText" lastClr="000000"/>
                </a:solidFill>
                <a:latin typeface="Calibri"/>
                <a:ea typeface="+mn-ea"/>
              </a:rPr>
              <a:t>进度安排</a:t>
            </a:r>
          </a:p>
        </p:txBody>
      </p:sp>
      <p:sp>
        <p:nvSpPr>
          <p:cNvPr id="28" name="title_1_green">
            <a:extLst>
              <a:ext uri="{FF2B5EF4-FFF2-40B4-BE49-F238E27FC236}">
                <a16:creationId xmlns:a16="http://schemas.microsoft.com/office/drawing/2014/main" id="{40CB4765-B928-4DCA-8D71-5ADF362DD793}"/>
              </a:ext>
            </a:extLst>
          </p:cNvPr>
          <p:cNvSpPr/>
          <p:nvPr userDrawn="1"/>
        </p:nvSpPr>
        <p:spPr>
          <a:xfrm>
            <a:off x="168275" y="5173177"/>
            <a:ext cx="1485900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kern="0">
                <a:solidFill>
                  <a:schemeClr val="bg1"/>
                </a:solidFill>
                <a:latin typeface="Calibri"/>
                <a:ea typeface="+mn-ea"/>
              </a:rPr>
              <a:t>参考文献</a:t>
            </a:r>
          </a:p>
        </p:txBody>
      </p:sp>
      <p:sp>
        <p:nvSpPr>
          <p:cNvPr id="30" name="五边形 8">
            <a:extLst>
              <a:ext uri="{FF2B5EF4-FFF2-40B4-BE49-F238E27FC236}">
                <a16:creationId xmlns:a16="http://schemas.microsoft.com/office/drawing/2014/main" id="{E375F342-5C0F-4ED7-9D03-BF347DFB8074}"/>
              </a:ext>
            </a:extLst>
          </p:cNvPr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4E1970-92B9-426C-8174-524680E0615B}"/>
              </a:ext>
            </a:extLst>
          </p:cNvPr>
          <p:cNvSpPr/>
          <p:nvPr userDrawn="1"/>
        </p:nvSpPr>
        <p:spPr>
          <a:xfrm flipV="1">
            <a:off x="1958975" y="1047749"/>
            <a:ext cx="1006475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273768177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102731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客观存在</a:t>
            </a: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6606" y="1928264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与人共存</a:t>
            </a: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2829218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病毒消失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哲学意义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CCC42A-E4C9-4590-BC29-DBE4867566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2" y="5527955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8466" y="1169930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5059507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与人共存</a:t>
            </a:r>
            <a:endParaRPr lang="en-US" altLang="zh-CN" sz="1600" b="1" kern="0" spc="12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客观存在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2829218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病毒消失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哲学意义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CCC42A-E4C9-4590-BC29-DBE4867566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2" y="5527955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69098" y="2072259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2376234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67290" y="2829218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病毒消失</a:t>
            </a:r>
            <a:endParaRPr lang="en-US" altLang="zh-CN" sz="1600" b="1" kern="0" spc="12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客观存在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与人共存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7466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哲学意义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CCC42A-E4C9-4590-BC29-DBE4867566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2" y="5527955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8652" y="2971838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1803438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80924" y="3728797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哲学意义</a:t>
            </a:r>
            <a:endParaRPr lang="en-US" altLang="zh-CN" sz="1600" b="1" kern="0" spc="12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客观存在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与人共存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81027" y="282502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病毒消失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4628376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CCC42A-E4C9-4590-BC29-DBE4867566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2" y="5527955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8652" y="3871417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922036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整体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82C2F31-E965-4350-AB4C-763E779DFFEA}"/>
              </a:ext>
            </a:extLst>
          </p:cNvPr>
          <p:cNvSpPr/>
          <p:nvPr userDrawn="1"/>
        </p:nvSpPr>
        <p:spPr>
          <a:xfrm flipV="1">
            <a:off x="1572540" y="720294"/>
            <a:ext cx="1023216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33" name="title_1_green">
            <a:extLst>
              <a:ext uri="{FF2B5EF4-FFF2-40B4-BE49-F238E27FC236}">
                <a16:creationId xmlns:a16="http://schemas.microsoft.com/office/drawing/2014/main" id="{77B26BF0-26E6-4F60-A925-2B35FD3D984A}"/>
              </a:ext>
            </a:extLst>
          </p:cNvPr>
          <p:cNvSpPr/>
          <p:nvPr userDrawn="1"/>
        </p:nvSpPr>
        <p:spPr>
          <a:xfrm>
            <a:off x="174664" y="461580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  <a:gs pos="7000">
                <a:schemeClr val="accent1"/>
              </a:gs>
              <a:gs pos="90000">
                <a:schemeClr val="accent1"/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1600" b="1" kern="0" spc="12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itle_3">
            <a:extLst>
              <a:ext uri="{FF2B5EF4-FFF2-40B4-BE49-F238E27FC236}">
                <a16:creationId xmlns:a16="http://schemas.microsoft.com/office/drawing/2014/main" id="{5E55DA65-B873-475F-868B-79475144CBDE}"/>
              </a:ext>
            </a:extLst>
          </p:cNvPr>
          <p:cNvSpPr/>
          <p:nvPr userDrawn="1"/>
        </p:nvSpPr>
        <p:spPr>
          <a:xfrm>
            <a:off x="174664" y="1030060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客观存在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itle_4">
            <a:extLst>
              <a:ext uri="{FF2B5EF4-FFF2-40B4-BE49-F238E27FC236}">
                <a16:creationId xmlns:a16="http://schemas.microsoft.com/office/drawing/2014/main" id="{4E61924D-0897-4E85-A0B9-AB13E9129712}"/>
              </a:ext>
            </a:extLst>
          </p:cNvPr>
          <p:cNvSpPr/>
          <p:nvPr userDrawn="1"/>
        </p:nvSpPr>
        <p:spPr>
          <a:xfrm>
            <a:off x="174664" y="192963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与人共存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7F8A917-A8B7-4216-8E2D-8FC9472633AC}"/>
              </a:ext>
            </a:extLst>
          </p:cNvPr>
          <p:cNvCxnSpPr>
            <a:cxnSpLocks/>
          </p:cNvCxnSpPr>
          <p:nvPr userDrawn="1"/>
        </p:nvCxnSpPr>
        <p:spPr>
          <a:xfrm>
            <a:off x="1572540" y="65049"/>
            <a:ext cx="9554" cy="63890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10">
            <a:extLst>
              <a:ext uri="{FF2B5EF4-FFF2-40B4-BE49-F238E27FC236}">
                <a16:creationId xmlns:a16="http://schemas.microsoft.com/office/drawing/2014/main" id="{8DC4F4A9-276E-4C16-9617-3664CBFF44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73" y="65049"/>
            <a:ext cx="789727" cy="7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五边形 8">
            <a:extLst>
              <a:ext uri="{FF2B5EF4-FFF2-40B4-BE49-F238E27FC236}">
                <a16:creationId xmlns:a16="http://schemas.microsoft.com/office/drawing/2014/main" id="{06880DEB-C5B0-48B1-9160-9232A2381955}"/>
              </a:ext>
            </a:extLst>
          </p:cNvPr>
          <p:cNvSpPr/>
          <p:nvPr userDrawn="1"/>
        </p:nvSpPr>
        <p:spPr>
          <a:xfrm flipH="1">
            <a:off x="11655749" y="6357844"/>
            <a:ext cx="552786" cy="34569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fld id="{170C0C04-E408-48A9-82A4-3716296300DE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5" name="title_4">
            <a:extLst>
              <a:ext uri="{FF2B5EF4-FFF2-40B4-BE49-F238E27FC236}">
                <a16:creationId xmlns:a16="http://schemas.microsoft.com/office/drawing/2014/main" id="{AE5EAC3B-AC9D-42D4-9A13-A3620F1C0191}"/>
              </a:ext>
            </a:extLst>
          </p:cNvPr>
          <p:cNvSpPr/>
          <p:nvPr userDrawn="1"/>
        </p:nvSpPr>
        <p:spPr>
          <a:xfrm>
            <a:off x="181027" y="282502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病毒消失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itle_4">
            <a:extLst>
              <a:ext uri="{FF2B5EF4-FFF2-40B4-BE49-F238E27FC236}">
                <a16:creationId xmlns:a16="http://schemas.microsoft.com/office/drawing/2014/main" id="{75654813-D8CC-440F-807D-BBC1959BFF79}"/>
              </a:ext>
            </a:extLst>
          </p:cNvPr>
          <p:cNvSpPr/>
          <p:nvPr userDrawn="1"/>
        </p:nvSpPr>
        <p:spPr>
          <a:xfrm>
            <a:off x="174664" y="3720419"/>
            <a:ext cx="1257918" cy="492125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  <a:gs pos="7000">
                <a:schemeClr val="bg1">
                  <a:lumMod val="95000"/>
                </a:schemeClr>
              </a:gs>
              <a:gs pos="90000">
                <a:schemeClr val="bg1">
                  <a:lumMod val="95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</a:ln>
          <a:effectLst>
            <a:outerShdw blurRad="2540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spc="120" baseline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哲学意义</a:t>
            </a:r>
            <a:endParaRPr lang="en-US" altLang="zh-CN" sz="1600" b="1" kern="0" spc="120" baseline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CCC42A-E4C9-4590-BC29-DBE4867566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2" y="5527955"/>
            <a:ext cx="1315995" cy="369452"/>
          </a:xfrm>
          <a:prstGeom prst="rect">
            <a:avLst/>
          </a:prstGeom>
        </p:spPr>
      </p:pic>
      <p:grpSp>
        <p:nvGrpSpPr>
          <p:cNvPr id="40" name="arrow_游标">
            <a:extLst>
              <a:ext uri="{FF2B5EF4-FFF2-40B4-BE49-F238E27FC236}">
                <a16:creationId xmlns:a16="http://schemas.microsoft.com/office/drawing/2014/main" id="{719AA324-DCEC-4D36-B3D3-183D504B90D0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478652" y="4758429"/>
            <a:ext cx="206884" cy="206884"/>
            <a:chOff x="510977" y="1676698"/>
            <a:chExt cx="174686" cy="174686"/>
          </a:xfrm>
          <a:solidFill>
            <a:schemeClr val="bg1"/>
          </a:solidFill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E4A5468-03C2-4557-A250-A70C6EFBAC0A}"/>
                </a:ext>
              </a:extLst>
            </p:cNvPr>
            <p:cNvSpPr/>
            <p:nvPr/>
          </p:nvSpPr>
          <p:spPr>
            <a:xfrm>
              <a:off x="510977" y="1676698"/>
              <a:ext cx="174686" cy="17468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815810-D81C-44D3-8540-1672C1DBF167}"/>
                </a:ext>
              </a:extLst>
            </p:cNvPr>
            <p:cNvCxnSpPr/>
            <p:nvPr/>
          </p:nvCxnSpPr>
          <p:spPr>
            <a:xfrm>
              <a:off x="541962" y="1766660"/>
              <a:ext cx="945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16DF73-13C1-4C31-823B-18ACCAC3CBC5}"/>
                </a:ext>
              </a:extLst>
            </p:cNvPr>
            <p:cNvCxnSpPr/>
            <p:nvPr/>
          </p:nvCxnSpPr>
          <p:spPr>
            <a:xfrm rot="2700000">
              <a:off x="579030" y="1740848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380634E-4A77-4574-8831-00DBB25D2D7B}"/>
                </a:ext>
              </a:extLst>
            </p:cNvPr>
            <p:cNvCxnSpPr/>
            <p:nvPr/>
          </p:nvCxnSpPr>
          <p:spPr>
            <a:xfrm rot="8100000">
              <a:off x="582566" y="1790770"/>
              <a:ext cx="75600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10592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3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95" r:id="rId2"/>
    <p:sldLayoutId id="2147483703" r:id="rId3"/>
    <p:sldLayoutId id="2147483704" r:id="rId4"/>
    <p:sldLayoutId id="2147483705" r:id="rId5"/>
    <p:sldLayoutId id="2147483706" r:id="rId6"/>
    <p:sldLayoutId id="2147483702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674" r:id="rId14"/>
    <p:sldLayoutId id="2147483686" r:id="rId15"/>
    <p:sldLayoutId id="2147483687" r:id="rId16"/>
    <p:sldLayoutId id="2147483688" r:id="rId17"/>
    <p:sldLayoutId id="2147483692" r:id="rId18"/>
    <p:sldLayoutId id="2147483693" r:id="rId19"/>
    <p:sldLayoutId id="2147483694" r:id="rId20"/>
    <p:sldLayoutId id="2147483689" r:id="rId21"/>
    <p:sldLayoutId id="2147483690" r:id="rId22"/>
    <p:sldLayoutId id="2147483691" r:id="rId23"/>
    <p:sldLayoutId id="2147483685" r:id="rId24"/>
    <p:sldLayoutId id="2147483681" r:id="rId25"/>
    <p:sldLayoutId id="2147483684" r:id="rId26"/>
    <p:sldLayoutId id="2147483683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707" r:id="rId34"/>
    <p:sldLayoutId id="2147483708" r:id="rId35"/>
    <p:sldLayoutId id="2147483709" r:id="rId36"/>
    <p:sldLayoutId id="2147483710" r:id="rId37"/>
    <p:sldLayoutId id="2147483711" r:id="rId3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99EAAB-44F9-4F97-9F56-800302F6BA17}"/>
              </a:ext>
            </a:extLst>
          </p:cNvPr>
          <p:cNvSpPr/>
          <p:nvPr/>
        </p:nvSpPr>
        <p:spPr>
          <a:xfrm>
            <a:off x="0" y="3699283"/>
            <a:ext cx="12192000" cy="31587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F071F8-A151-48AC-B63A-AA2A8CAA84E8}"/>
              </a:ext>
            </a:extLst>
          </p:cNvPr>
          <p:cNvSpPr/>
          <p:nvPr/>
        </p:nvSpPr>
        <p:spPr>
          <a:xfrm>
            <a:off x="1515979" y="814719"/>
            <a:ext cx="9375808" cy="222963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algn="ctr">
              <a:defRPr/>
            </a:pPr>
            <a:r>
              <a:rPr lang="en-US" altLang="zh-CN" sz="4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CSAL: the Next-Gen Local Disks for the Cloud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 </a:t>
            </a:r>
            <a:endParaRPr lang="en-US" altLang="zh-CN" sz="4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  <a:p>
            <a:pPr algn="ctr"/>
            <a:r>
              <a:rPr lang="en-US" altLang="zh-CN" dirty="0" err="1"/>
              <a:t>Yanbo</a:t>
            </a:r>
            <a:r>
              <a:rPr lang="en-US" altLang="zh-CN" dirty="0"/>
              <a:t> Zhou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Erci</a:t>
            </a:r>
            <a:r>
              <a:rPr lang="en-US" altLang="zh-CN" dirty="0"/>
              <a:t> Xu</a:t>
            </a:r>
            <a:r>
              <a:rPr lang="en-US" altLang="zh-CN" baseline="30000" dirty="0"/>
              <a:t>∗1</a:t>
            </a:r>
            <a:r>
              <a:rPr lang="en-US" altLang="zh-CN" dirty="0"/>
              <a:t>, Li Zhang</a:t>
            </a:r>
            <a:r>
              <a:rPr lang="en-US" altLang="zh-CN" baseline="30000" dirty="0"/>
              <a:t>1</a:t>
            </a:r>
            <a:r>
              <a:rPr lang="en-US" altLang="zh-CN" dirty="0"/>
              <a:t>, Kapil Karkra</a:t>
            </a:r>
            <a:r>
              <a:rPr lang="en-US" altLang="zh-CN" baseline="30000" dirty="0"/>
              <a:t>2</a:t>
            </a:r>
            <a:r>
              <a:rPr lang="en-US" altLang="zh-CN" dirty="0"/>
              <a:t>, Mariusz Barczak</a:t>
            </a:r>
            <a:r>
              <a:rPr lang="en-US" altLang="zh-CN" baseline="30000" dirty="0"/>
              <a:t>2</a:t>
            </a:r>
            <a:r>
              <a:rPr lang="en-US" altLang="zh-CN" dirty="0"/>
              <a:t>, Wayne Gao</a:t>
            </a:r>
            <a:r>
              <a:rPr lang="en-US" altLang="zh-CN" baseline="30000" dirty="0"/>
              <a:t>2</a:t>
            </a:r>
            <a:r>
              <a:rPr lang="en-US" altLang="zh-CN" dirty="0"/>
              <a:t>, </a:t>
            </a:r>
          </a:p>
          <a:p>
            <a:pPr algn="ctr"/>
            <a:r>
              <a:rPr lang="en-US" altLang="zh-CN" dirty="0"/>
              <a:t>Wojciech Malikowski</a:t>
            </a:r>
            <a:r>
              <a:rPr lang="en-US" altLang="zh-CN" baseline="30000" dirty="0"/>
              <a:t>2</a:t>
            </a:r>
            <a:r>
              <a:rPr lang="en-US" altLang="zh-CN" dirty="0"/>
              <a:t>, Mateusz Kozlowski</a:t>
            </a:r>
            <a:r>
              <a:rPr lang="en-US" altLang="zh-CN" baseline="30000" dirty="0"/>
              <a:t>2</a:t>
            </a:r>
            <a:r>
              <a:rPr lang="en-US" altLang="zh-CN" dirty="0"/>
              <a:t>, </a:t>
            </a:r>
            <a:r>
              <a:rPr lang="en-US" altLang="zh-CN" dirty="0" err="1"/>
              <a:t>Łukasz</a:t>
            </a:r>
            <a:r>
              <a:rPr lang="en-US" altLang="zh-CN" dirty="0"/>
              <a:t> Łasek</a:t>
            </a:r>
            <a:r>
              <a:rPr lang="en-US" altLang="zh-CN" baseline="30000" dirty="0"/>
              <a:t>2</a:t>
            </a:r>
            <a:r>
              <a:rPr lang="en-US" altLang="zh-CN" dirty="0"/>
              <a:t>, </a:t>
            </a:r>
            <a:r>
              <a:rPr lang="en-US" altLang="zh-CN" dirty="0" err="1"/>
              <a:t>Ruiming</a:t>
            </a:r>
            <a:r>
              <a:rPr lang="en-US" altLang="zh-CN" dirty="0"/>
              <a:t> Lu</a:t>
            </a:r>
            <a:r>
              <a:rPr lang="en-US" altLang="zh-CN" baseline="30000" dirty="0"/>
              <a:t>1</a:t>
            </a:r>
            <a:r>
              <a:rPr lang="en-US" altLang="zh-CN" dirty="0"/>
              <a:t>, Feng Yang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</a:p>
          <a:p>
            <a:pPr algn="ctr"/>
            <a:r>
              <a:rPr lang="en-US" altLang="zh-CN" dirty="0" err="1"/>
              <a:t>Lilong</a:t>
            </a:r>
            <a:r>
              <a:rPr lang="en-US" altLang="zh-CN" dirty="0"/>
              <a:t> Huang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Xiaolu</a:t>
            </a:r>
            <a:r>
              <a:rPr lang="en-US" altLang="zh-CN" dirty="0"/>
              <a:t> Zhang</a:t>
            </a:r>
            <a:r>
              <a:rPr lang="en-US" altLang="zh-CN" baseline="30000" dirty="0"/>
              <a:t>1</a:t>
            </a:r>
            <a:r>
              <a:rPr lang="en-US" altLang="zh-CN" dirty="0"/>
              <a:t>, Keqiang Niu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Jiaji</a:t>
            </a:r>
            <a:r>
              <a:rPr lang="en-US" altLang="zh-CN" dirty="0"/>
              <a:t> Zhu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Jiesheng</a:t>
            </a:r>
            <a:r>
              <a:rPr lang="en-US" altLang="zh-CN" dirty="0"/>
              <a:t> Wu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</a:p>
          <a:p>
            <a:pPr algn="ctr"/>
            <a:endParaRPr lang="en-US" altLang="zh-CN" baseline="30000" dirty="0"/>
          </a:p>
          <a:p>
            <a:pPr algn="ctr"/>
            <a:r>
              <a:rPr lang="en-US" altLang="zh-CN" baseline="30000" dirty="0"/>
              <a:t>1</a:t>
            </a:r>
            <a:r>
              <a:rPr lang="en-US" altLang="zh-CN" dirty="0"/>
              <a:t>Alibaba Group; </a:t>
            </a:r>
            <a:r>
              <a:rPr lang="en-US" altLang="zh-CN" baseline="30000" dirty="0"/>
              <a:t>2</a:t>
            </a:r>
            <a:r>
              <a:rPr lang="en-US" altLang="zh-CN" dirty="0"/>
              <a:t>Solidigm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2C70A9-9F89-4214-A032-30D737E21BAC}"/>
              </a:ext>
            </a:extLst>
          </p:cNvPr>
          <p:cNvSpPr txBox="1"/>
          <p:nvPr/>
        </p:nvSpPr>
        <p:spPr>
          <a:xfrm>
            <a:off x="-298383" y="114115"/>
            <a:ext cx="3628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i="0" dirty="0">
                <a:solidFill>
                  <a:srgbClr val="264B8C"/>
                </a:solidFill>
                <a:effectLst/>
                <a:latin typeface="OpenSans"/>
              </a:rPr>
              <a:t>EuroSys’24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D026F4-245F-4996-9CEC-47656E25448D}"/>
              </a:ext>
            </a:extLst>
          </p:cNvPr>
          <p:cNvSpPr/>
          <p:nvPr/>
        </p:nvSpPr>
        <p:spPr>
          <a:xfrm>
            <a:off x="4343968" y="4701566"/>
            <a:ext cx="4118627" cy="1177659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论文汇报：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杨</a:t>
            </a:r>
            <a:r>
              <a:rPr lang="zh-CN" alt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大荣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指导老师：夏文教授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36BBE0-A216-4202-A937-3ABADF73662C}"/>
              </a:ext>
            </a:extLst>
          </p:cNvPr>
          <p:cNvSpPr/>
          <p:nvPr/>
        </p:nvSpPr>
        <p:spPr>
          <a:xfrm>
            <a:off x="876702" y="3044356"/>
            <a:ext cx="9942094" cy="65492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algn="ctr">
              <a:defRPr/>
            </a:pPr>
            <a:r>
              <a:rPr lang="en-US" altLang="zh-CN" sz="28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Keywords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NAND Flash, Caching, Cloud Storage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57ACD3-472D-4DD0-9C60-4BE85096A6EC}"/>
              </a:ext>
            </a:extLst>
          </p:cNvPr>
          <p:cNvSpPr txBox="1"/>
          <p:nvPr/>
        </p:nvSpPr>
        <p:spPr>
          <a:xfrm>
            <a:off x="3472855" y="3920994"/>
            <a:ext cx="5121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CSAL</a:t>
            </a:r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：下一代云本地盘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5D4930-4A14-400C-9261-BEDBEF69E320}"/>
              </a:ext>
            </a:extLst>
          </p:cNvPr>
          <p:cNvSpPr txBox="1"/>
          <p:nvPr/>
        </p:nvSpPr>
        <p:spPr>
          <a:xfrm>
            <a:off x="3041236" y="6286098"/>
            <a:ext cx="5755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方班研讨厅 研究创新与思辨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Ⅰ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论文汇报</a:t>
            </a:r>
          </a:p>
        </p:txBody>
      </p:sp>
    </p:spTree>
    <p:extLst>
      <p:ext uri="{BB962C8B-B14F-4D97-AF65-F5344CB8AC3E}">
        <p14:creationId xmlns:p14="http://schemas.microsoft.com/office/powerpoint/2010/main" val="3288424557"/>
      </p:ext>
    </p:extLst>
  </p:cSld>
  <p:clrMapOvr>
    <a:masterClrMapping/>
  </p:clrMapOvr>
  <p:transition spd="slow" advClick="0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2E2C70A9-9F89-4214-A032-30D737E21BAC}"/>
              </a:ext>
            </a:extLst>
          </p:cNvPr>
          <p:cNvSpPr txBox="1"/>
          <p:nvPr/>
        </p:nvSpPr>
        <p:spPr>
          <a:xfrm>
            <a:off x="-298383" y="114115"/>
            <a:ext cx="3628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i="0" dirty="0">
                <a:solidFill>
                  <a:srgbClr val="264B8C"/>
                </a:solidFill>
                <a:effectLst/>
                <a:latin typeface="OpenSans"/>
              </a:rPr>
              <a:t>EuroSys’24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D026F4-245F-4996-9CEC-47656E25448D}"/>
              </a:ext>
            </a:extLst>
          </p:cNvPr>
          <p:cNvSpPr/>
          <p:nvPr/>
        </p:nvSpPr>
        <p:spPr>
          <a:xfrm>
            <a:off x="4343968" y="4751261"/>
            <a:ext cx="4118627" cy="1177659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论文汇报：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杨</a:t>
            </a:r>
            <a:r>
              <a:rPr lang="zh-CN" alt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大荣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指导老师：夏文教授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57ACD3-472D-4DD0-9C60-4BE85096A6EC}"/>
              </a:ext>
            </a:extLst>
          </p:cNvPr>
          <p:cNvSpPr txBox="1"/>
          <p:nvPr/>
        </p:nvSpPr>
        <p:spPr>
          <a:xfrm>
            <a:off x="3472855" y="3990567"/>
            <a:ext cx="5121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CSAL</a:t>
            </a:r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：下一代云本地盘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BE2EF1-B56B-49C5-A947-2B9FE32534E0}"/>
              </a:ext>
            </a:extLst>
          </p:cNvPr>
          <p:cNvSpPr/>
          <p:nvPr/>
        </p:nvSpPr>
        <p:spPr>
          <a:xfrm>
            <a:off x="1366820" y="1251374"/>
            <a:ext cx="792719" cy="64633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algn="ctr">
              <a:defRPr/>
            </a:pPr>
            <a:r>
              <a:rPr lang="zh-CN" altLang="en-US" sz="4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目录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88B1FA-DC80-4E6E-96FC-98876728FF86}"/>
              </a:ext>
            </a:extLst>
          </p:cNvPr>
          <p:cNvSpPr txBox="1"/>
          <p:nvPr/>
        </p:nvSpPr>
        <p:spPr>
          <a:xfrm>
            <a:off x="1236605" y="2164105"/>
            <a:ext cx="9057371" cy="3652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背景介绍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(Introduction)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研究动机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(Motivation)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设计实现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(Design)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测试评估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(Evaluation)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论文总结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Conlcusion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91749631"/>
      </p:ext>
    </p:extLst>
  </p:cSld>
  <p:clrMapOvr>
    <a:masterClrMapping/>
  </p:clrMapOvr>
  <p:transition spd="slow" advClick="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0FD81F7F-6C97-C0C1-A2E3-3B463A325872}"/>
              </a:ext>
            </a:extLst>
          </p:cNvPr>
          <p:cNvSpPr/>
          <p:nvPr/>
        </p:nvSpPr>
        <p:spPr>
          <a:xfrm>
            <a:off x="1693532" y="148262"/>
            <a:ext cx="55586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1.1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论文概述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2E4A26-AA76-E7E6-EFE4-3F05187D8E79}"/>
              </a:ext>
            </a:extLst>
          </p:cNvPr>
          <p:cNvSpPr txBox="1"/>
          <p:nvPr/>
        </p:nvSpPr>
        <p:spPr>
          <a:xfrm>
            <a:off x="1992431" y="951824"/>
            <a:ext cx="8980369" cy="126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单节点云服务器通过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虚拟化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为多台虚拟机（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）的方式为多个客户提供</a:t>
            </a:r>
            <a:r>
              <a:rPr lang="en-US" altLang="zh-CN" sz="2400" b="1" dirty="0">
                <a:solidFill>
                  <a:srgbClr val="264B8C"/>
                </a:solidFill>
                <a:latin typeface="+mj-lt"/>
                <a:ea typeface="宋体" panose="02010600030101010101" pitchFamily="2" charset="-122"/>
              </a:rPr>
              <a:t>ECS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弹性云服务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009682-A47E-42E2-BE16-9D2AAFA12FBD}"/>
              </a:ext>
            </a:extLst>
          </p:cNvPr>
          <p:cNvSpPr txBox="1"/>
          <p:nvPr/>
        </p:nvSpPr>
        <p:spPr>
          <a:xfrm>
            <a:off x="1992431" y="2347872"/>
            <a:ext cx="9066998" cy="231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有限的物理资源（存储、计算）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限制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单节点能够部署的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计算资源快速发展，带来部署密度提升的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机遇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存储资源面临困境，成为提升部署密度的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瓶颈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D07999-1384-4A06-BBA3-800BDBA1D384}"/>
              </a:ext>
            </a:extLst>
          </p:cNvPr>
          <p:cNvSpPr txBox="1"/>
          <p:nvPr/>
        </p:nvSpPr>
        <p:spPr>
          <a:xfrm>
            <a:off x="1992431" y="4896098"/>
            <a:ext cx="9066998" cy="1206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结合新兴的</a:t>
            </a:r>
            <a:r>
              <a:rPr lang="en-US" altLang="zh-CN" sz="2400" dirty="0">
                <a:latin typeface="+mj-lt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设计同时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满足容量和性能要求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的存储系统，突破存储瓶颈，提升云服务器的部署密度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3A0AC073-314B-46EE-9805-A2FFE21CB198}"/>
              </a:ext>
            </a:extLst>
          </p:cNvPr>
          <p:cNvSpPr/>
          <p:nvPr/>
        </p:nvSpPr>
        <p:spPr>
          <a:xfrm>
            <a:off x="8796338" y="4300602"/>
            <a:ext cx="442762" cy="240632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16FF95-23D0-4B61-9412-2099C52DFFF8}"/>
              </a:ext>
            </a:extLst>
          </p:cNvPr>
          <p:cNvSpPr txBox="1"/>
          <p:nvPr/>
        </p:nvSpPr>
        <p:spPr>
          <a:xfrm>
            <a:off x="9351883" y="3653476"/>
            <a:ext cx="1922543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容量和性能无法兼得！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9567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0FD81F7F-6C97-C0C1-A2E3-3B463A325872}"/>
              </a:ext>
            </a:extLst>
          </p:cNvPr>
          <p:cNvSpPr/>
          <p:nvPr/>
        </p:nvSpPr>
        <p:spPr>
          <a:xfrm>
            <a:off x="1693532" y="148262"/>
            <a:ext cx="55586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云本地盘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C9CC12-988D-4E37-AFA2-320E70EEB081}"/>
              </a:ext>
            </a:extLst>
          </p:cNvPr>
          <p:cNvSpPr txBox="1"/>
          <p:nvPr/>
        </p:nvSpPr>
        <p:spPr>
          <a:xfrm>
            <a:off x="1973180" y="3516941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云本地盘概念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06A516-4E11-460A-9671-A4BCCBD23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463" y="4241698"/>
            <a:ext cx="3945448" cy="165454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0472ED-D337-4EF9-8AC8-FC0F6B3502D8}"/>
              </a:ext>
            </a:extLst>
          </p:cNvPr>
          <p:cNvSpPr txBox="1"/>
          <p:nvPr/>
        </p:nvSpPr>
        <p:spPr>
          <a:xfrm>
            <a:off x="2059807" y="4171828"/>
            <a:ext cx="9057371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挂载为块设备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SPDK/AIO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NVMe SSDs/HDD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LVM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将其虚拟化为多个逻辑设备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每个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使用若干逻辑设备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65D70A-05BB-4A5E-A4FE-B7455572B279}"/>
              </a:ext>
            </a:extLst>
          </p:cNvPr>
          <p:cNvSpPr txBox="1"/>
          <p:nvPr/>
        </p:nvSpPr>
        <p:spPr>
          <a:xfrm>
            <a:off x="1973180" y="856542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云服务介绍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EAEC92-EC55-49AB-AE8C-986607BCF80A}"/>
              </a:ext>
            </a:extLst>
          </p:cNvPr>
          <p:cNvSpPr txBox="1"/>
          <p:nvPr/>
        </p:nvSpPr>
        <p:spPr>
          <a:xfrm>
            <a:off x="2059808" y="1453903"/>
            <a:ext cx="9057371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虚拟化服务与物理资源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服务水平目标</a:t>
            </a:r>
            <a:r>
              <a:rPr lang="zh-CN" altLang="en-US" sz="2400" dirty="0">
                <a:latin typeface="+mj-lt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+mj-lt"/>
                <a:ea typeface="宋体" panose="02010600030101010101" pitchFamily="2" charset="-122"/>
              </a:rPr>
              <a:t>SLO</a:t>
            </a:r>
            <a:r>
              <a:rPr lang="zh-CN" altLang="en-US" sz="2400" dirty="0">
                <a:latin typeface="+mj-lt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+mj-lt"/>
                <a:ea typeface="宋体" panose="02010600030101010101" pitchFamily="2" charset="-122"/>
              </a:rPr>
              <a:t>Service Level Object</a:t>
            </a:r>
            <a:r>
              <a:rPr lang="zh-CN" altLang="en-US" sz="2400" dirty="0">
                <a:latin typeface="+mj-lt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+mj-lt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机架单元与云服务器大小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云服务存储：远程云盘、云本地盘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片 14" descr="图片包含 文本&#10;&#10;描述已自动生成">
            <a:extLst>
              <a:ext uri="{FF2B5EF4-FFF2-40B4-BE49-F238E27FC236}">
                <a16:creationId xmlns:a16="http://schemas.microsoft.com/office/drawing/2014/main" id="{FA5B7DB8-680C-4965-97A5-8AAB3467B2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587" y="1078641"/>
            <a:ext cx="2444533" cy="247669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2D94C516-3B06-4126-A477-2034F6F54EB0}"/>
              </a:ext>
            </a:extLst>
          </p:cNvPr>
          <p:cNvSpPr/>
          <p:nvPr/>
        </p:nvSpPr>
        <p:spPr>
          <a:xfrm>
            <a:off x="9201588" y="2287785"/>
            <a:ext cx="2444533" cy="503541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6C4E73-1F30-4805-86B7-DF2CDCE47F8F}"/>
              </a:ext>
            </a:extLst>
          </p:cNvPr>
          <p:cNvSpPr txBox="1"/>
          <p:nvPr/>
        </p:nvSpPr>
        <p:spPr>
          <a:xfrm>
            <a:off x="9082569" y="5703461"/>
            <a:ext cx="142528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固态硬盘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442188-BBFB-4410-AD96-15F993FCA1F1}"/>
              </a:ext>
            </a:extLst>
          </p:cNvPr>
          <p:cNvSpPr txBox="1"/>
          <p:nvPr/>
        </p:nvSpPr>
        <p:spPr>
          <a:xfrm>
            <a:off x="10639896" y="5679296"/>
            <a:ext cx="142528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机械硬盘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382E2C-6E59-455F-994B-2B3EC0DA2604}"/>
              </a:ext>
            </a:extLst>
          </p:cNvPr>
          <p:cNvSpPr txBox="1"/>
          <p:nvPr/>
        </p:nvSpPr>
        <p:spPr>
          <a:xfrm>
            <a:off x="2878575" y="6266860"/>
            <a:ext cx="3771859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LVM,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ogical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olume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anager</a:t>
            </a:r>
          </a:p>
        </p:txBody>
      </p:sp>
    </p:spTree>
    <p:extLst>
      <p:ext uri="{BB962C8B-B14F-4D97-AF65-F5344CB8AC3E}">
        <p14:creationId xmlns:p14="http://schemas.microsoft.com/office/powerpoint/2010/main" val="12060835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0FD81F7F-6C97-C0C1-A2E3-3B463A325872}"/>
              </a:ext>
            </a:extLst>
          </p:cNvPr>
          <p:cNvSpPr/>
          <p:nvPr/>
        </p:nvSpPr>
        <p:spPr>
          <a:xfrm>
            <a:off x="1693532" y="148262"/>
            <a:ext cx="55586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云本地盘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C9CC12-988D-4E37-AFA2-320E70EEB081}"/>
              </a:ext>
            </a:extLst>
          </p:cNvPr>
          <p:cNvSpPr txBox="1"/>
          <p:nvPr/>
        </p:nvSpPr>
        <p:spPr>
          <a:xfrm>
            <a:off x="1982806" y="937600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资源划分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57E167-E606-4C39-9AB0-805074932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806" y="1816875"/>
            <a:ext cx="9733168" cy="32242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91362C6-1C37-4742-9BF6-20F52E057A63}"/>
              </a:ext>
            </a:extLst>
          </p:cNvPr>
          <p:cNvSpPr txBox="1"/>
          <p:nvPr/>
        </p:nvSpPr>
        <p:spPr>
          <a:xfrm>
            <a:off x="2118579" y="5014082"/>
            <a:ext cx="9057371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通常以物理资源的一定比例（如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1/8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）为粒度做选项配置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物理资源的固定配置能够让部署密度最大化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3EF52E-1BAB-4D9D-8930-C3F4B287957B}"/>
              </a:ext>
            </a:extLst>
          </p:cNvPr>
          <p:cNvSpPr/>
          <p:nvPr/>
        </p:nvSpPr>
        <p:spPr>
          <a:xfrm>
            <a:off x="2043032" y="2887579"/>
            <a:ext cx="9672942" cy="541421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9AD27E-A165-4D5A-9930-274F75D60610}"/>
              </a:ext>
            </a:extLst>
          </p:cNvPr>
          <p:cNvSpPr txBox="1"/>
          <p:nvPr/>
        </p:nvSpPr>
        <p:spPr>
          <a:xfrm>
            <a:off x="8854759" y="1581806"/>
            <a:ext cx="2992100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Amazon EC2 D3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473804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262C7CE6-DBB1-4A08-992B-7DAE33EAAC27}"/>
              </a:ext>
            </a:extLst>
          </p:cNvPr>
          <p:cNvSpPr txBox="1"/>
          <p:nvPr/>
        </p:nvSpPr>
        <p:spPr>
          <a:xfrm>
            <a:off x="8978253" y="1971439"/>
            <a:ext cx="2756361" cy="1174016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提升部署密度的关键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如何在满足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条件下实现</a:t>
            </a:r>
            <a:r>
              <a:rPr lang="zh-CN" altLang="en-US" b="1" dirty="0">
                <a:solidFill>
                  <a:srgbClr val="264B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存储资源的复用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dirty="0"/>
          </a:p>
        </p:txBody>
      </p:sp>
      <p:sp>
        <p:nvSpPr>
          <p:cNvPr id="2" name="关于我们">
            <a:extLst>
              <a:ext uri="{FF2B5EF4-FFF2-40B4-BE49-F238E27FC236}">
                <a16:creationId xmlns:a16="http://schemas.microsoft.com/office/drawing/2014/main" id="{0FD81F7F-6C97-C0C1-A2E3-3B463A325872}"/>
              </a:ext>
            </a:extLst>
          </p:cNvPr>
          <p:cNvSpPr/>
          <p:nvPr/>
        </p:nvSpPr>
        <p:spPr>
          <a:xfrm>
            <a:off x="1693532" y="148262"/>
            <a:ext cx="55586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云本地盘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C9CC12-988D-4E37-AFA2-320E70EEB081}"/>
              </a:ext>
            </a:extLst>
          </p:cNvPr>
          <p:cNvSpPr txBox="1"/>
          <p:nvPr/>
        </p:nvSpPr>
        <p:spPr>
          <a:xfrm>
            <a:off x="1982806" y="971220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发展机遇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1362C6-1C37-4742-9BF6-20F52E057A63}"/>
              </a:ext>
            </a:extLst>
          </p:cNvPr>
          <p:cNvSpPr txBox="1"/>
          <p:nvPr/>
        </p:nvSpPr>
        <p:spPr>
          <a:xfrm>
            <a:off x="2086991" y="1633773"/>
            <a:ext cx="6188006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的核心数和单核心算力迅速发展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单服务器能够在满足计算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下实现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算资源复用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有望带来多倍的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部署密度提升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58AA3-FC04-4987-B3F6-4F8481B7C79A}"/>
              </a:ext>
            </a:extLst>
          </p:cNvPr>
          <p:cNvSpPr txBox="1"/>
          <p:nvPr/>
        </p:nvSpPr>
        <p:spPr>
          <a:xfrm>
            <a:off x="1982806" y="3400928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存储瓶颈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8F3A0D-5D88-4A39-BDF8-98541123388C}"/>
              </a:ext>
            </a:extLst>
          </p:cNvPr>
          <p:cNvSpPr txBox="1"/>
          <p:nvPr/>
        </p:nvSpPr>
        <p:spPr>
          <a:xfrm>
            <a:off x="2043417" y="4104369"/>
            <a:ext cx="9057371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包括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两个方面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存储资源的复用无法满足</a:t>
            </a:r>
            <a:r>
              <a:rPr lang="en-US" altLang="zh-CN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endParaRPr lang="en-US" altLang="zh-CN" sz="2400" b="1" u="sng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单纯的加盘是不现实的（机架、成本、性能）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3F6C4EA-8079-4B03-825E-908AABA0479B}"/>
              </a:ext>
            </a:extLst>
          </p:cNvPr>
          <p:cNvSpPr/>
          <p:nvPr/>
        </p:nvSpPr>
        <p:spPr>
          <a:xfrm>
            <a:off x="7258650" y="4938251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7709E78-B1E7-4B62-B3B0-AD8D37021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941430"/>
              </p:ext>
            </p:extLst>
          </p:nvPr>
        </p:nvGraphicFramePr>
        <p:xfrm>
          <a:off x="8109344" y="4202275"/>
          <a:ext cx="371640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957">
                  <a:extLst>
                    <a:ext uri="{9D8B030D-6E8A-4147-A177-3AD203B41FA5}">
                      <a16:colId xmlns:a16="http://schemas.microsoft.com/office/drawing/2014/main" val="2749169325"/>
                    </a:ext>
                  </a:extLst>
                </a:gridCol>
                <a:gridCol w="1289786">
                  <a:extLst>
                    <a:ext uri="{9D8B030D-6E8A-4147-A177-3AD203B41FA5}">
                      <a16:colId xmlns:a16="http://schemas.microsoft.com/office/drawing/2014/main" val="833623070"/>
                    </a:ext>
                  </a:extLst>
                </a:gridCol>
                <a:gridCol w="1318660">
                  <a:extLst>
                    <a:ext uri="{9D8B030D-6E8A-4147-A177-3AD203B41FA5}">
                      <a16:colId xmlns:a16="http://schemas.microsoft.com/office/drawing/2014/main" val="745050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存储器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容量</a:t>
                      </a:r>
                      <a:r>
                        <a:rPr lang="en-US" altLang="zh-CN" dirty="0"/>
                        <a:t>SLO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</a:t>
                      </a:r>
                      <a:r>
                        <a:rPr lang="en-US" altLang="zh-CN" dirty="0"/>
                        <a:t>SLO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88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HDD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满足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264B8C"/>
                          </a:solidFill>
                        </a:rPr>
                        <a:t>*</a:t>
                      </a:r>
                      <a:r>
                        <a:rPr lang="zh-CN" altLang="en-US" b="1" dirty="0">
                          <a:solidFill>
                            <a:srgbClr val="264B8C"/>
                          </a:solidFill>
                        </a:rPr>
                        <a:t>无法满足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2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HP-SSD</a:t>
                      </a:r>
                      <a:r>
                        <a:rPr lang="en-US" altLang="zh-CN" baseline="30000" dirty="0"/>
                        <a:t>1</a:t>
                      </a:r>
                      <a:endParaRPr lang="zh-CN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264B8C"/>
                          </a:solidFill>
                        </a:rPr>
                        <a:t>*</a:t>
                      </a:r>
                      <a:r>
                        <a:rPr lang="zh-CN" altLang="en-US" b="1" dirty="0">
                          <a:solidFill>
                            <a:srgbClr val="264B8C"/>
                          </a:solidFill>
                        </a:rPr>
                        <a:t>无法满足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满足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437710"/>
                  </a:ext>
                </a:extLst>
              </a:tr>
            </a:tbl>
          </a:graphicData>
        </a:graphic>
      </p:graphicFrame>
      <p:pic>
        <p:nvPicPr>
          <p:cNvPr id="17" name="图形 16" descr="问号 纯色填充">
            <a:extLst>
              <a:ext uri="{FF2B5EF4-FFF2-40B4-BE49-F238E27FC236}">
                <a16:creationId xmlns:a16="http://schemas.microsoft.com/office/drawing/2014/main" id="{68020478-C395-4F80-AB7A-E8B7B0A46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6992" y="1772055"/>
            <a:ext cx="407622" cy="40762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F3CC8A1-24E3-486D-BFD0-87661698D647}"/>
              </a:ext>
            </a:extLst>
          </p:cNvPr>
          <p:cNvSpPr txBox="1"/>
          <p:nvPr/>
        </p:nvSpPr>
        <p:spPr>
          <a:xfrm>
            <a:off x="2086990" y="5886780"/>
            <a:ext cx="3771859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HP-SSD,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igh-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erformance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SSD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0EC53132-63F8-4F55-A0E6-4AE2D1B6F74F}"/>
              </a:ext>
            </a:extLst>
          </p:cNvPr>
          <p:cNvSpPr/>
          <p:nvPr/>
        </p:nvSpPr>
        <p:spPr>
          <a:xfrm>
            <a:off x="8379182" y="2475283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9519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0FD81F7F-6C97-C0C1-A2E3-3B463A325872}"/>
              </a:ext>
            </a:extLst>
          </p:cNvPr>
          <p:cNvSpPr/>
          <p:nvPr/>
        </p:nvSpPr>
        <p:spPr>
          <a:xfrm>
            <a:off x="1693531" y="148262"/>
            <a:ext cx="66323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1.3 QLC-SSD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2E4A26-AA76-E7E6-EFE4-3F05187D8E79}"/>
              </a:ext>
            </a:extLst>
          </p:cNvPr>
          <p:cNvSpPr txBox="1"/>
          <p:nvPr/>
        </p:nvSpPr>
        <p:spPr>
          <a:xfrm>
            <a:off x="1995435" y="1676400"/>
            <a:ext cx="9855905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可相当的存储容量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比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快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10x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的随机吞吐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F60207-AE48-4D45-9748-A2EC23D7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23" y="1005365"/>
            <a:ext cx="5091953" cy="23275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E10CE7-8D3E-439E-A342-F8B6C26903FC}"/>
              </a:ext>
            </a:extLst>
          </p:cNvPr>
          <p:cNvSpPr/>
          <p:nvPr/>
        </p:nvSpPr>
        <p:spPr>
          <a:xfrm>
            <a:off x="10328662" y="1451132"/>
            <a:ext cx="1249256" cy="210884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C54437-EBAE-4783-9D5B-51060CA0A298}"/>
              </a:ext>
            </a:extLst>
          </p:cNvPr>
          <p:cNvSpPr/>
          <p:nvPr/>
        </p:nvSpPr>
        <p:spPr>
          <a:xfrm>
            <a:off x="10328663" y="1727462"/>
            <a:ext cx="1249256" cy="951595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2ADE48-3D79-4758-A1BF-A600FCF0D3E6}"/>
              </a:ext>
            </a:extLst>
          </p:cNvPr>
          <p:cNvSpPr/>
          <p:nvPr/>
        </p:nvSpPr>
        <p:spPr>
          <a:xfrm>
            <a:off x="8325852" y="2488701"/>
            <a:ext cx="2593160" cy="241418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79ECC7-3487-46F6-93C0-3CFA22E8F1B9}"/>
              </a:ext>
            </a:extLst>
          </p:cNvPr>
          <p:cNvSpPr txBox="1"/>
          <p:nvPr/>
        </p:nvSpPr>
        <p:spPr>
          <a:xfrm>
            <a:off x="1982806" y="971220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存储特性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6C30C4-6DF5-42FB-8850-E64DC6F020DA}"/>
              </a:ext>
            </a:extLst>
          </p:cNvPr>
          <p:cNvSpPr txBox="1"/>
          <p:nvPr/>
        </p:nvSpPr>
        <p:spPr>
          <a:xfrm>
            <a:off x="2055129" y="3719141"/>
            <a:ext cx="3794437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提供管理程序（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FTL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可进行任意写入（顺序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6FE525-53F4-400E-9E3B-38423065A84C}"/>
              </a:ext>
            </a:extLst>
          </p:cNvPr>
          <p:cNvSpPr txBox="1"/>
          <p:nvPr/>
        </p:nvSpPr>
        <p:spPr>
          <a:xfrm>
            <a:off x="2042500" y="3013962"/>
            <a:ext cx="3154289" cy="658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接口形态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1FC8BE-8D5A-4F66-907F-1E356BB2CC6F}"/>
              </a:ext>
            </a:extLst>
          </p:cNvPr>
          <p:cNvSpPr txBox="1"/>
          <p:nvPr/>
        </p:nvSpPr>
        <p:spPr>
          <a:xfrm>
            <a:off x="6288746" y="5903783"/>
            <a:ext cx="4262325" cy="44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ZNS,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one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ame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pace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E57E1F-C537-4DA8-9244-E35B262F3D38}"/>
              </a:ext>
            </a:extLst>
          </p:cNvPr>
          <p:cNvSpPr txBox="1"/>
          <p:nvPr/>
        </p:nvSpPr>
        <p:spPr>
          <a:xfrm>
            <a:off x="6154240" y="3723185"/>
            <a:ext cx="6037759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(2)ZNS</a:t>
            </a:r>
            <a:r>
              <a:rPr lang="en-US" altLang="zh-CN" sz="24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QLC-SSD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格式化划分为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若干的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内限制为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顺序写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上层自行完成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随机写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的管理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4BC68E-F74A-4CB2-A809-6F4D86156FB6}"/>
              </a:ext>
            </a:extLst>
          </p:cNvPr>
          <p:cNvSpPr txBox="1"/>
          <p:nvPr/>
        </p:nvSpPr>
        <p:spPr>
          <a:xfrm>
            <a:off x="4201128" y="2866923"/>
            <a:ext cx="2473095" cy="726460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r>
              <a:rPr lang="en-US" altLang="zh-CN" dirty="0"/>
              <a:t>QLC-SSD</a:t>
            </a:r>
            <a:r>
              <a:rPr lang="zh-CN" altLang="en-US" dirty="0"/>
              <a:t>是最理想的存储</a:t>
            </a:r>
            <a:r>
              <a:rPr lang="en-US" altLang="zh-CN" dirty="0"/>
              <a:t>SLO</a:t>
            </a:r>
            <a:r>
              <a:rPr lang="zh-CN" altLang="en-US" dirty="0"/>
              <a:t>解决方案</a:t>
            </a:r>
          </a:p>
        </p:txBody>
      </p:sp>
      <p:pic>
        <p:nvPicPr>
          <p:cNvPr id="16" name="图形 15" descr="复选标记 纯色填充">
            <a:extLst>
              <a:ext uri="{FF2B5EF4-FFF2-40B4-BE49-F238E27FC236}">
                <a16:creationId xmlns:a16="http://schemas.microsoft.com/office/drawing/2014/main" id="{187CC06A-D2FD-41F9-B056-92A9D6A5C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906" y="3174561"/>
            <a:ext cx="418823" cy="41882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36A5401-85D2-4B7B-984B-B2A282C66347}"/>
              </a:ext>
            </a:extLst>
          </p:cNvPr>
          <p:cNvSpPr txBox="1"/>
          <p:nvPr/>
        </p:nvSpPr>
        <p:spPr>
          <a:xfrm>
            <a:off x="2055129" y="5875251"/>
            <a:ext cx="4262325" cy="44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QLC-SSD,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uad-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evel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ells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SSD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271965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初始方案一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(1/4)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92AD9-ACF6-4C0E-BA13-7035F963EDA5}"/>
              </a:ext>
            </a:extLst>
          </p:cNvPr>
          <p:cNvSpPr txBox="1"/>
          <p:nvPr/>
        </p:nvSpPr>
        <p:spPr>
          <a:xfrm>
            <a:off x="1982806" y="971220"/>
            <a:ext cx="5605999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：通用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QLC-SSD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4250AFA-B86D-4844-A11F-F67CFF7057A6}"/>
              </a:ext>
            </a:extLst>
          </p:cNvPr>
          <p:cNvSpPr/>
          <p:nvPr/>
        </p:nvSpPr>
        <p:spPr>
          <a:xfrm>
            <a:off x="6339500" y="2476786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A7D1AF-3399-4276-A116-194A59EF3F92}"/>
              </a:ext>
            </a:extLst>
          </p:cNvPr>
          <p:cNvSpPr txBox="1"/>
          <p:nvPr/>
        </p:nvSpPr>
        <p:spPr>
          <a:xfrm>
            <a:off x="2314563" y="3529905"/>
            <a:ext cx="5274242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直接用通用型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做本地盘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上层应用通过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LVM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的划分来直接复用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852CD9-FA95-4DFA-87ED-9E66E3FEB836}"/>
              </a:ext>
            </a:extLst>
          </p:cNvPr>
          <p:cNvSpPr txBox="1"/>
          <p:nvPr/>
        </p:nvSpPr>
        <p:spPr>
          <a:xfrm>
            <a:off x="2314563" y="4624911"/>
            <a:ext cx="8180866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测试：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设置了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8-VMs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（每个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7-vCPU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28G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内存）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VMs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FIO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测试（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8-jobs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128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队列深度）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9BC95F-DF96-4A55-8FAB-FF0FFDA18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814" y="1713221"/>
            <a:ext cx="2883048" cy="18860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140830B-44AF-4FC7-B656-43295113D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423" y="1694461"/>
            <a:ext cx="2851297" cy="191144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04A03D6-0DA7-4427-B273-0150883FBF1C}"/>
              </a:ext>
            </a:extLst>
          </p:cNvPr>
          <p:cNvSpPr txBox="1"/>
          <p:nvPr/>
        </p:nvSpPr>
        <p:spPr>
          <a:xfrm>
            <a:off x="5202697" y="3102347"/>
            <a:ext cx="1891649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（现有方案）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78030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87B7BA9-972A-4476-869B-C7E57CCAF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79" y="1467849"/>
            <a:ext cx="6754309" cy="3056025"/>
          </a:xfrm>
          <a:prstGeom prst="rect">
            <a:avLst/>
          </a:prstGeom>
        </p:spPr>
      </p:pic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初始方案一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(2/4)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92AD9-ACF6-4C0E-BA13-7035F963EDA5}"/>
              </a:ext>
            </a:extLst>
          </p:cNvPr>
          <p:cNvSpPr txBox="1"/>
          <p:nvPr/>
        </p:nvSpPr>
        <p:spPr>
          <a:xfrm>
            <a:off x="1982806" y="971220"/>
            <a:ext cx="432386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852CD9-FA95-4DFA-87ED-9E66E3FEB836}"/>
              </a:ext>
            </a:extLst>
          </p:cNvPr>
          <p:cNvSpPr txBox="1"/>
          <p:nvPr/>
        </p:nvSpPr>
        <p:spPr>
          <a:xfrm>
            <a:off x="2280854" y="4616137"/>
            <a:ext cx="8556819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随机写，通用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性能相似（略有优势）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顺序写，通用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的性能差距落后很大（与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单元有关）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C89678F-D79E-40FD-B5A9-B926967429CE}"/>
              </a:ext>
            </a:extLst>
          </p:cNvPr>
          <p:cNvCxnSpPr>
            <a:cxnSpLocks/>
          </p:cNvCxnSpPr>
          <p:nvPr/>
        </p:nvCxnSpPr>
        <p:spPr>
          <a:xfrm>
            <a:off x="6236907" y="2877179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F582C3C-9C08-4835-9D0F-F308CA4DEA1E}"/>
              </a:ext>
            </a:extLst>
          </p:cNvPr>
          <p:cNvCxnSpPr>
            <a:cxnSpLocks/>
          </p:cNvCxnSpPr>
          <p:nvPr/>
        </p:nvCxnSpPr>
        <p:spPr>
          <a:xfrm flipV="1">
            <a:off x="6304143" y="3352000"/>
            <a:ext cx="0" cy="211003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0A4D5CF-12CF-42BD-9175-93A9085FCAFA}"/>
              </a:ext>
            </a:extLst>
          </p:cNvPr>
          <p:cNvSpPr txBox="1"/>
          <p:nvPr/>
        </p:nvSpPr>
        <p:spPr>
          <a:xfrm>
            <a:off x="5255398" y="2455068"/>
            <a:ext cx="1459336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65E382-32B3-40EF-BC25-7C9246EE41AE}"/>
              </a:ext>
            </a:extLst>
          </p:cNvPr>
          <p:cNvSpPr txBox="1"/>
          <p:nvPr/>
        </p:nvSpPr>
        <p:spPr>
          <a:xfrm>
            <a:off x="6003531" y="3454590"/>
            <a:ext cx="601224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76FDD1B-839E-4F81-BFFB-C5DF08790273}"/>
              </a:ext>
            </a:extLst>
          </p:cNvPr>
          <p:cNvCxnSpPr>
            <a:cxnSpLocks/>
          </p:cNvCxnSpPr>
          <p:nvPr/>
        </p:nvCxnSpPr>
        <p:spPr>
          <a:xfrm flipV="1">
            <a:off x="8069506" y="2472488"/>
            <a:ext cx="0" cy="217727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34B3AED-35F1-4687-9BD5-9343CAED5252}"/>
              </a:ext>
            </a:extLst>
          </p:cNvPr>
          <p:cNvSpPr txBox="1"/>
          <p:nvPr/>
        </p:nvSpPr>
        <p:spPr>
          <a:xfrm>
            <a:off x="7814383" y="2558413"/>
            <a:ext cx="641287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E35BF72-D846-42FA-B38A-F3D4BA46D8FE}"/>
              </a:ext>
            </a:extLst>
          </p:cNvPr>
          <p:cNvCxnSpPr>
            <a:cxnSpLocks/>
          </p:cNvCxnSpPr>
          <p:nvPr/>
        </p:nvCxnSpPr>
        <p:spPr>
          <a:xfrm flipV="1">
            <a:off x="8967129" y="3429000"/>
            <a:ext cx="0" cy="217727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A9546DF-2A9E-4E7E-B742-EA53D6987A12}"/>
              </a:ext>
            </a:extLst>
          </p:cNvPr>
          <p:cNvSpPr txBox="1"/>
          <p:nvPr/>
        </p:nvSpPr>
        <p:spPr>
          <a:xfrm>
            <a:off x="8455682" y="3501398"/>
            <a:ext cx="1636205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1CD12B-815A-4C5D-A7B3-9C28FDB90697}"/>
              </a:ext>
            </a:extLst>
          </p:cNvPr>
          <p:cNvSpPr txBox="1"/>
          <p:nvPr/>
        </p:nvSpPr>
        <p:spPr>
          <a:xfrm>
            <a:off x="3932800" y="6121879"/>
            <a:ext cx="5820137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无法满足写入性能上的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E5434AEA-EB61-464D-AC44-B355C87D5AF8}"/>
              </a:ext>
            </a:extLst>
          </p:cNvPr>
          <p:cNvSpPr/>
          <p:nvPr/>
        </p:nvSpPr>
        <p:spPr>
          <a:xfrm rot="5400000">
            <a:off x="6384873" y="5864311"/>
            <a:ext cx="320178" cy="23588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3095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348811A-5DED-42B1-88C6-76CA06B65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289" y="1441203"/>
            <a:ext cx="6484254" cy="3170833"/>
          </a:xfrm>
          <a:prstGeom prst="rect">
            <a:avLst/>
          </a:prstGeom>
        </p:spPr>
      </p:pic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初始方案一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(3/4)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92AD9-ACF6-4C0E-BA13-7035F963EDA5}"/>
              </a:ext>
            </a:extLst>
          </p:cNvPr>
          <p:cNvSpPr txBox="1"/>
          <p:nvPr/>
        </p:nvSpPr>
        <p:spPr>
          <a:xfrm>
            <a:off x="1982806" y="971220"/>
            <a:ext cx="4764503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原因分析：设备级写放大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852CD9-FA95-4DFA-87ED-9E66E3FEB836}"/>
              </a:ext>
            </a:extLst>
          </p:cNvPr>
          <p:cNvSpPr txBox="1"/>
          <p:nvPr/>
        </p:nvSpPr>
        <p:spPr>
          <a:xfrm>
            <a:off x="1982806" y="4419463"/>
            <a:ext cx="9278752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采用了更大粒度的页面（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）减少内存占用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对实际本地盘跟踪，小于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等于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8KB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在占据了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60%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以上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的“读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写”会带来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16x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的写入放大（设备级写放大）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5DDDFA-3055-43C8-9C86-E5F403C3B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689" y="1719824"/>
            <a:ext cx="3404544" cy="2613589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8F2B7DDA-E05B-4852-891C-EAF746460C87}"/>
              </a:ext>
            </a:extLst>
          </p:cNvPr>
          <p:cNvSpPr/>
          <p:nvPr/>
        </p:nvSpPr>
        <p:spPr>
          <a:xfrm>
            <a:off x="5117303" y="2873413"/>
            <a:ext cx="314587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27892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1ABB327-42EF-48E2-81F5-4FEAE11C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959" y="1102511"/>
            <a:ext cx="3708908" cy="3011309"/>
          </a:xfrm>
          <a:prstGeom prst="rect">
            <a:avLst/>
          </a:prstGeom>
        </p:spPr>
      </p:pic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初始方案一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(4/4)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92AD9-ACF6-4C0E-BA13-7035F963EDA5}"/>
              </a:ext>
            </a:extLst>
          </p:cNvPr>
          <p:cNvSpPr txBox="1"/>
          <p:nvPr/>
        </p:nvSpPr>
        <p:spPr>
          <a:xfrm>
            <a:off x="1982806" y="971220"/>
            <a:ext cx="5313143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原因分析：介质级写放大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852CD9-FA95-4DFA-87ED-9E66E3FEB836}"/>
              </a:ext>
            </a:extLst>
          </p:cNvPr>
          <p:cNvSpPr txBox="1"/>
          <p:nvPr/>
        </p:nvSpPr>
        <p:spPr>
          <a:xfrm>
            <a:off x="1914914" y="1638300"/>
            <a:ext cx="6459066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的擦除单元更大（如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Intel P5316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67.4GB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），写入寿命有限（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15.36TB/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日）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不同生命周期的数据混杂加剧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时的写放大（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介质级写放大，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non-shared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约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2.3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shared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约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3.8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E9D8929-E81C-48F8-95B5-64F315866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298" y="4113820"/>
            <a:ext cx="5686408" cy="213014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7CC272E-763C-48CC-A1F3-D7CDFE172312}"/>
              </a:ext>
            </a:extLst>
          </p:cNvPr>
          <p:cNvSpPr/>
          <p:nvPr/>
        </p:nvSpPr>
        <p:spPr>
          <a:xfrm>
            <a:off x="6710932" y="5571742"/>
            <a:ext cx="5085936" cy="290044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1C866D-5520-47E1-B31D-01B08B7F0EB5}"/>
              </a:ext>
            </a:extLst>
          </p:cNvPr>
          <p:cNvSpPr txBox="1"/>
          <p:nvPr/>
        </p:nvSpPr>
        <p:spPr>
          <a:xfrm>
            <a:off x="1914914" y="4358044"/>
            <a:ext cx="4181086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为了满足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99.9%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用户的写入需求，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每日至少要写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51.76TB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的写入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03725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初始方案二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92AD9-ACF6-4C0E-BA13-7035F963EDA5}"/>
              </a:ext>
            </a:extLst>
          </p:cNvPr>
          <p:cNvSpPr txBox="1"/>
          <p:nvPr/>
        </p:nvSpPr>
        <p:spPr>
          <a:xfrm>
            <a:off x="1982805" y="937649"/>
            <a:ext cx="432386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：添加写回缓存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4250AFA-B86D-4844-A11F-F67CFF7057A6}"/>
              </a:ext>
            </a:extLst>
          </p:cNvPr>
          <p:cNvSpPr/>
          <p:nvPr/>
        </p:nvSpPr>
        <p:spPr>
          <a:xfrm>
            <a:off x="6289177" y="2684722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A7D1AF-3399-4276-A116-194A59EF3F92}"/>
              </a:ext>
            </a:extLst>
          </p:cNvPr>
          <p:cNvSpPr txBox="1"/>
          <p:nvPr/>
        </p:nvSpPr>
        <p:spPr>
          <a:xfrm>
            <a:off x="2457125" y="3935569"/>
            <a:ext cx="8841118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沿用通用型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做本地盘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做写回缓存吸收小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，对齐通用型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粒度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构建了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缓存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FD1A19-A398-4FD9-B7C8-8D168577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490" y="1898501"/>
            <a:ext cx="2794144" cy="19050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1030D2-0655-4042-9856-9505641D2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213" y="1898501"/>
            <a:ext cx="2883048" cy="18860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59A00AD-4AE3-4598-9FA5-B5175825FE30}"/>
              </a:ext>
            </a:extLst>
          </p:cNvPr>
          <p:cNvSpPr txBox="1"/>
          <p:nvPr/>
        </p:nvSpPr>
        <p:spPr>
          <a:xfrm>
            <a:off x="2521230" y="5700305"/>
            <a:ext cx="617529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Open-CAS,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Open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ache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cceleration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oftware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Intel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483013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初始方案二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EFE2AA-D480-480A-A30C-5D9CF1D3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76" y="1328436"/>
            <a:ext cx="6754309" cy="30560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BA1C8B1-8B91-4E29-AE88-70CC3804880D}"/>
              </a:ext>
            </a:extLst>
          </p:cNvPr>
          <p:cNvSpPr txBox="1"/>
          <p:nvPr/>
        </p:nvSpPr>
        <p:spPr>
          <a:xfrm>
            <a:off x="2006756" y="913671"/>
            <a:ext cx="432386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17FAFA-E867-427D-984D-6DE60F8F9A67}"/>
              </a:ext>
            </a:extLst>
          </p:cNvPr>
          <p:cNvSpPr txBox="1"/>
          <p:nvPr/>
        </p:nvSpPr>
        <p:spPr>
          <a:xfrm>
            <a:off x="2436320" y="4203556"/>
            <a:ext cx="8556819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随机写，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性能有明显的提升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顺序写，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比通用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上有所提升，大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上逐渐落后；整体落后于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0F80302-4EF8-4988-85D3-67801FC340A5}"/>
              </a:ext>
            </a:extLst>
          </p:cNvPr>
          <p:cNvCxnSpPr>
            <a:cxnSpLocks/>
          </p:cNvCxnSpPr>
          <p:nvPr/>
        </p:nvCxnSpPr>
        <p:spPr>
          <a:xfrm>
            <a:off x="5369571" y="2497634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A8FD075-34AF-4C56-ABA4-C701C08A2C7E}"/>
              </a:ext>
            </a:extLst>
          </p:cNvPr>
          <p:cNvSpPr txBox="1"/>
          <p:nvPr/>
        </p:nvSpPr>
        <p:spPr>
          <a:xfrm>
            <a:off x="4862610" y="2068467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F9C978-776F-4FCF-9146-6E51A62F0600}"/>
              </a:ext>
            </a:extLst>
          </p:cNvPr>
          <p:cNvSpPr txBox="1"/>
          <p:nvPr/>
        </p:nvSpPr>
        <p:spPr>
          <a:xfrm>
            <a:off x="3647170" y="6104661"/>
            <a:ext cx="579558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仍无法满足写入性能上的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86FA4C8-8EA3-4445-B3BD-533F587DDD0B}"/>
              </a:ext>
            </a:extLst>
          </p:cNvPr>
          <p:cNvSpPr/>
          <p:nvPr/>
        </p:nvSpPr>
        <p:spPr>
          <a:xfrm rot="5400000">
            <a:off x="6384872" y="5963831"/>
            <a:ext cx="320178" cy="23588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523CF2-899E-4BE0-8881-D09B3CB2853B}"/>
              </a:ext>
            </a:extLst>
          </p:cNvPr>
          <p:cNvCxnSpPr>
            <a:cxnSpLocks/>
          </p:cNvCxnSpPr>
          <p:nvPr/>
        </p:nvCxnSpPr>
        <p:spPr>
          <a:xfrm>
            <a:off x="8066221" y="2842738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3AA85E3-5A3F-4B18-97C8-200DF300C07A}"/>
              </a:ext>
            </a:extLst>
          </p:cNvPr>
          <p:cNvSpPr txBox="1"/>
          <p:nvPr/>
        </p:nvSpPr>
        <p:spPr>
          <a:xfrm>
            <a:off x="7559260" y="2413571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</a:p>
        </p:txBody>
      </p:sp>
    </p:spTree>
    <p:extLst>
      <p:ext uri="{BB962C8B-B14F-4D97-AF65-F5344CB8AC3E}">
        <p14:creationId xmlns:p14="http://schemas.microsoft.com/office/powerpoint/2010/main" val="195810850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初始方案二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EFE2AA-D480-480A-A30C-5D9CF1D3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76" y="1328436"/>
            <a:ext cx="6754309" cy="30560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BA1C8B1-8B91-4E29-AE88-70CC3804880D}"/>
              </a:ext>
            </a:extLst>
          </p:cNvPr>
          <p:cNvSpPr txBox="1"/>
          <p:nvPr/>
        </p:nvSpPr>
        <p:spPr>
          <a:xfrm>
            <a:off x="2006756" y="913671"/>
            <a:ext cx="432386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原因分析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17FAFA-E867-427D-984D-6DE60F8F9A67}"/>
              </a:ext>
            </a:extLst>
          </p:cNvPr>
          <p:cNvSpPr txBox="1"/>
          <p:nvPr/>
        </p:nvSpPr>
        <p:spPr>
          <a:xfrm>
            <a:off x="2510279" y="4319820"/>
            <a:ext cx="8556819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聚集小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带来了一定的性能提升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容量有限，需要定期刷回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，仍然会带来设备级写放大，并且有性能损失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0F80302-4EF8-4988-85D3-67801FC340A5}"/>
              </a:ext>
            </a:extLst>
          </p:cNvPr>
          <p:cNvCxnSpPr>
            <a:cxnSpLocks/>
          </p:cNvCxnSpPr>
          <p:nvPr/>
        </p:nvCxnSpPr>
        <p:spPr>
          <a:xfrm>
            <a:off x="5369571" y="2497634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A8FD075-34AF-4C56-ABA4-C701C08A2C7E}"/>
              </a:ext>
            </a:extLst>
          </p:cNvPr>
          <p:cNvSpPr txBox="1"/>
          <p:nvPr/>
        </p:nvSpPr>
        <p:spPr>
          <a:xfrm>
            <a:off x="4862610" y="2068467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523CF2-899E-4BE0-8881-D09B3CB2853B}"/>
              </a:ext>
            </a:extLst>
          </p:cNvPr>
          <p:cNvCxnSpPr>
            <a:cxnSpLocks/>
          </p:cNvCxnSpPr>
          <p:nvPr/>
        </p:nvCxnSpPr>
        <p:spPr>
          <a:xfrm>
            <a:off x="8066221" y="2842738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3AA85E3-5A3F-4B18-97C8-200DF300C07A}"/>
              </a:ext>
            </a:extLst>
          </p:cNvPr>
          <p:cNvSpPr txBox="1"/>
          <p:nvPr/>
        </p:nvSpPr>
        <p:spPr>
          <a:xfrm>
            <a:off x="7559260" y="2413571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AFAEAD-8C8D-4452-8C3E-CA6432FE1578}"/>
              </a:ext>
            </a:extLst>
          </p:cNvPr>
          <p:cNvSpPr txBox="1"/>
          <p:nvPr/>
        </p:nvSpPr>
        <p:spPr>
          <a:xfrm>
            <a:off x="3657600" y="5987584"/>
            <a:ext cx="5557219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聚合没有改变大粒度（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）的本质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155278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初始方案三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92AD9-ACF6-4C0E-BA13-7035F963EDA5}"/>
              </a:ext>
            </a:extLst>
          </p:cNvPr>
          <p:cNvSpPr txBox="1"/>
          <p:nvPr/>
        </p:nvSpPr>
        <p:spPr>
          <a:xfrm>
            <a:off x="1982805" y="937649"/>
            <a:ext cx="6966213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dm-zoned</a:t>
            </a:r>
            <a:r>
              <a:rPr lang="en-US" altLang="zh-CN" sz="28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ZNS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4250AFA-B86D-4844-A11F-F67CFF7057A6}"/>
              </a:ext>
            </a:extLst>
          </p:cNvPr>
          <p:cNvSpPr/>
          <p:nvPr/>
        </p:nvSpPr>
        <p:spPr>
          <a:xfrm>
            <a:off x="6289177" y="2684722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A7D1AF-3399-4276-A116-194A59EF3F92}"/>
              </a:ext>
            </a:extLst>
          </p:cNvPr>
          <p:cNvSpPr txBox="1"/>
          <p:nvPr/>
        </p:nvSpPr>
        <p:spPr>
          <a:xfrm>
            <a:off x="2181461" y="4082590"/>
            <a:ext cx="8841118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改用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 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做本地盘，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内只支持顺序写入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缓存，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缓存支持随机写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dm-zoned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构建上述方案，随机写路由到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，顺序写则直接路由到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 QLC-SSD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FD1A19-A398-4FD9-B7C8-8D168577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678" y="1759978"/>
            <a:ext cx="2794144" cy="190509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CA6152-2A62-47B4-A301-5E1E3447A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330" y="1759978"/>
            <a:ext cx="2948735" cy="197793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5912EB-6177-43FE-A259-150ABE198197}"/>
              </a:ext>
            </a:extLst>
          </p:cNvPr>
          <p:cNvSpPr txBox="1"/>
          <p:nvPr/>
        </p:nvSpPr>
        <p:spPr>
          <a:xfrm>
            <a:off x="3800466" y="3557846"/>
            <a:ext cx="5088040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方案打破大粒度（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）的限制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E77BE7-3853-44A7-B0B7-EF5FA80A475A}"/>
              </a:ext>
            </a:extLst>
          </p:cNvPr>
          <p:cNvSpPr txBox="1"/>
          <p:nvPr/>
        </p:nvSpPr>
        <p:spPr>
          <a:xfrm>
            <a:off x="2830677" y="6304353"/>
            <a:ext cx="7013713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dm-zoned,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evice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apper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zoned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存储方案）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0501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初始方案三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EFE2AA-D480-480A-A30C-5D9CF1D3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76" y="1328436"/>
            <a:ext cx="6754309" cy="30560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BA1C8B1-8B91-4E29-AE88-70CC3804880D}"/>
              </a:ext>
            </a:extLst>
          </p:cNvPr>
          <p:cNvSpPr txBox="1"/>
          <p:nvPr/>
        </p:nvSpPr>
        <p:spPr>
          <a:xfrm>
            <a:off x="2006756" y="913671"/>
            <a:ext cx="432386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17FAFA-E867-427D-984D-6DE60F8F9A67}"/>
              </a:ext>
            </a:extLst>
          </p:cNvPr>
          <p:cNvSpPr txBox="1"/>
          <p:nvPr/>
        </p:nvSpPr>
        <p:spPr>
          <a:xfrm>
            <a:off x="2436319" y="4311154"/>
            <a:ext cx="8556819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随机写，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dm-zoned 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方案极为低效（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10MB/s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顺序写，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dm-zoned 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方案整体比通用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方案有了一定提升，但仍然落后于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0F80302-4EF8-4988-85D3-67801FC340A5}"/>
              </a:ext>
            </a:extLst>
          </p:cNvPr>
          <p:cNvCxnSpPr>
            <a:cxnSpLocks/>
          </p:cNvCxnSpPr>
          <p:nvPr/>
        </p:nvCxnSpPr>
        <p:spPr>
          <a:xfrm>
            <a:off x="6041924" y="3485992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A8FD075-34AF-4C56-ABA4-C701C08A2C7E}"/>
              </a:ext>
            </a:extLst>
          </p:cNvPr>
          <p:cNvSpPr txBox="1"/>
          <p:nvPr/>
        </p:nvSpPr>
        <p:spPr>
          <a:xfrm>
            <a:off x="5543111" y="3030931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dm-zoned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86FA4C8-8EA3-4445-B3BD-533F587DDD0B}"/>
              </a:ext>
            </a:extLst>
          </p:cNvPr>
          <p:cNvSpPr/>
          <p:nvPr/>
        </p:nvSpPr>
        <p:spPr>
          <a:xfrm rot="5400000">
            <a:off x="6384872" y="5963831"/>
            <a:ext cx="320178" cy="23588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523CF2-899E-4BE0-8881-D09B3CB2853B}"/>
              </a:ext>
            </a:extLst>
          </p:cNvPr>
          <p:cNvCxnSpPr>
            <a:cxnSpLocks/>
          </p:cNvCxnSpPr>
          <p:nvPr/>
        </p:nvCxnSpPr>
        <p:spPr>
          <a:xfrm>
            <a:off x="8994068" y="2606129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AA20A90-8CA9-4A2A-A213-F2D54E37CA63}"/>
              </a:ext>
            </a:extLst>
          </p:cNvPr>
          <p:cNvSpPr txBox="1"/>
          <p:nvPr/>
        </p:nvSpPr>
        <p:spPr>
          <a:xfrm>
            <a:off x="8297517" y="2205458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dm-zoned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5BB611-EBBE-49B9-89ED-6742B23F20E4}"/>
              </a:ext>
            </a:extLst>
          </p:cNvPr>
          <p:cNvSpPr txBox="1"/>
          <p:nvPr/>
        </p:nvSpPr>
        <p:spPr>
          <a:xfrm>
            <a:off x="3240157" y="6241864"/>
            <a:ext cx="6560404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dm-zoned ZNS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方案无法满足写入性能上的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042862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初始方案三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EFE2AA-D480-480A-A30C-5D9CF1D3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76" y="1328436"/>
            <a:ext cx="6754309" cy="30560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BA1C8B1-8B91-4E29-AE88-70CC3804880D}"/>
              </a:ext>
            </a:extLst>
          </p:cNvPr>
          <p:cNvSpPr txBox="1"/>
          <p:nvPr/>
        </p:nvSpPr>
        <p:spPr>
          <a:xfrm>
            <a:off x="2006756" y="913671"/>
            <a:ext cx="432386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17FAFA-E867-427D-984D-6DE60F8F9A67}"/>
              </a:ext>
            </a:extLst>
          </p:cNvPr>
          <p:cNvSpPr txBox="1"/>
          <p:nvPr/>
        </p:nvSpPr>
        <p:spPr>
          <a:xfrm>
            <a:off x="2591961" y="4425159"/>
            <a:ext cx="8556819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“一对一”的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缓存有限，会频繁填充、迁移与回收，几乎无法支持随机写（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随机写失效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0F80302-4EF8-4988-85D3-67801FC340A5}"/>
              </a:ext>
            </a:extLst>
          </p:cNvPr>
          <p:cNvCxnSpPr>
            <a:cxnSpLocks/>
          </p:cNvCxnSpPr>
          <p:nvPr/>
        </p:nvCxnSpPr>
        <p:spPr>
          <a:xfrm>
            <a:off x="6041924" y="3485992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A8FD075-34AF-4C56-ABA4-C701C08A2C7E}"/>
              </a:ext>
            </a:extLst>
          </p:cNvPr>
          <p:cNvSpPr txBox="1"/>
          <p:nvPr/>
        </p:nvSpPr>
        <p:spPr>
          <a:xfrm>
            <a:off x="5543111" y="3030931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dm-zoned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F9C978-776F-4FCF-9146-6E51A62F0600}"/>
              </a:ext>
            </a:extLst>
          </p:cNvPr>
          <p:cNvSpPr txBox="1"/>
          <p:nvPr/>
        </p:nvSpPr>
        <p:spPr>
          <a:xfrm>
            <a:off x="4918950" y="5664444"/>
            <a:ext cx="3964376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顺序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无法支持随机写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523CF2-899E-4BE0-8881-D09B3CB2853B}"/>
              </a:ext>
            </a:extLst>
          </p:cNvPr>
          <p:cNvCxnSpPr>
            <a:cxnSpLocks/>
          </p:cNvCxnSpPr>
          <p:nvPr/>
        </p:nvCxnSpPr>
        <p:spPr>
          <a:xfrm>
            <a:off x="8994068" y="2606129"/>
            <a:ext cx="0" cy="250319"/>
          </a:xfrm>
          <a:prstGeom prst="straightConnector1">
            <a:avLst/>
          </a:prstGeom>
          <a:ln w="25400">
            <a:solidFill>
              <a:srgbClr val="264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AA20A90-8CA9-4A2A-A213-F2D54E37CA63}"/>
              </a:ext>
            </a:extLst>
          </p:cNvPr>
          <p:cNvSpPr txBox="1"/>
          <p:nvPr/>
        </p:nvSpPr>
        <p:spPr>
          <a:xfrm>
            <a:off x="8297517" y="2205458"/>
            <a:ext cx="117161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dm-zoned</a:t>
            </a:r>
          </a:p>
        </p:txBody>
      </p:sp>
    </p:spTree>
    <p:extLst>
      <p:ext uri="{BB962C8B-B14F-4D97-AF65-F5344CB8AC3E}">
        <p14:creationId xmlns:p14="http://schemas.microsoft.com/office/powerpoint/2010/main" val="30998116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23A5F3D-5712-4A14-84F1-CD6BDAB3ACC2}"/>
              </a:ext>
            </a:extLst>
          </p:cNvPr>
          <p:cNvSpPr/>
          <p:nvPr/>
        </p:nvSpPr>
        <p:spPr>
          <a:xfrm>
            <a:off x="1693532" y="90684"/>
            <a:ext cx="9685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2.4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关键观察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DF5A96F-87D4-431E-B44C-DCF9F6DD1755}"/>
              </a:ext>
            </a:extLst>
          </p:cNvPr>
          <p:cNvSpPr txBox="1"/>
          <p:nvPr/>
        </p:nvSpPr>
        <p:spPr>
          <a:xfrm>
            <a:off x="1824723" y="969644"/>
            <a:ext cx="9855905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）通用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的两级写放大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设备级写放大：通用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上采用大粒度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管理使得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写失配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介质级写放大：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内部垃圾回收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F03705-973F-4524-890C-989A7AC58B57}"/>
              </a:ext>
            </a:extLst>
          </p:cNvPr>
          <p:cNvSpPr txBox="1"/>
          <p:nvPr/>
        </p:nvSpPr>
        <p:spPr>
          <a:xfrm>
            <a:off x="1831207" y="2828427"/>
            <a:ext cx="9855905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ZNS QLC-SSD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的机遇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不采用大粒度页面，无设备级写放大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概念，冷热数据分类，应对介质级别写放大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27B55EBD-8E14-4792-9542-4008E8C98413}"/>
              </a:ext>
            </a:extLst>
          </p:cNvPr>
          <p:cNvSpPr/>
          <p:nvPr/>
        </p:nvSpPr>
        <p:spPr>
          <a:xfrm>
            <a:off x="6406439" y="1234021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9CEB22E-D570-4181-942A-147E4DA9DB01}"/>
              </a:ext>
            </a:extLst>
          </p:cNvPr>
          <p:cNvSpPr txBox="1"/>
          <p:nvPr/>
        </p:nvSpPr>
        <p:spPr>
          <a:xfrm>
            <a:off x="6985123" y="969644"/>
            <a:ext cx="5012318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Open-CAS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方案的观察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F2421E-D7FC-4B2B-9BAD-E96CEA0F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269" y="2367164"/>
            <a:ext cx="1365320" cy="15812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08FC67-D103-4B00-A2DD-E34115F97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463" y="2358852"/>
            <a:ext cx="1217744" cy="1569258"/>
          </a:xfrm>
          <a:prstGeom prst="rect">
            <a:avLst/>
          </a:prstGeom>
        </p:spPr>
      </p:pic>
      <p:sp>
        <p:nvSpPr>
          <p:cNvPr id="16" name="箭头: 右 15">
            <a:extLst>
              <a:ext uri="{FF2B5EF4-FFF2-40B4-BE49-F238E27FC236}">
                <a16:creationId xmlns:a16="http://schemas.microsoft.com/office/drawing/2014/main" id="{704B7325-7490-42F4-94AE-D174FD81723D}"/>
              </a:ext>
            </a:extLst>
          </p:cNvPr>
          <p:cNvSpPr/>
          <p:nvPr/>
        </p:nvSpPr>
        <p:spPr>
          <a:xfrm>
            <a:off x="9297527" y="3120587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17">
            <a:extLst>
              <a:ext uri="{FF2B5EF4-FFF2-40B4-BE49-F238E27FC236}">
                <a16:creationId xmlns:a16="http://schemas.microsoft.com/office/drawing/2014/main" id="{79A7C048-ACBD-48EF-B40D-BCF29E1706F8}"/>
              </a:ext>
            </a:extLst>
          </p:cNvPr>
          <p:cNvSpPr txBox="1"/>
          <p:nvPr/>
        </p:nvSpPr>
        <p:spPr>
          <a:xfrm>
            <a:off x="1831207" y="4770304"/>
            <a:ext cx="9855905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ZNS QLC-SSD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的随机写失效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随机写失效：顺序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内只支持顺序写入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849BDEFD-A72F-4F91-9F82-5F333668BA03}"/>
              </a:ext>
            </a:extLst>
          </p:cNvPr>
          <p:cNvSpPr/>
          <p:nvPr/>
        </p:nvSpPr>
        <p:spPr>
          <a:xfrm>
            <a:off x="6412923" y="5046232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文本框 24">
            <a:extLst>
              <a:ext uri="{FF2B5EF4-FFF2-40B4-BE49-F238E27FC236}">
                <a16:creationId xmlns:a16="http://schemas.microsoft.com/office/drawing/2014/main" id="{45D63039-6FF6-44C4-BA1F-C38F9D56331D}"/>
              </a:ext>
            </a:extLst>
          </p:cNvPr>
          <p:cNvSpPr txBox="1"/>
          <p:nvPr/>
        </p:nvSpPr>
        <p:spPr>
          <a:xfrm>
            <a:off x="7082399" y="4802778"/>
            <a:ext cx="4181086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dm-zoned ZNS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方案的观察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322125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>
            <a:extLst>
              <a:ext uri="{FF2B5EF4-FFF2-40B4-BE49-F238E27FC236}">
                <a16:creationId xmlns:a16="http://schemas.microsoft.com/office/drawing/2014/main" id="{613BA4F1-6183-41EE-B20E-8AB07F19A917}"/>
              </a:ext>
            </a:extLst>
          </p:cNvPr>
          <p:cNvSpPr txBox="1"/>
          <p:nvPr/>
        </p:nvSpPr>
        <p:spPr>
          <a:xfrm>
            <a:off x="5886253" y="4396496"/>
            <a:ext cx="5573564" cy="687827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71C8B31-B95F-4AA6-8029-977E61A55936}"/>
              </a:ext>
            </a:extLst>
          </p:cNvPr>
          <p:cNvSpPr txBox="1"/>
          <p:nvPr/>
        </p:nvSpPr>
        <p:spPr>
          <a:xfrm>
            <a:off x="5925788" y="2077379"/>
            <a:ext cx="5534029" cy="709376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F4AF59-5841-409E-AC77-2B0D5023947A}"/>
              </a:ext>
            </a:extLst>
          </p:cNvPr>
          <p:cNvSpPr txBox="1"/>
          <p:nvPr/>
        </p:nvSpPr>
        <p:spPr>
          <a:xfrm>
            <a:off x="2224684" y="4176321"/>
            <a:ext cx="2679143" cy="1217652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B55345-1EAF-46BE-8495-342BC1025E88}"/>
              </a:ext>
            </a:extLst>
          </p:cNvPr>
          <p:cNvSpPr txBox="1"/>
          <p:nvPr/>
        </p:nvSpPr>
        <p:spPr>
          <a:xfrm>
            <a:off x="2178821" y="1907871"/>
            <a:ext cx="2679143" cy="1217652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endParaRPr lang="zh-CN" altLang="en-US" dirty="0"/>
          </a:p>
        </p:txBody>
      </p:sp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3.1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设计概述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BC69EE-1AF2-4580-97E5-28299D53ED99}"/>
              </a:ext>
            </a:extLst>
          </p:cNvPr>
          <p:cNvSpPr txBox="1"/>
          <p:nvPr/>
        </p:nvSpPr>
        <p:spPr>
          <a:xfrm>
            <a:off x="2225100" y="1907871"/>
            <a:ext cx="2868925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设备写放大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随机写失效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6FF50A-BA7C-4A3D-B1DC-C308072FC0E7}"/>
              </a:ext>
            </a:extLst>
          </p:cNvPr>
          <p:cNvSpPr txBox="1"/>
          <p:nvPr/>
        </p:nvSpPr>
        <p:spPr>
          <a:xfrm>
            <a:off x="2241347" y="4139297"/>
            <a:ext cx="2679143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介质写放大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数据分离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FCBFAA9-4C75-41C2-81D6-467C1505FA27}"/>
              </a:ext>
            </a:extLst>
          </p:cNvPr>
          <p:cNvSpPr/>
          <p:nvPr/>
        </p:nvSpPr>
        <p:spPr>
          <a:xfrm>
            <a:off x="5179303" y="2418451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FFBE17C-1330-48FD-BF4D-1169768E43E2}"/>
              </a:ext>
            </a:extLst>
          </p:cNvPr>
          <p:cNvSpPr/>
          <p:nvPr/>
        </p:nvSpPr>
        <p:spPr>
          <a:xfrm>
            <a:off x="5156182" y="4676623"/>
            <a:ext cx="494378" cy="166328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2044FF-5B57-4CE6-BF6D-F582F10E9947}"/>
              </a:ext>
            </a:extLst>
          </p:cNvPr>
          <p:cNvSpPr txBox="1"/>
          <p:nvPr/>
        </p:nvSpPr>
        <p:spPr>
          <a:xfrm>
            <a:off x="5886253" y="2107823"/>
            <a:ext cx="607012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设计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两级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进行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细粒度页面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管理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CABDB8-1BAC-4F4A-925D-ECD05272A812}"/>
              </a:ext>
            </a:extLst>
          </p:cNvPr>
          <p:cNvSpPr txBox="1"/>
          <p:nvPr/>
        </p:nvSpPr>
        <p:spPr>
          <a:xfrm>
            <a:off x="5886254" y="4392782"/>
            <a:ext cx="607012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设计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缓冲数据的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日志化、分类和合并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48CDF5-CC58-4435-9EC9-7F88DDFDD4B8}"/>
              </a:ext>
            </a:extLst>
          </p:cNvPr>
          <p:cNvSpPr txBox="1"/>
          <p:nvPr/>
        </p:nvSpPr>
        <p:spPr>
          <a:xfrm>
            <a:off x="5258270" y="206324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F2C661D-0D28-4B22-8E3C-CE6BAA7AF329}"/>
              </a:ext>
            </a:extLst>
          </p:cNvPr>
          <p:cNvSpPr txBox="1"/>
          <p:nvPr/>
        </p:nvSpPr>
        <p:spPr>
          <a:xfrm>
            <a:off x="2286999" y="948228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现有观察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36BD94-E098-420E-AFCF-5266B1567D8C}"/>
              </a:ext>
            </a:extLst>
          </p:cNvPr>
          <p:cNvSpPr txBox="1"/>
          <p:nvPr/>
        </p:nvSpPr>
        <p:spPr>
          <a:xfrm>
            <a:off x="7691085" y="948228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核心设计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E5322B-8A5A-4333-A70A-323D7BE3051E}"/>
              </a:ext>
            </a:extLst>
          </p:cNvPr>
          <p:cNvSpPr/>
          <p:nvPr/>
        </p:nvSpPr>
        <p:spPr>
          <a:xfrm>
            <a:off x="5627202" y="3204391"/>
            <a:ext cx="5988727" cy="8258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C90828-C98C-4CCE-B9BA-A143F370EFA0}"/>
              </a:ext>
            </a:extLst>
          </p:cNvPr>
          <p:cNvSpPr txBox="1"/>
          <p:nvPr/>
        </p:nvSpPr>
        <p:spPr>
          <a:xfrm>
            <a:off x="6626180" y="3277398"/>
            <a:ext cx="5834497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 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的多级存储架构</a:t>
            </a:r>
          </a:p>
        </p:txBody>
      </p:sp>
      <p:sp>
        <p:nvSpPr>
          <p:cNvPr id="11" name="箭头: 上下 10">
            <a:extLst>
              <a:ext uri="{FF2B5EF4-FFF2-40B4-BE49-F238E27FC236}">
                <a16:creationId xmlns:a16="http://schemas.microsoft.com/office/drawing/2014/main" id="{A32F578F-2BF6-4C80-A691-DDAA23960F58}"/>
              </a:ext>
            </a:extLst>
          </p:cNvPr>
          <p:cNvSpPr/>
          <p:nvPr/>
        </p:nvSpPr>
        <p:spPr>
          <a:xfrm>
            <a:off x="8379160" y="2747518"/>
            <a:ext cx="313642" cy="4471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上下 22">
            <a:extLst>
              <a:ext uri="{FF2B5EF4-FFF2-40B4-BE49-F238E27FC236}">
                <a16:creationId xmlns:a16="http://schemas.microsoft.com/office/drawing/2014/main" id="{1AE96416-1D92-475D-A2AB-4B09F16C5770}"/>
              </a:ext>
            </a:extLst>
          </p:cNvPr>
          <p:cNvSpPr/>
          <p:nvPr/>
        </p:nvSpPr>
        <p:spPr>
          <a:xfrm>
            <a:off x="8446640" y="3943741"/>
            <a:ext cx="313642" cy="4471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47278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两级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L2P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表和细粒度页面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4B3ECF4-144D-4EBE-A3B7-7B6158904542}"/>
              </a:ext>
            </a:extLst>
          </p:cNvPr>
          <p:cNvSpPr txBox="1"/>
          <p:nvPr/>
        </p:nvSpPr>
        <p:spPr>
          <a:xfrm>
            <a:off x="2464126" y="4172308"/>
            <a:ext cx="9173749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细粒度页面管理，与操作系统页面对齐，减少设备级写放大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对齐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页面，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卸载，采用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两级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减少内存占用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两级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表（顶级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4MB +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第二级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16GB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D70355-4276-4DD6-885B-D74139668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332" y="1502477"/>
            <a:ext cx="5249338" cy="237554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FDD6235-6A05-404D-A7D8-534FAF492A88}"/>
              </a:ext>
            </a:extLst>
          </p:cNvPr>
          <p:cNvSpPr txBox="1"/>
          <p:nvPr/>
        </p:nvSpPr>
        <p:spPr>
          <a:xfrm>
            <a:off x="2357264" y="5912917"/>
            <a:ext cx="945860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L2P 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ogical-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to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hysical </a:t>
            </a:r>
            <a:r>
              <a:rPr lang="en-US" altLang="zh-CN" u="sng" dirty="0">
                <a:latin typeface="宋体" panose="02010600030101010101" pitchFamily="2" charset="-122"/>
                <a:ea typeface="宋体" panose="02010600030101010101" pitchFamily="2" charset="-122"/>
              </a:rPr>
              <a:t>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。用于记录逻辑地址到物理地址映射的管理结构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746115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3.2 CSAL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的三级存储架构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3C7BC3-73BC-42D5-9DC5-FBF32D7CC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578" y="1066751"/>
            <a:ext cx="4618641" cy="282850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5BEC0F9-FA50-416A-A809-5DC45DE6B8FC}"/>
              </a:ext>
            </a:extLst>
          </p:cNvPr>
          <p:cNvSpPr/>
          <p:nvPr/>
        </p:nvSpPr>
        <p:spPr>
          <a:xfrm>
            <a:off x="4203938" y="1020909"/>
            <a:ext cx="2248620" cy="1083935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形 17" descr="徽章 1 纯色填充">
            <a:extLst>
              <a:ext uri="{FF2B5EF4-FFF2-40B4-BE49-F238E27FC236}">
                <a16:creationId xmlns:a16="http://schemas.microsoft.com/office/drawing/2014/main" id="{81396255-4D2F-44C5-BFCC-7B3A30045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6620" y="1020910"/>
            <a:ext cx="440728" cy="44072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31AC4D9-1264-484D-A16C-A0F56FB6E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241" y="1066751"/>
            <a:ext cx="3778367" cy="274903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482FF18-6BB1-40D7-B459-80BF5578A7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9206" y="3927927"/>
            <a:ext cx="3610402" cy="2652086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CCB2485-5FC6-4381-BF69-7EC3FDB6FFD5}"/>
              </a:ext>
            </a:extLst>
          </p:cNvPr>
          <p:cNvSpPr/>
          <p:nvPr/>
        </p:nvSpPr>
        <p:spPr>
          <a:xfrm>
            <a:off x="7617119" y="1094623"/>
            <a:ext cx="3666224" cy="1777967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E28E7E7-294F-4AA2-B8D8-A317CA229F7B}"/>
              </a:ext>
            </a:extLst>
          </p:cNvPr>
          <p:cNvSpPr/>
          <p:nvPr/>
        </p:nvSpPr>
        <p:spPr>
          <a:xfrm>
            <a:off x="7647312" y="3853351"/>
            <a:ext cx="3610402" cy="2726662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4B3ECF4-144D-4EBE-A3B7-7B6158904542}"/>
              </a:ext>
            </a:extLst>
          </p:cNvPr>
          <p:cNvSpPr txBox="1"/>
          <p:nvPr/>
        </p:nvSpPr>
        <p:spPr>
          <a:xfrm>
            <a:off x="1861373" y="3979135"/>
            <a:ext cx="5841886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缓存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所有顶级表项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4MB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）和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部分二级表项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2GB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缓存全局必需的其他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元数据信息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（约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120MB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6A0AB32-C2AA-4594-A361-B2BEFCDA3BAE}"/>
              </a:ext>
            </a:extLst>
          </p:cNvPr>
          <p:cNvSpPr txBox="1"/>
          <p:nvPr/>
        </p:nvSpPr>
        <p:spPr>
          <a:xfrm>
            <a:off x="5840215" y="669009"/>
            <a:ext cx="104135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3GB 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0477339-0FA6-4723-80F5-C40BA63DCF3B}"/>
              </a:ext>
            </a:extLst>
          </p:cNvPr>
          <p:cNvSpPr txBox="1"/>
          <p:nvPr/>
        </p:nvSpPr>
        <p:spPr>
          <a:xfrm>
            <a:off x="1475205" y="763346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1.DRAM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389102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3.2 CSAL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的三级存储架构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3C7BC3-73BC-42D5-9DC5-FBF32D7CC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578" y="1066751"/>
            <a:ext cx="4618641" cy="28285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7F81787-BE2F-4927-9599-50F7E1EAB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193" y="1066751"/>
            <a:ext cx="3778367" cy="274903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9BA88CA-1600-4B60-B560-7E05529A0982}"/>
              </a:ext>
            </a:extLst>
          </p:cNvPr>
          <p:cNvSpPr/>
          <p:nvPr/>
        </p:nvSpPr>
        <p:spPr>
          <a:xfrm>
            <a:off x="8013940" y="2901270"/>
            <a:ext cx="3804249" cy="851221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4FBC01-091E-41F3-910D-40D0994F9C86}"/>
              </a:ext>
            </a:extLst>
          </p:cNvPr>
          <p:cNvSpPr/>
          <p:nvPr/>
        </p:nvSpPr>
        <p:spPr>
          <a:xfrm>
            <a:off x="8017730" y="3815782"/>
            <a:ext cx="3791829" cy="2421116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C4EF497-C191-431B-AEF7-8547A216E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193" y="3881868"/>
            <a:ext cx="3648974" cy="233275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0F267DF-45D0-4BCC-91DD-2B71399455BC}"/>
              </a:ext>
            </a:extLst>
          </p:cNvPr>
          <p:cNvSpPr/>
          <p:nvPr/>
        </p:nvSpPr>
        <p:spPr>
          <a:xfrm>
            <a:off x="1888497" y="2192648"/>
            <a:ext cx="4520928" cy="696622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形 16" descr="徽章 纯色填充">
            <a:extLst>
              <a:ext uri="{FF2B5EF4-FFF2-40B4-BE49-F238E27FC236}">
                <a16:creationId xmlns:a16="http://schemas.microsoft.com/office/drawing/2014/main" id="{86C9F693-C395-4C6F-87A0-BA5DA1708C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7043" y="1706775"/>
            <a:ext cx="458572" cy="45857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3128FE1-A9D0-4106-8DE0-9E1A00F72282}"/>
              </a:ext>
            </a:extLst>
          </p:cNvPr>
          <p:cNvSpPr txBox="1"/>
          <p:nvPr/>
        </p:nvSpPr>
        <p:spPr>
          <a:xfrm>
            <a:off x="5580400" y="1801356"/>
            <a:ext cx="139623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730GB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ACE54A-974F-470B-AA0D-94BC3DC27AFC}"/>
              </a:ext>
            </a:extLst>
          </p:cNvPr>
          <p:cNvSpPr txBox="1"/>
          <p:nvPr/>
        </p:nvSpPr>
        <p:spPr>
          <a:xfrm>
            <a:off x="1693532" y="3726611"/>
            <a:ext cx="6121295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全部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全局元数据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存储统一的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缓存（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Chunk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Chunk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设计：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大小和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方式均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保持对齐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1GB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，顺序写）；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提供共享的数据缓冲区，用于实现分类和整理。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2F10357-CE40-497B-8BE3-7FB1F26CFB87}"/>
              </a:ext>
            </a:extLst>
          </p:cNvPr>
          <p:cNvSpPr txBox="1"/>
          <p:nvPr/>
        </p:nvSpPr>
        <p:spPr>
          <a:xfrm>
            <a:off x="1469245" y="749462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2.HP-SSD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513497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3.2 CSAL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的三级存储架构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3C7BC3-73BC-42D5-9DC5-FBF32D7CC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578" y="1066751"/>
            <a:ext cx="4618641" cy="282850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0F267DF-45D0-4BCC-91DD-2B71399455BC}"/>
              </a:ext>
            </a:extLst>
          </p:cNvPr>
          <p:cNvSpPr/>
          <p:nvPr/>
        </p:nvSpPr>
        <p:spPr>
          <a:xfrm>
            <a:off x="1897125" y="3029989"/>
            <a:ext cx="4848732" cy="865268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形 15" descr="徽章 3 纯色填充">
            <a:extLst>
              <a:ext uri="{FF2B5EF4-FFF2-40B4-BE49-F238E27FC236}">
                <a16:creationId xmlns:a16="http://schemas.microsoft.com/office/drawing/2014/main" id="{8D8C6BE8-1D0D-4466-998F-1672DFD23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6745" y="2553338"/>
            <a:ext cx="476651" cy="47665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CA4A06F-C4A1-4F00-AE49-51841249C03B}"/>
              </a:ext>
            </a:extLst>
          </p:cNvPr>
          <p:cNvSpPr/>
          <p:nvPr/>
        </p:nvSpPr>
        <p:spPr>
          <a:xfrm>
            <a:off x="7987291" y="1496413"/>
            <a:ext cx="3791829" cy="2421116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DAC14BA-7A32-4E8C-AB05-217FD10030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632" y="1562499"/>
            <a:ext cx="3648974" cy="233275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FC4756C-47FD-45C3-A4AA-31BDD33B108D}"/>
              </a:ext>
            </a:extLst>
          </p:cNvPr>
          <p:cNvSpPr txBox="1"/>
          <p:nvPr/>
        </p:nvSpPr>
        <p:spPr>
          <a:xfrm>
            <a:off x="1544261" y="3548127"/>
            <a:ext cx="1725150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15.36TB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264B8C"/>
                </a:solidFill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211359-D635-4EBB-983C-90773CD78457}"/>
              </a:ext>
            </a:extLst>
          </p:cNvPr>
          <p:cNvSpPr txBox="1"/>
          <p:nvPr/>
        </p:nvSpPr>
        <p:spPr>
          <a:xfrm>
            <a:off x="2049578" y="4159345"/>
            <a:ext cx="9248662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 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全部用于数据区域，划分若干只能顺序写的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用于接收从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迁移、分类和合并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的数据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的布局和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Chunk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布局在磁盘上的布局一致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D5339AA-FDCE-4C83-A2CA-1B76AE0F7456}"/>
              </a:ext>
            </a:extLst>
          </p:cNvPr>
          <p:cNvSpPr txBox="1"/>
          <p:nvPr/>
        </p:nvSpPr>
        <p:spPr>
          <a:xfrm>
            <a:off x="1460619" y="735474"/>
            <a:ext cx="325803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3.ZNS QLC-SSD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095420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3.3 CSAL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的数据流设计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(1/2)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DBA6CE-49A0-4600-8D2F-4FC34207B56E}"/>
              </a:ext>
            </a:extLst>
          </p:cNvPr>
          <p:cNvSpPr txBox="1"/>
          <p:nvPr/>
        </p:nvSpPr>
        <p:spPr>
          <a:xfrm>
            <a:off x="1935072" y="826661"/>
            <a:ext cx="279132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2309A6-4EFD-42EB-921E-E578F909E6D1}"/>
              </a:ext>
            </a:extLst>
          </p:cNvPr>
          <p:cNvSpPr txBox="1"/>
          <p:nvPr/>
        </p:nvSpPr>
        <p:spPr>
          <a:xfrm>
            <a:off x="1935072" y="1489215"/>
            <a:ext cx="9529434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查询两级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根据页面物理地址，从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HP-SSD/ZNS 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读取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F9E9C1-2F1D-49F2-9C81-68665ECBD9FF}"/>
              </a:ext>
            </a:extLst>
          </p:cNvPr>
          <p:cNvSpPr txBox="1"/>
          <p:nvPr/>
        </p:nvSpPr>
        <p:spPr>
          <a:xfrm>
            <a:off x="4869418" y="1193431"/>
            <a:ext cx="4155079" cy="759843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r>
              <a:rPr lang="zh-CN" altLang="en-US" dirty="0"/>
              <a:t>最优</a:t>
            </a:r>
            <a:r>
              <a:rPr lang="en-US" altLang="zh-CN" dirty="0"/>
              <a:t>: DRAM + HP-SSD</a:t>
            </a:r>
          </a:p>
          <a:p>
            <a:r>
              <a:rPr lang="zh-CN" altLang="en-US" dirty="0"/>
              <a:t>最差</a:t>
            </a:r>
            <a:r>
              <a:rPr lang="en-US" altLang="zh-CN" dirty="0"/>
              <a:t>: DRAM + HP-SSD + QLC-SSD 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C33E9C-A228-46E9-901B-12F3CCF54A15}"/>
              </a:ext>
            </a:extLst>
          </p:cNvPr>
          <p:cNvSpPr txBox="1"/>
          <p:nvPr/>
        </p:nvSpPr>
        <p:spPr>
          <a:xfrm>
            <a:off x="1935072" y="2801859"/>
            <a:ext cx="340871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三种写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箭头: 左右 2">
            <a:extLst>
              <a:ext uri="{FF2B5EF4-FFF2-40B4-BE49-F238E27FC236}">
                <a16:creationId xmlns:a16="http://schemas.microsoft.com/office/drawing/2014/main" id="{BDC742A9-11DB-41D5-A735-F7E8698E225E}"/>
              </a:ext>
            </a:extLst>
          </p:cNvPr>
          <p:cNvSpPr/>
          <p:nvPr/>
        </p:nvSpPr>
        <p:spPr>
          <a:xfrm>
            <a:off x="4925223" y="3098531"/>
            <a:ext cx="553674" cy="21601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D72F0B-FA4A-468E-991D-A6AA47D87CD1}"/>
              </a:ext>
            </a:extLst>
          </p:cNvPr>
          <p:cNvSpPr txBox="1"/>
          <p:nvPr/>
        </p:nvSpPr>
        <p:spPr>
          <a:xfrm>
            <a:off x="5653822" y="2801859"/>
            <a:ext cx="340871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三级存储架构</a:t>
            </a:r>
            <a:endParaRPr lang="en-US" altLang="zh-CN" sz="28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4FBFA4-5A62-4A44-B348-8310107D7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992" y="3823709"/>
            <a:ext cx="4432528" cy="242582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AC6D750-B26D-4E30-9DD3-705750E0A748}"/>
              </a:ext>
            </a:extLst>
          </p:cNvPr>
          <p:cNvSpPr txBox="1"/>
          <p:nvPr/>
        </p:nvSpPr>
        <p:spPr>
          <a:xfrm>
            <a:off x="1935072" y="3385419"/>
            <a:ext cx="5817450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用户在线写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所有用户（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所有写入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（随机写或顺序写）都写到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（共享）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打上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标签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并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追加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到打开的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Chunk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的尾部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更新有关的</a:t>
            </a:r>
            <a:r>
              <a:rPr lang="en-US" altLang="zh-CN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表项</a:t>
            </a:r>
            <a:endParaRPr lang="en-US" altLang="zh-CN" sz="2400" b="1" u="sng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B6A25A-497A-49A8-A2A4-303A1F8EE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25" y="3494132"/>
            <a:ext cx="4705862" cy="32957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21D2216-663F-411A-978D-5E5026EFCA8D}"/>
              </a:ext>
            </a:extLst>
          </p:cNvPr>
          <p:cNvSpPr txBox="1"/>
          <p:nvPr/>
        </p:nvSpPr>
        <p:spPr>
          <a:xfrm>
            <a:off x="9254596" y="1323551"/>
            <a:ext cx="2352931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的读性能不是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瓶颈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263342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E13F57D-11A2-4B55-AC09-901A45E88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302" y="1826244"/>
            <a:ext cx="3833612" cy="21337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251AEC-4F4A-4EAF-B3AC-69940F107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178" y="1367885"/>
            <a:ext cx="4705862" cy="329577"/>
          </a:xfrm>
          <a:prstGeom prst="rect">
            <a:avLst/>
          </a:prstGeom>
        </p:spPr>
      </p:pic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3.3 CSAL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的数据流设计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(2/2)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C33E9C-A228-46E9-901B-12F3CCF54A15}"/>
              </a:ext>
            </a:extLst>
          </p:cNvPr>
          <p:cNvSpPr txBox="1"/>
          <p:nvPr/>
        </p:nvSpPr>
        <p:spPr>
          <a:xfrm>
            <a:off x="1935071" y="687109"/>
            <a:ext cx="340871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三种写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箭头: 左右 2">
            <a:extLst>
              <a:ext uri="{FF2B5EF4-FFF2-40B4-BE49-F238E27FC236}">
                <a16:creationId xmlns:a16="http://schemas.microsoft.com/office/drawing/2014/main" id="{BDC742A9-11DB-41D5-A735-F7E8698E225E}"/>
              </a:ext>
            </a:extLst>
          </p:cNvPr>
          <p:cNvSpPr/>
          <p:nvPr/>
        </p:nvSpPr>
        <p:spPr>
          <a:xfrm>
            <a:off x="4925222" y="983781"/>
            <a:ext cx="553674" cy="21601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D72F0B-FA4A-468E-991D-A6AA47D87CD1}"/>
              </a:ext>
            </a:extLst>
          </p:cNvPr>
          <p:cNvSpPr txBox="1"/>
          <p:nvPr/>
        </p:nvSpPr>
        <p:spPr>
          <a:xfrm>
            <a:off x="5653821" y="687109"/>
            <a:ext cx="340871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三级存储架构</a:t>
            </a:r>
            <a:endParaRPr lang="en-US" altLang="zh-CN" sz="28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C6D750-B26D-4E30-9DD3-705750E0A748}"/>
              </a:ext>
            </a:extLst>
          </p:cNvPr>
          <p:cNvSpPr txBox="1"/>
          <p:nvPr/>
        </p:nvSpPr>
        <p:spPr>
          <a:xfrm>
            <a:off x="1935071" y="1337290"/>
            <a:ext cx="5512441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数据合并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读取一个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Chunk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的有效块及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UID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UID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做分类和合并，达到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512KB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迁移追加到用户对应的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更新有关的</a:t>
            </a:r>
            <a:r>
              <a:rPr lang="en-US" altLang="zh-CN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表项</a:t>
            </a:r>
            <a:endParaRPr lang="en-US" altLang="zh-CN" sz="2400" b="1" u="sng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56C66DF-72C7-49CB-9AF9-70E4809CD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659" y="4088772"/>
            <a:ext cx="4502381" cy="227976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C5133E6-91A7-4CD2-9B1A-1ADBD6AD6410}"/>
              </a:ext>
            </a:extLst>
          </p:cNvPr>
          <p:cNvSpPr txBox="1"/>
          <p:nvPr/>
        </p:nvSpPr>
        <p:spPr>
          <a:xfrm>
            <a:off x="1935071" y="4088772"/>
            <a:ext cx="5512441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垃圾回收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与数据合并相隔离，开一个独立的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，避免数据混杂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更新有关的</a:t>
            </a:r>
            <a:r>
              <a:rPr lang="en-US" altLang="zh-CN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b="1" u="sng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表项</a:t>
            </a:r>
            <a:endParaRPr lang="en-US" altLang="zh-CN" sz="2400" b="1" u="sng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672854-BC81-49E1-87FB-2A69231186F8}"/>
              </a:ext>
            </a:extLst>
          </p:cNvPr>
          <p:cNvSpPr txBox="1"/>
          <p:nvPr/>
        </p:nvSpPr>
        <p:spPr>
          <a:xfrm>
            <a:off x="5297037" y="3591108"/>
            <a:ext cx="2160800" cy="1142048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r>
              <a:rPr lang="en-US" altLang="zh-CN" b="1" dirty="0">
                <a:solidFill>
                  <a:srgbClr val="264B8C"/>
                </a:solidFill>
              </a:rPr>
              <a:t>Challenge</a:t>
            </a:r>
          </a:p>
          <a:p>
            <a:endParaRPr lang="en-US" altLang="zh-CN" sz="800" b="1" dirty="0">
              <a:solidFill>
                <a:srgbClr val="264B8C"/>
              </a:solidFill>
            </a:endParaRPr>
          </a:p>
          <a:p>
            <a:r>
              <a:rPr lang="en-US" altLang="zh-CN" dirty="0"/>
              <a:t>L2P</a:t>
            </a:r>
            <a:r>
              <a:rPr lang="zh-CN" altLang="en-US" dirty="0"/>
              <a:t>表项的同时更新带来</a:t>
            </a:r>
            <a:r>
              <a:rPr lang="en-US" altLang="zh-CN" b="1" dirty="0">
                <a:solidFill>
                  <a:srgbClr val="264B8C"/>
                </a:solidFill>
              </a:rPr>
              <a:t>LBA</a:t>
            </a:r>
            <a:r>
              <a:rPr lang="zh-CN" altLang="en-US" b="1" dirty="0">
                <a:solidFill>
                  <a:srgbClr val="264B8C"/>
                </a:solidFill>
              </a:rPr>
              <a:t>冲突</a:t>
            </a:r>
            <a:r>
              <a:rPr lang="zh-CN" altLang="en-US" dirty="0"/>
              <a:t>！</a:t>
            </a:r>
          </a:p>
        </p:txBody>
      </p:sp>
      <p:pic>
        <p:nvPicPr>
          <p:cNvPr id="12" name="图形 11" descr="感叹号 纯色填充">
            <a:extLst>
              <a:ext uri="{FF2B5EF4-FFF2-40B4-BE49-F238E27FC236}">
                <a16:creationId xmlns:a16="http://schemas.microsoft.com/office/drawing/2014/main" id="{EBDE1FD2-3A5D-4516-B751-ACB27A034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2762" y="3326842"/>
            <a:ext cx="553278" cy="55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2322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CDB1E073-AF62-48D8-83EF-90297117A602}"/>
              </a:ext>
            </a:extLst>
          </p:cNvPr>
          <p:cNvSpPr txBox="1"/>
          <p:nvPr/>
        </p:nvSpPr>
        <p:spPr>
          <a:xfrm>
            <a:off x="8796338" y="2125436"/>
            <a:ext cx="2885644" cy="1113765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endParaRPr lang="zh-CN" altLang="en-US" dirty="0"/>
          </a:p>
        </p:txBody>
      </p:sp>
      <p:sp>
        <p:nvSpPr>
          <p:cNvPr id="2" name="关于我们">
            <a:extLst>
              <a:ext uri="{FF2B5EF4-FFF2-40B4-BE49-F238E27FC236}">
                <a16:creationId xmlns:a16="http://schemas.microsoft.com/office/drawing/2014/main" id="{2D827BB1-ADF8-1549-5C24-FEFA6BB1EBDA}"/>
              </a:ext>
            </a:extLst>
          </p:cNvPr>
          <p:cNvSpPr/>
          <p:nvPr/>
        </p:nvSpPr>
        <p:spPr>
          <a:xfrm>
            <a:off x="1693532" y="90684"/>
            <a:ext cx="6462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3.4 CSAL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的实现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C33E9C-A228-46E9-901B-12F3CCF54A15}"/>
              </a:ext>
            </a:extLst>
          </p:cNvPr>
          <p:cNvSpPr txBox="1"/>
          <p:nvPr/>
        </p:nvSpPr>
        <p:spPr>
          <a:xfrm>
            <a:off x="1793345" y="905999"/>
            <a:ext cx="454782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一致性和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LBA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4D453F-8C5E-4D59-BE3E-2C8352DB5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82" y="3306435"/>
            <a:ext cx="5951099" cy="346088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6558404-1DD0-450F-B5C1-443A03944F5C}"/>
              </a:ext>
            </a:extLst>
          </p:cNvPr>
          <p:cNvSpPr txBox="1"/>
          <p:nvPr/>
        </p:nvSpPr>
        <p:spPr>
          <a:xfrm>
            <a:off x="1793345" y="3306435"/>
            <a:ext cx="340871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实现细节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16248C1-53CB-4331-89D2-2B6E6055A539}"/>
              </a:ext>
            </a:extLst>
          </p:cNvPr>
          <p:cNvSpPr txBox="1"/>
          <p:nvPr/>
        </p:nvSpPr>
        <p:spPr>
          <a:xfrm>
            <a:off x="1693532" y="3925992"/>
            <a:ext cx="4061225" cy="224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SPDK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注册块设备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队列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Poller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用于在线写、合并和垃圾回收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08C13A-30AC-4D6F-8713-1FEFAA794361}"/>
              </a:ext>
            </a:extLst>
          </p:cNvPr>
          <p:cNvSpPr txBox="1"/>
          <p:nvPr/>
        </p:nvSpPr>
        <p:spPr>
          <a:xfrm>
            <a:off x="1693530" y="1568553"/>
            <a:ext cx="9787037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方法：遍历全盘重构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表，每个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Chunk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打开时</a:t>
            </a:r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记录</a:t>
            </a:r>
            <a:r>
              <a:rPr lang="en-US" altLang="zh-CN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SID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来解决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LBA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冲突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优化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：每个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Zone/Chunk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维护一个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P2L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表加速恢复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优化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：使用检查点加速恢复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DC88DB0-8BA7-4996-9EE2-7AEE0B36AD26}"/>
              </a:ext>
            </a:extLst>
          </p:cNvPr>
          <p:cNvSpPr txBox="1"/>
          <p:nvPr/>
        </p:nvSpPr>
        <p:spPr>
          <a:xfrm>
            <a:off x="8796338" y="2058202"/>
            <a:ext cx="3220072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服从最高的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SID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SID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相同服从最高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PPA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6B501AE-859F-48A4-A598-4E92C71E6DAD}"/>
              </a:ext>
            </a:extLst>
          </p:cNvPr>
          <p:cNvCxnSpPr>
            <a:cxnSpLocks/>
          </p:cNvCxnSpPr>
          <p:nvPr/>
        </p:nvCxnSpPr>
        <p:spPr>
          <a:xfrm>
            <a:off x="8994913" y="2058202"/>
            <a:ext cx="109330" cy="138346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3803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53DEC8CC-585F-4731-B472-B3C24C444A8D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4.1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测试环境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F3B928-5731-4C35-8E42-E073BC91D59E}"/>
              </a:ext>
            </a:extLst>
          </p:cNvPr>
          <p:cNvSpPr txBox="1"/>
          <p:nvPr/>
        </p:nvSpPr>
        <p:spPr>
          <a:xfrm>
            <a:off x="1825739" y="764974"/>
            <a:ext cx="340871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实验平台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9EF7D2-2411-4CE5-BFA6-223AB5D81E2A}"/>
              </a:ext>
            </a:extLst>
          </p:cNvPr>
          <p:cNvSpPr txBox="1"/>
          <p:nvPr/>
        </p:nvSpPr>
        <p:spPr>
          <a:xfrm>
            <a:off x="2127227" y="4144665"/>
            <a:ext cx="4144364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HDD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初步尝试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初步尝试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Open-CAS(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QLC-SSD+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写缓存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1364B1D-4824-422B-98AE-B87D38DA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512" y="1355270"/>
            <a:ext cx="6191568" cy="22162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0A81F93-34DD-45D1-A55F-F8D8C34727B7}"/>
              </a:ext>
            </a:extLst>
          </p:cNvPr>
          <p:cNvSpPr txBox="1"/>
          <p:nvPr/>
        </p:nvSpPr>
        <p:spPr>
          <a:xfrm>
            <a:off x="9286307" y="2309322"/>
            <a:ext cx="290569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SPDK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模拟出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53B5A3-04A1-4651-BE59-508FB74A6B63}"/>
              </a:ext>
            </a:extLst>
          </p:cNvPr>
          <p:cNvSpPr txBox="1"/>
          <p:nvPr/>
        </p:nvSpPr>
        <p:spPr>
          <a:xfrm>
            <a:off x="1845870" y="3526871"/>
            <a:ext cx="340871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对比对象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4602CF-742C-400C-8C1B-FBD5809FCBE1}"/>
              </a:ext>
            </a:extLst>
          </p:cNvPr>
          <p:cNvSpPr txBox="1"/>
          <p:nvPr/>
        </p:nvSpPr>
        <p:spPr>
          <a:xfrm>
            <a:off x="7080635" y="4251345"/>
            <a:ext cx="4778890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初步尝试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dm-zoned(ZNS QLC-SSD+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写缓存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本论文：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CSAL-BLK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CSAL-ZNS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CD9B25-379C-4DBB-8B8E-684A39100376}"/>
              </a:ext>
            </a:extLst>
          </p:cNvPr>
          <p:cNvSpPr txBox="1"/>
          <p:nvPr/>
        </p:nvSpPr>
        <p:spPr>
          <a:xfrm>
            <a:off x="2130854" y="2267784"/>
            <a:ext cx="290569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CSAL-BLK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3F74F49-9B2E-4268-9535-00A12485EB90}"/>
              </a:ext>
            </a:extLst>
          </p:cNvPr>
          <p:cNvSpPr txBox="1"/>
          <p:nvPr/>
        </p:nvSpPr>
        <p:spPr>
          <a:xfrm>
            <a:off x="2130854" y="2643853"/>
            <a:ext cx="290569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CSAL-ZNS</a:t>
            </a:r>
          </a:p>
        </p:txBody>
      </p:sp>
    </p:spTree>
    <p:extLst>
      <p:ext uri="{BB962C8B-B14F-4D97-AF65-F5344CB8AC3E}">
        <p14:creationId xmlns:p14="http://schemas.microsoft.com/office/powerpoint/2010/main" val="181220505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53DEC8CC-585F-4731-B472-B3C24C444A8D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裸设备性能测试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(1/2)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32680D-89C7-4C4F-BCD2-CBC6571C4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203" y="848429"/>
            <a:ext cx="6338269" cy="28810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E7906F-4A66-4538-9984-3F99EA900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67" y="3729460"/>
            <a:ext cx="6338269" cy="282433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2D84128-BF60-4002-A92D-E7E12EFE6B72}"/>
              </a:ext>
            </a:extLst>
          </p:cNvPr>
          <p:cNvSpPr txBox="1"/>
          <p:nvPr/>
        </p:nvSpPr>
        <p:spPr>
          <a:xfrm>
            <a:off x="1560443" y="726780"/>
            <a:ext cx="4204253" cy="286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均匀写入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随机写，</a:t>
            </a:r>
            <a:r>
              <a:rPr lang="en-US" altLang="zh-CN" sz="2400" dirty="0">
                <a:latin typeface="+mn-ea"/>
              </a:rPr>
              <a:t>CSAL</a:t>
            </a:r>
            <a:r>
              <a:rPr lang="zh-CN" altLang="en-US" sz="2400" dirty="0">
                <a:latin typeface="+mn-ea"/>
              </a:rPr>
              <a:t>相比</a:t>
            </a:r>
            <a:r>
              <a:rPr lang="en-US" altLang="zh-CN" sz="2400" dirty="0">
                <a:latin typeface="+mn-ea"/>
              </a:rPr>
              <a:t>Open-CAS</a:t>
            </a:r>
            <a:r>
              <a:rPr lang="zh-CN" altLang="en-US" sz="2400" dirty="0">
                <a:latin typeface="+mn-ea"/>
              </a:rPr>
              <a:t>带来</a:t>
            </a:r>
            <a:r>
              <a:rPr lang="en-US" altLang="zh-CN" sz="2400" dirty="0">
                <a:latin typeface="+mn-ea"/>
              </a:rPr>
              <a:t>8.28x</a:t>
            </a:r>
            <a:r>
              <a:rPr lang="zh-CN" altLang="en-US" sz="2400" dirty="0">
                <a:latin typeface="+mn-ea"/>
              </a:rPr>
              <a:t>的提升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顺序写，</a:t>
            </a:r>
            <a:r>
              <a:rPr lang="en-US" altLang="zh-CN" sz="2400" dirty="0">
                <a:latin typeface="+mn-ea"/>
              </a:rPr>
              <a:t>CSAL</a:t>
            </a:r>
            <a:r>
              <a:rPr lang="zh-CN" altLang="en-US" sz="2400" dirty="0">
                <a:latin typeface="+mn-ea"/>
              </a:rPr>
              <a:t>相比</a:t>
            </a:r>
            <a:r>
              <a:rPr lang="en-US" altLang="zh-CN" sz="2400" dirty="0">
                <a:latin typeface="+mn-ea"/>
              </a:rPr>
              <a:t>dm-zoned</a:t>
            </a:r>
            <a:r>
              <a:rPr lang="zh-CN" altLang="en-US" sz="2400" dirty="0">
                <a:latin typeface="+mn-ea"/>
              </a:rPr>
              <a:t>带来</a:t>
            </a:r>
            <a:r>
              <a:rPr lang="en-US" altLang="zh-CN" sz="2400" dirty="0">
                <a:latin typeface="+mn-ea"/>
              </a:rPr>
              <a:t>5.24x</a:t>
            </a:r>
            <a:r>
              <a:rPr lang="zh-CN" altLang="en-US" sz="2400" dirty="0">
                <a:latin typeface="+mn-ea"/>
              </a:rPr>
              <a:t>的提升（追平</a:t>
            </a:r>
            <a:r>
              <a:rPr lang="en-US" altLang="zh-CN" sz="2400" dirty="0">
                <a:latin typeface="+mn-ea"/>
              </a:rPr>
              <a:t>HDD</a:t>
            </a:r>
            <a:r>
              <a:rPr lang="zh-CN" altLang="en-US" sz="2400" dirty="0">
                <a:latin typeface="+mn-ea"/>
              </a:rPr>
              <a:t>）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0DFD82-224D-4948-B387-5E7922EF0C75}"/>
              </a:ext>
            </a:extLst>
          </p:cNvPr>
          <p:cNvSpPr/>
          <p:nvPr/>
        </p:nvSpPr>
        <p:spPr>
          <a:xfrm>
            <a:off x="9738801" y="848429"/>
            <a:ext cx="2029130" cy="483414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1D3BB6-0A24-45F3-A081-656DFB692435}"/>
              </a:ext>
            </a:extLst>
          </p:cNvPr>
          <p:cNvSpPr/>
          <p:nvPr/>
        </p:nvSpPr>
        <p:spPr>
          <a:xfrm>
            <a:off x="7605201" y="6011950"/>
            <a:ext cx="1191137" cy="541848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DB70CF-12A2-4BE8-B5F4-9623886F6953}"/>
              </a:ext>
            </a:extLst>
          </p:cNvPr>
          <p:cNvSpPr/>
          <p:nvPr/>
        </p:nvSpPr>
        <p:spPr>
          <a:xfrm>
            <a:off x="10616550" y="6005968"/>
            <a:ext cx="1191137" cy="541848"/>
          </a:xfrm>
          <a:prstGeom prst="rect">
            <a:avLst/>
          </a:prstGeom>
          <a:noFill/>
          <a:ln w="2540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666AEE-64BC-4161-9E6B-C497134EAD8E}"/>
              </a:ext>
            </a:extLst>
          </p:cNvPr>
          <p:cNvSpPr txBox="1"/>
          <p:nvPr/>
        </p:nvSpPr>
        <p:spPr>
          <a:xfrm>
            <a:off x="1693532" y="3767843"/>
            <a:ext cx="4204253" cy="1760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倾斜写入</a:t>
            </a:r>
            <a:r>
              <a:rPr lang="en-US" altLang="zh-CN" sz="28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4KB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64KB</a:t>
            </a:r>
            <a:r>
              <a:rPr lang="zh-CN" altLang="en-US" sz="2400" dirty="0">
                <a:latin typeface="+mn-ea"/>
              </a:rPr>
              <a:t>写入，</a:t>
            </a:r>
            <a:r>
              <a:rPr lang="en-US" altLang="zh-CN" sz="2400" dirty="0">
                <a:latin typeface="+mn-ea"/>
              </a:rPr>
              <a:t>CSAL</a:t>
            </a:r>
            <a:r>
              <a:rPr lang="zh-CN" altLang="en-US" sz="2400" dirty="0">
                <a:latin typeface="+mn-ea"/>
              </a:rPr>
              <a:t>均维持差距显著的最高带宽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780D29F-4DA8-49EA-A5D7-055CEE87E74D}"/>
              </a:ext>
            </a:extLst>
          </p:cNvPr>
          <p:cNvSpPr txBox="1"/>
          <p:nvPr/>
        </p:nvSpPr>
        <p:spPr>
          <a:xfrm>
            <a:off x="1855454" y="5527940"/>
            <a:ext cx="3613964" cy="885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dm-zoned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的随机性能太差（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10MB/s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），不做展示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6CDD647-6326-4290-A8A9-A0A8C9F8ADBD}"/>
              </a:ext>
            </a:extLst>
          </p:cNvPr>
          <p:cNvSpPr txBox="1"/>
          <p:nvPr/>
        </p:nvSpPr>
        <p:spPr>
          <a:xfrm>
            <a:off x="3896140" y="3716522"/>
            <a:ext cx="2802834" cy="547365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r>
              <a:rPr lang="zh-CN" altLang="en-US" sz="2400" dirty="0"/>
              <a:t>小</a:t>
            </a:r>
            <a:r>
              <a:rPr lang="en-US" altLang="zh-CN" sz="2400" dirty="0"/>
              <a:t>I/O</a:t>
            </a:r>
            <a:r>
              <a:rPr lang="zh-CN" altLang="en-US" sz="2400" dirty="0"/>
              <a:t>上优化最大化</a:t>
            </a:r>
          </a:p>
        </p:txBody>
      </p:sp>
    </p:spTree>
    <p:extLst>
      <p:ext uri="{BB962C8B-B14F-4D97-AF65-F5344CB8AC3E}">
        <p14:creationId xmlns:p14="http://schemas.microsoft.com/office/powerpoint/2010/main" val="403948614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0C965AC-8D00-4EBD-A1A6-BFA251388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623" y="992311"/>
            <a:ext cx="5422377" cy="2674048"/>
          </a:xfrm>
          <a:prstGeom prst="rect">
            <a:avLst/>
          </a:prstGeom>
        </p:spPr>
      </p:pic>
      <p:sp>
        <p:nvSpPr>
          <p:cNvPr id="2" name="关于我们">
            <a:extLst>
              <a:ext uri="{FF2B5EF4-FFF2-40B4-BE49-F238E27FC236}">
                <a16:creationId xmlns:a16="http://schemas.microsoft.com/office/drawing/2014/main" id="{53DEC8CC-585F-4731-B472-B3C24C444A8D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4.2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裸设备性能测试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(1/2)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D84128-BF60-4002-A92D-E7E12EFE6B72}"/>
              </a:ext>
            </a:extLst>
          </p:cNvPr>
          <p:cNvSpPr txBox="1"/>
          <p:nvPr/>
        </p:nvSpPr>
        <p:spPr>
          <a:xfrm>
            <a:off x="1693531" y="675459"/>
            <a:ext cx="4204253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均匀读取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倾斜读取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666AEE-64BC-4161-9E6B-C497134EAD8E}"/>
              </a:ext>
            </a:extLst>
          </p:cNvPr>
          <p:cNvSpPr txBox="1"/>
          <p:nvPr/>
        </p:nvSpPr>
        <p:spPr>
          <a:xfrm>
            <a:off x="1773615" y="4222241"/>
            <a:ext cx="4204253" cy="1760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随机读写混合</a:t>
            </a:r>
            <a:endParaRPr lang="en-US" altLang="zh-CN" sz="2800" b="1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CSAL</a:t>
            </a:r>
            <a:r>
              <a:rPr lang="zh-CN" altLang="en-US" sz="2400" dirty="0">
                <a:latin typeface="+mn-ea"/>
              </a:rPr>
              <a:t>均维持差距显著的最高读写带宽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CA66B0-8573-4B4E-955F-BE9BC2EDD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336" y="1260234"/>
            <a:ext cx="5247861" cy="25358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96848A-E6D6-4EA5-8E49-5252CEB68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63970"/>
            <a:ext cx="5567369" cy="267404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D0FAD10-4DD2-4CF7-B2FF-0A64DE25D388}"/>
              </a:ext>
            </a:extLst>
          </p:cNvPr>
          <p:cNvSpPr txBox="1"/>
          <p:nvPr/>
        </p:nvSpPr>
        <p:spPr>
          <a:xfrm>
            <a:off x="1723920" y="3604151"/>
            <a:ext cx="7396915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读取性能均保持最优，远超</a:t>
            </a:r>
            <a:r>
              <a:rPr lang="en-US" altLang="zh-CN" sz="2400" dirty="0">
                <a:latin typeface="+mn-ea"/>
              </a:rPr>
              <a:t>HDD</a:t>
            </a:r>
            <a:r>
              <a:rPr lang="zh-CN" altLang="en-US" sz="2400" dirty="0">
                <a:latin typeface="+mn-ea"/>
              </a:rPr>
              <a:t>，不是</a:t>
            </a:r>
            <a:r>
              <a:rPr lang="en-US" altLang="zh-CN" sz="2400" dirty="0">
                <a:latin typeface="+mn-ea"/>
              </a:rPr>
              <a:t>SLO</a:t>
            </a:r>
            <a:r>
              <a:rPr lang="zh-CN" altLang="en-US" sz="2400" dirty="0">
                <a:latin typeface="+mn-ea"/>
              </a:rPr>
              <a:t>性能瓶颈</a:t>
            </a: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781994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53DEC8CC-585F-4731-B472-B3C24C444A8D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4.3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写放大评估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666AEE-64BC-4161-9E6B-C497134EAD8E}"/>
              </a:ext>
            </a:extLst>
          </p:cNvPr>
          <p:cNvSpPr txBox="1"/>
          <p:nvPr/>
        </p:nvSpPr>
        <p:spPr>
          <a:xfrm>
            <a:off x="2841457" y="4277107"/>
            <a:ext cx="7435604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在</a:t>
            </a:r>
            <a:r>
              <a:rPr lang="en-US" altLang="zh-CN" sz="2400" dirty="0">
                <a:latin typeface="+mn-ea"/>
              </a:rPr>
              <a:t>4KB</a:t>
            </a:r>
            <a:r>
              <a:rPr lang="zh-CN" altLang="en-US" sz="2400" dirty="0">
                <a:latin typeface="+mn-ea"/>
              </a:rPr>
              <a:t>写入下，基于通用</a:t>
            </a:r>
            <a:r>
              <a:rPr lang="en-US" altLang="zh-CN" sz="2400" dirty="0">
                <a:latin typeface="+mn-ea"/>
              </a:rPr>
              <a:t>QLC-SSD</a:t>
            </a:r>
            <a:r>
              <a:rPr lang="zh-CN" altLang="en-US" sz="2400" dirty="0">
                <a:latin typeface="+mn-ea"/>
              </a:rPr>
              <a:t>的方案会面临严重写放大（</a:t>
            </a:r>
            <a:r>
              <a:rPr lang="en-US" altLang="zh-CN" sz="2400" dirty="0">
                <a:latin typeface="+mn-ea"/>
              </a:rPr>
              <a:t>64KB</a:t>
            </a:r>
            <a:r>
              <a:rPr lang="zh-CN" altLang="en-US" sz="2400" dirty="0">
                <a:latin typeface="+mn-ea"/>
              </a:rPr>
              <a:t>大粒度页面，两级写放大）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CSAL</a:t>
            </a:r>
            <a:r>
              <a:rPr lang="zh-CN" altLang="en-US" sz="2400" dirty="0">
                <a:latin typeface="+mn-ea"/>
              </a:rPr>
              <a:t>的写放大很低（采用</a:t>
            </a:r>
            <a:r>
              <a:rPr lang="en-US" altLang="zh-CN" sz="2400" dirty="0">
                <a:latin typeface="+mn-ea"/>
              </a:rPr>
              <a:t>ZNS</a:t>
            </a:r>
            <a:r>
              <a:rPr lang="zh-CN" altLang="en-US" sz="2400" dirty="0">
                <a:latin typeface="+mn-ea"/>
              </a:rPr>
              <a:t>方案）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在</a:t>
            </a:r>
            <a:r>
              <a:rPr lang="en-US" altLang="zh-CN" sz="2400" dirty="0">
                <a:latin typeface="+mn-ea"/>
              </a:rPr>
              <a:t>64KB</a:t>
            </a:r>
            <a:r>
              <a:rPr lang="zh-CN" altLang="en-US" sz="2400" dirty="0">
                <a:latin typeface="+mn-ea"/>
              </a:rPr>
              <a:t>写入下，差距并不明显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0545F7-36C7-440A-930C-8780CC46B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457" y="1267052"/>
            <a:ext cx="6509085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0411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53DEC8CC-585F-4731-B472-B3C24C444A8D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4.4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分解测试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C984F-E6A7-432C-859D-935E07CD7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532" y="815559"/>
            <a:ext cx="10084338" cy="24024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ED7763-D06B-4202-A8F3-3AE39A2CE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333" y="3551474"/>
            <a:ext cx="4599740" cy="20754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7DA34F-1CA1-4A59-A263-EDEEB61EC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3633" y="3551474"/>
            <a:ext cx="4704237" cy="217175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4DB710-765A-473D-98F2-4E2FD4E0B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272" y="5626967"/>
            <a:ext cx="4267361" cy="119153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B80292E-3254-4E25-9E52-73AF2EAC3B06}"/>
              </a:ext>
            </a:extLst>
          </p:cNvPr>
          <p:cNvSpPr txBox="1"/>
          <p:nvPr/>
        </p:nvSpPr>
        <p:spPr>
          <a:xfrm>
            <a:off x="4028172" y="1762161"/>
            <a:ext cx="815318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4KB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82B622-A7CC-4F4E-8585-451B9A92EE15}"/>
              </a:ext>
            </a:extLst>
          </p:cNvPr>
          <p:cNvSpPr txBox="1"/>
          <p:nvPr/>
        </p:nvSpPr>
        <p:spPr>
          <a:xfrm>
            <a:off x="9187092" y="1736907"/>
            <a:ext cx="815318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64KB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1B1ABF-F2E4-4DD8-8062-36E047B1611D}"/>
              </a:ext>
            </a:extLst>
          </p:cNvPr>
          <p:cNvSpPr txBox="1"/>
          <p:nvPr/>
        </p:nvSpPr>
        <p:spPr>
          <a:xfrm>
            <a:off x="5608440" y="626585"/>
            <a:ext cx="2466011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(1)GC/</a:t>
            </a:r>
            <a:r>
              <a:rPr lang="zh-CN" altLang="en-US" sz="2400" b="1" dirty="0">
                <a:latin typeface="+mn-ea"/>
              </a:rPr>
              <a:t>合并效率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43B13F-5022-4CB0-B3DC-516A24AF193F}"/>
              </a:ext>
            </a:extLst>
          </p:cNvPr>
          <p:cNvSpPr txBox="1"/>
          <p:nvPr/>
        </p:nvSpPr>
        <p:spPr>
          <a:xfrm>
            <a:off x="3046227" y="3057395"/>
            <a:ext cx="2466011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(2)</a:t>
            </a:r>
            <a:r>
              <a:rPr lang="zh-CN" altLang="en-US" sz="2400" b="1" dirty="0">
                <a:latin typeface="+mn-ea"/>
              </a:rPr>
              <a:t>隔离</a:t>
            </a:r>
            <a:r>
              <a:rPr lang="en-US" altLang="zh-CN" sz="2400" b="1" dirty="0">
                <a:latin typeface="+mn-ea"/>
              </a:rPr>
              <a:t>WAF</a:t>
            </a:r>
            <a:r>
              <a:rPr lang="zh-CN" altLang="en-US" sz="2400" b="1" dirty="0">
                <a:latin typeface="+mn-ea"/>
              </a:rPr>
              <a:t>优化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6F36DB-269B-4E67-80AF-1253EE77D590}"/>
              </a:ext>
            </a:extLst>
          </p:cNvPr>
          <p:cNvSpPr txBox="1"/>
          <p:nvPr/>
        </p:nvSpPr>
        <p:spPr>
          <a:xfrm>
            <a:off x="8543055" y="3094726"/>
            <a:ext cx="2466011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(3)L2P</a:t>
            </a:r>
            <a:r>
              <a:rPr lang="zh-CN" altLang="en-US" sz="2400" b="1" dirty="0">
                <a:latin typeface="+mn-ea"/>
              </a:rPr>
              <a:t>缓存测试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3C3749-126E-427F-835A-42EA22D59401}"/>
              </a:ext>
            </a:extLst>
          </p:cNvPr>
          <p:cNvSpPr txBox="1"/>
          <p:nvPr/>
        </p:nvSpPr>
        <p:spPr>
          <a:xfrm>
            <a:off x="7175618" y="5933662"/>
            <a:ext cx="3241440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(4)</a:t>
            </a:r>
            <a:r>
              <a:rPr lang="zh-CN" altLang="en-US" sz="2400" b="1" dirty="0">
                <a:latin typeface="+mn-ea"/>
              </a:rPr>
              <a:t>崩溃恢复测试</a:t>
            </a: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033513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53DEC8CC-585F-4731-B472-B3C24C444A8D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4.5 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真实负载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资源开销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D48EBF-E5EF-4888-9B12-14EB5A11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532" y="1472569"/>
            <a:ext cx="5234042" cy="210804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0A1F257-F311-42DC-9BC2-23344F06A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456" y="1500897"/>
            <a:ext cx="5158409" cy="210595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F47917A-735F-470D-91A5-C05F8153E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879" y="4029219"/>
            <a:ext cx="4915020" cy="226551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FA482F33-1552-4FBD-B3CC-D358E9E71CA3}"/>
              </a:ext>
            </a:extLst>
          </p:cNvPr>
          <p:cNvSpPr txBox="1"/>
          <p:nvPr/>
        </p:nvSpPr>
        <p:spPr>
          <a:xfrm>
            <a:off x="1769165" y="657336"/>
            <a:ext cx="4204253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真实负载</a:t>
            </a:r>
            <a:endParaRPr lang="en-US" altLang="zh-CN" sz="2800" b="1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F1D0B0-AA5E-4A73-9AC3-F4C962DD2F29}"/>
              </a:ext>
            </a:extLst>
          </p:cNvPr>
          <p:cNvSpPr txBox="1"/>
          <p:nvPr/>
        </p:nvSpPr>
        <p:spPr>
          <a:xfrm>
            <a:off x="7548250" y="3515478"/>
            <a:ext cx="3961264" cy="231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内存开销</a:t>
            </a:r>
            <a:r>
              <a:rPr lang="en-US" altLang="zh-CN" sz="28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CSAL</a:t>
            </a:r>
            <a:r>
              <a:rPr lang="zh-CN" altLang="en-US" sz="2400" dirty="0">
                <a:latin typeface="+mn-ea"/>
              </a:rPr>
              <a:t>：</a:t>
            </a:r>
            <a:r>
              <a:rPr lang="en-US" altLang="zh-CN" sz="2400" dirty="0">
                <a:latin typeface="+mn-ea"/>
              </a:rPr>
              <a:t>2.12GB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Open-CAS</a:t>
            </a:r>
            <a:r>
              <a:rPr lang="zh-CN" altLang="en-US" sz="2400" dirty="0">
                <a:latin typeface="+mn-ea"/>
              </a:rPr>
              <a:t>：</a:t>
            </a:r>
            <a:r>
              <a:rPr lang="en-US" altLang="zh-CN" sz="2400" dirty="0">
                <a:latin typeface="+mn-ea"/>
              </a:rPr>
              <a:t>1GB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dm-zoned</a:t>
            </a:r>
            <a:r>
              <a:rPr lang="zh-CN" altLang="en-US" sz="2400" dirty="0">
                <a:latin typeface="+mn-ea"/>
              </a:rPr>
              <a:t>：</a:t>
            </a:r>
            <a:r>
              <a:rPr lang="en-US" altLang="zh-CN" sz="2400" dirty="0">
                <a:latin typeface="+mn-ea"/>
              </a:rPr>
              <a:t>20MB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2E4486-7F45-4E0B-ACEF-CF2741A72530}"/>
              </a:ext>
            </a:extLst>
          </p:cNvPr>
          <p:cNvSpPr/>
          <p:nvPr/>
        </p:nvSpPr>
        <p:spPr>
          <a:xfrm>
            <a:off x="7436235" y="3541718"/>
            <a:ext cx="4431085" cy="2640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7B0940-8716-4C95-ABDA-0052C5E48B9E}"/>
              </a:ext>
            </a:extLst>
          </p:cNvPr>
          <p:cNvSpPr txBox="1"/>
          <p:nvPr/>
        </p:nvSpPr>
        <p:spPr>
          <a:xfrm>
            <a:off x="7436235" y="5739260"/>
            <a:ext cx="448197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设备内部会有内存（约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1G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A071C4-7FC2-4900-B5A3-B799D62B1A22}"/>
              </a:ext>
            </a:extLst>
          </p:cNvPr>
          <p:cNvSpPr txBox="1"/>
          <p:nvPr/>
        </p:nvSpPr>
        <p:spPr>
          <a:xfrm>
            <a:off x="3390041" y="1075119"/>
            <a:ext cx="2654079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(1)Aerospike DB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73BE12-1A68-4B69-B56D-AC8E4D665513}"/>
              </a:ext>
            </a:extLst>
          </p:cNvPr>
          <p:cNvSpPr txBox="1"/>
          <p:nvPr/>
        </p:nvSpPr>
        <p:spPr>
          <a:xfrm>
            <a:off x="8624083" y="1078531"/>
            <a:ext cx="2654079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(2)</a:t>
            </a:r>
            <a:r>
              <a:rPr lang="en-US" altLang="zh-CN" sz="2400" b="1" dirty="0" err="1">
                <a:latin typeface="+mn-ea"/>
              </a:rPr>
              <a:t>RocksDB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A0004D-6A4A-42A2-B526-42EE9479B8E5}"/>
              </a:ext>
            </a:extLst>
          </p:cNvPr>
          <p:cNvSpPr txBox="1"/>
          <p:nvPr/>
        </p:nvSpPr>
        <p:spPr>
          <a:xfrm>
            <a:off x="3570701" y="3538152"/>
            <a:ext cx="2654079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(3)</a:t>
            </a:r>
            <a:r>
              <a:rPr lang="zh-CN" altLang="en-US" sz="2400" b="1" dirty="0">
                <a:latin typeface="+mn-ea"/>
              </a:rPr>
              <a:t>实际生产环境</a:t>
            </a: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853372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EDFC3E38-B791-400B-AD83-E2ADFB9927EE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713185-A514-418F-AF54-BC3C9482ED85}"/>
              </a:ext>
            </a:extLst>
          </p:cNvPr>
          <p:cNvSpPr txBox="1"/>
          <p:nvPr/>
        </p:nvSpPr>
        <p:spPr>
          <a:xfrm>
            <a:off x="2002369" y="825602"/>
            <a:ext cx="9417691" cy="1206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存储资源的复用无法满足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，成为提升云服务提升部署密度的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瓶颈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7FC328-5356-4AEA-A12C-67AADE3C93FC}"/>
              </a:ext>
            </a:extLst>
          </p:cNvPr>
          <p:cNvSpPr txBox="1"/>
          <p:nvPr/>
        </p:nvSpPr>
        <p:spPr>
          <a:xfrm>
            <a:off x="2002369" y="1929035"/>
            <a:ext cx="9066998" cy="231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最理想替代方案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的初步尝试，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都无法满足预期的写入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方案的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两级写放大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（设备级和介质级）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方案的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随机写失效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7479D3-0EA5-4929-89DA-D16A889DC60F}"/>
              </a:ext>
            </a:extLst>
          </p:cNvPr>
          <p:cNvSpPr txBox="1"/>
          <p:nvPr/>
        </p:nvSpPr>
        <p:spPr>
          <a:xfrm>
            <a:off x="2002369" y="4140463"/>
            <a:ext cx="9203895" cy="231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本文方案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多级存储架构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卸载设备内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，应对设备级写放大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两级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L2P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进行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细粒度页面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管理，支持随机写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缓冲数据的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日志化、分类和整理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，减少介质级写放大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94603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EDFC3E38-B791-400B-AD83-E2ADFB9927EE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7FC328-5356-4AEA-A12C-67AADE3C93FC}"/>
              </a:ext>
            </a:extLst>
          </p:cNvPr>
          <p:cNvSpPr txBox="1"/>
          <p:nvPr/>
        </p:nvSpPr>
        <p:spPr>
          <a:xfrm>
            <a:off x="1846725" y="766250"/>
            <a:ext cx="9969139" cy="5638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本文优点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）写作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Attempts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Lesson Learned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的写作方式作为观察与动机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将纯粹的存储问题，套在宏大的云场景故事下，逻辑自洽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）工作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设备上的大页趋势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设备是很灵活的，打破固有思维，拓展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Host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管理的了解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面向文件抽象：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文件系统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。通常采用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log-structure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的方式管理所有文件，减少甚至避免全部随机写。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面向块设备抽象：拓展的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本地盘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。兼具随机写和顺序写。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2585A0-9C76-4B4B-BA5E-D7404D4178B4}"/>
              </a:ext>
            </a:extLst>
          </p:cNvPr>
          <p:cNvSpPr txBox="1"/>
          <p:nvPr/>
        </p:nvSpPr>
        <p:spPr>
          <a:xfrm>
            <a:off x="7084272" y="3512469"/>
            <a:ext cx="2818486" cy="726460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r>
              <a:rPr lang="en-US" altLang="zh-CN" dirty="0"/>
              <a:t>1.Zone</a:t>
            </a:r>
            <a:r>
              <a:rPr lang="zh-CN" altLang="en-US" dirty="0"/>
              <a:t>的划分</a:t>
            </a:r>
            <a:endParaRPr lang="en-US" altLang="zh-CN" dirty="0"/>
          </a:p>
          <a:p>
            <a:r>
              <a:rPr lang="en-US" altLang="zh-CN" dirty="0"/>
              <a:t>2.Zone</a:t>
            </a:r>
            <a:r>
              <a:rPr lang="zh-CN" altLang="en-US" dirty="0"/>
              <a:t>内物理块顺序追加</a:t>
            </a:r>
          </a:p>
        </p:txBody>
      </p:sp>
    </p:spTree>
    <p:extLst>
      <p:ext uri="{BB962C8B-B14F-4D97-AF65-F5344CB8AC3E}">
        <p14:creationId xmlns:p14="http://schemas.microsoft.com/office/powerpoint/2010/main" val="359981856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关于我们">
            <a:extLst>
              <a:ext uri="{FF2B5EF4-FFF2-40B4-BE49-F238E27FC236}">
                <a16:creationId xmlns:a16="http://schemas.microsoft.com/office/drawing/2014/main" id="{EDFC3E38-B791-400B-AD83-E2ADFB9927EE}"/>
              </a:ext>
            </a:extLst>
          </p:cNvPr>
          <p:cNvSpPr/>
          <p:nvPr/>
        </p:nvSpPr>
        <p:spPr>
          <a:xfrm>
            <a:off x="1693532" y="90684"/>
            <a:ext cx="7336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  <a:r>
              <a:rPr lang="en-US" altLang="zh-CN" sz="3200" b="1" spc="300" dirty="0">
                <a:solidFill>
                  <a:srgbClr val="264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(3/3)</a:t>
            </a:r>
            <a:endParaRPr lang="zh-CN" altLang="en-US" sz="3200" b="1" spc="300" dirty="0">
              <a:solidFill>
                <a:srgbClr val="264B8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7FC328-5356-4AEA-A12C-67AADE3C93FC}"/>
              </a:ext>
            </a:extLst>
          </p:cNvPr>
          <p:cNvSpPr txBox="1"/>
          <p:nvPr/>
        </p:nvSpPr>
        <p:spPr>
          <a:xfrm>
            <a:off x="1846725" y="675459"/>
            <a:ext cx="10202603" cy="397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本文不足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疑惑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本文的关键挑战，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LBA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冲突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并不挑战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；围绕其的诸多设计点是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很简单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且并非首创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的，如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SID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P2L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等。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本文创新点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信息零碎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不直接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，需要读者反复揣摩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是否应该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考虑成本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？多级存储架构引入了异构存储，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HP-SSD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。没有成本的对比个人觉得并不公平。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粒度的通用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QLC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现在的存算分离架构等和本文方案对比如何？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09293C-27AC-4D9A-9EEB-6A31E47CE736}"/>
              </a:ext>
            </a:extLst>
          </p:cNvPr>
          <p:cNvSpPr txBox="1"/>
          <p:nvPr/>
        </p:nvSpPr>
        <p:spPr>
          <a:xfrm>
            <a:off x="9964648" y="2085746"/>
            <a:ext cx="1826266" cy="1877318"/>
          </a:xfrm>
          <a:prstGeom prst="roundRect">
            <a:avLst>
              <a:gd name="adj" fmla="val 787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为什么细粒度？为什么用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？为什么采用两级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？为什么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HP-SSD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log-structure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dirty="0"/>
          </a:p>
        </p:txBody>
      </p:sp>
      <p:pic>
        <p:nvPicPr>
          <p:cNvPr id="5" name="图形 4" descr="问号 纯色填充">
            <a:extLst>
              <a:ext uri="{FF2B5EF4-FFF2-40B4-BE49-F238E27FC236}">
                <a16:creationId xmlns:a16="http://schemas.microsoft.com/office/drawing/2014/main" id="{530E7D76-7523-44A2-A66B-9BF73DB16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6994" y="1951211"/>
            <a:ext cx="435307" cy="4353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E935ADF-08FE-4946-AB7D-143C9149B8F3}"/>
              </a:ext>
            </a:extLst>
          </p:cNvPr>
          <p:cNvSpPr txBox="1"/>
          <p:nvPr/>
        </p:nvSpPr>
        <p:spPr>
          <a:xfrm>
            <a:off x="1846726" y="4649821"/>
            <a:ext cx="9819980" cy="1760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工作展望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代码已经纳入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SPDK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（开源）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现在的数据分类方案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VMs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，效果有限，探索其他</a:t>
            </a:r>
            <a:r>
              <a:rPr lang="zh-CN" altLang="en-US" sz="2400" b="1" dirty="0">
                <a:solidFill>
                  <a:srgbClr val="264B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数据分类方式</a:t>
            </a:r>
            <a:endParaRPr lang="en-US" altLang="zh-CN" sz="2400" b="1" dirty="0">
              <a:solidFill>
                <a:srgbClr val="264B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875D5FF-DD36-4E02-8E9D-EF5D02410CF2}"/>
              </a:ext>
            </a:extLst>
          </p:cNvPr>
          <p:cNvSpPr/>
          <p:nvPr/>
        </p:nvSpPr>
        <p:spPr>
          <a:xfrm>
            <a:off x="9463520" y="2629035"/>
            <a:ext cx="442762" cy="240632"/>
          </a:xfrm>
          <a:prstGeom prst="rightArrow">
            <a:avLst/>
          </a:prstGeom>
          <a:solidFill>
            <a:schemeClr val="accent1"/>
          </a:solidFill>
          <a:ln w="19050">
            <a:solidFill>
              <a:srgbClr val="264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0024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99EAAB-44F9-4F97-9F56-800302F6BA17}"/>
              </a:ext>
            </a:extLst>
          </p:cNvPr>
          <p:cNvSpPr/>
          <p:nvPr/>
        </p:nvSpPr>
        <p:spPr>
          <a:xfrm>
            <a:off x="0" y="3303918"/>
            <a:ext cx="12192000" cy="3554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F071F8-A151-48AC-B63A-AA2A8CAA84E8}"/>
              </a:ext>
            </a:extLst>
          </p:cNvPr>
          <p:cNvSpPr/>
          <p:nvPr/>
        </p:nvSpPr>
        <p:spPr>
          <a:xfrm>
            <a:off x="1515979" y="859868"/>
            <a:ext cx="9375808" cy="222963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algn="ctr">
              <a:defRPr/>
            </a:pPr>
            <a:r>
              <a:rPr lang="en-US" altLang="zh-CN" sz="4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CSAL: the Next-Gen Local Disks for the Cloud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Century Gothic" panose="020B0502020202020204" pitchFamily="34" charset="0"/>
              </a:rPr>
              <a:t> </a:t>
            </a:r>
            <a:endParaRPr lang="en-US" altLang="zh-CN" sz="4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  <a:p>
            <a:pPr algn="ctr"/>
            <a:r>
              <a:rPr lang="en-US" altLang="zh-CN" dirty="0" err="1"/>
              <a:t>Yanbo</a:t>
            </a:r>
            <a:r>
              <a:rPr lang="en-US" altLang="zh-CN" dirty="0"/>
              <a:t> Zhou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Erci</a:t>
            </a:r>
            <a:r>
              <a:rPr lang="en-US" altLang="zh-CN" dirty="0"/>
              <a:t> Xu</a:t>
            </a:r>
            <a:r>
              <a:rPr lang="en-US" altLang="zh-CN" baseline="30000" dirty="0"/>
              <a:t>∗1</a:t>
            </a:r>
            <a:r>
              <a:rPr lang="en-US" altLang="zh-CN" dirty="0"/>
              <a:t>, Li Zhang</a:t>
            </a:r>
            <a:r>
              <a:rPr lang="en-US" altLang="zh-CN" baseline="30000" dirty="0"/>
              <a:t>1</a:t>
            </a:r>
            <a:r>
              <a:rPr lang="en-US" altLang="zh-CN" dirty="0"/>
              <a:t>, Kapil Karkra</a:t>
            </a:r>
            <a:r>
              <a:rPr lang="en-US" altLang="zh-CN" baseline="30000" dirty="0"/>
              <a:t>2</a:t>
            </a:r>
            <a:r>
              <a:rPr lang="en-US" altLang="zh-CN" dirty="0"/>
              <a:t>, Mariusz Barczak</a:t>
            </a:r>
            <a:r>
              <a:rPr lang="en-US" altLang="zh-CN" baseline="30000" dirty="0"/>
              <a:t>2</a:t>
            </a:r>
            <a:r>
              <a:rPr lang="en-US" altLang="zh-CN" dirty="0"/>
              <a:t>, Wayne Gao</a:t>
            </a:r>
            <a:r>
              <a:rPr lang="en-US" altLang="zh-CN" baseline="30000" dirty="0"/>
              <a:t>2</a:t>
            </a:r>
            <a:r>
              <a:rPr lang="en-US" altLang="zh-CN" dirty="0"/>
              <a:t>, </a:t>
            </a:r>
          </a:p>
          <a:p>
            <a:pPr algn="ctr"/>
            <a:r>
              <a:rPr lang="en-US" altLang="zh-CN" dirty="0"/>
              <a:t>Wojciech Malikowski</a:t>
            </a:r>
            <a:r>
              <a:rPr lang="en-US" altLang="zh-CN" baseline="30000" dirty="0"/>
              <a:t>2</a:t>
            </a:r>
            <a:r>
              <a:rPr lang="en-US" altLang="zh-CN" dirty="0"/>
              <a:t>, Mateusz Kozlowski</a:t>
            </a:r>
            <a:r>
              <a:rPr lang="en-US" altLang="zh-CN" baseline="30000" dirty="0"/>
              <a:t>2</a:t>
            </a:r>
            <a:r>
              <a:rPr lang="en-US" altLang="zh-CN" dirty="0"/>
              <a:t>, </a:t>
            </a:r>
            <a:r>
              <a:rPr lang="en-US" altLang="zh-CN" dirty="0" err="1"/>
              <a:t>Łukasz</a:t>
            </a:r>
            <a:r>
              <a:rPr lang="en-US" altLang="zh-CN" dirty="0"/>
              <a:t> Łasek</a:t>
            </a:r>
            <a:r>
              <a:rPr lang="en-US" altLang="zh-CN" baseline="30000" dirty="0"/>
              <a:t>2</a:t>
            </a:r>
            <a:r>
              <a:rPr lang="en-US" altLang="zh-CN" dirty="0"/>
              <a:t>, </a:t>
            </a:r>
            <a:r>
              <a:rPr lang="en-US" altLang="zh-CN" dirty="0" err="1"/>
              <a:t>Ruiming</a:t>
            </a:r>
            <a:r>
              <a:rPr lang="en-US" altLang="zh-CN" dirty="0"/>
              <a:t> Lu</a:t>
            </a:r>
            <a:r>
              <a:rPr lang="en-US" altLang="zh-CN" baseline="30000" dirty="0"/>
              <a:t>1</a:t>
            </a:r>
            <a:r>
              <a:rPr lang="en-US" altLang="zh-CN" dirty="0"/>
              <a:t>, Feng Yang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</a:p>
          <a:p>
            <a:pPr algn="ctr"/>
            <a:r>
              <a:rPr lang="en-US" altLang="zh-CN" dirty="0" err="1"/>
              <a:t>Lilong</a:t>
            </a:r>
            <a:r>
              <a:rPr lang="en-US" altLang="zh-CN" dirty="0"/>
              <a:t> Huang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Xiaolu</a:t>
            </a:r>
            <a:r>
              <a:rPr lang="en-US" altLang="zh-CN" dirty="0"/>
              <a:t> Zhang</a:t>
            </a:r>
            <a:r>
              <a:rPr lang="en-US" altLang="zh-CN" baseline="30000" dirty="0"/>
              <a:t>1</a:t>
            </a:r>
            <a:r>
              <a:rPr lang="en-US" altLang="zh-CN" dirty="0"/>
              <a:t>, Keqiang Niu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Jiaji</a:t>
            </a:r>
            <a:r>
              <a:rPr lang="en-US" altLang="zh-CN" dirty="0"/>
              <a:t> Zhu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Jiesheng</a:t>
            </a:r>
            <a:r>
              <a:rPr lang="en-US" altLang="zh-CN" dirty="0"/>
              <a:t> Wu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</a:p>
          <a:p>
            <a:pPr algn="ctr"/>
            <a:endParaRPr lang="en-US" altLang="zh-CN" baseline="30000" dirty="0"/>
          </a:p>
          <a:p>
            <a:pPr algn="ctr"/>
            <a:r>
              <a:rPr lang="en-US" altLang="zh-CN" baseline="30000" dirty="0"/>
              <a:t>1</a:t>
            </a:r>
            <a:r>
              <a:rPr lang="en-US" altLang="zh-CN" dirty="0"/>
              <a:t>Alibaba Group; </a:t>
            </a:r>
            <a:r>
              <a:rPr lang="en-US" altLang="zh-CN" baseline="30000" dirty="0"/>
              <a:t>2</a:t>
            </a:r>
            <a:r>
              <a:rPr lang="en-US" altLang="zh-CN" dirty="0"/>
              <a:t>Solidigm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Century Gothic" panose="020B0502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2C70A9-9F89-4214-A032-30D737E21BAC}"/>
              </a:ext>
            </a:extLst>
          </p:cNvPr>
          <p:cNvSpPr txBox="1"/>
          <p:nvPr/>
        </p:nvSpPr>
        <p:spPr>
          <a:xfrm>
            <a:off x="-298383" y="114115"/>
            <a:ext cx="3628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i="0" dirty="0">
                <a:solidFill>
                  <a:srgbClr val="264B8C"/>
                </a:solidFill>
                <a:effectLst/>
                <a:latin typeface="OpenSans"/>
              </a:rPr>
              <a:t>EuroSys’24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D026F4-245F-4996-9CEC-47656E25448D}"/>
              </a:ext>
            </a:extLst>
          </p:cNvPr>
          <p:cNvSpPr/>
          <p:nvPr/>
        </p:nvSpPr>
        <p:spPr>
          <a:xfrm>
            <a:off x="4036686" y="4250532"/>
            <a:ext cx="4118627" cy="1177659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谢谢大家</a:t>
            </a:r>
            <a:endParaRPr lang="en-US" altLang="zh-CN" sz="28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请老师和同学批评指正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608009-C729-4BEE-9C99-7CFC62A1873A}"/>
              </a:ext>
            </a:extLst>
          </p:cNvPr>
          <p:cNvSpPr/>
          <p:nvPr/>
        </p:nvSpPr>
        <p:spPr>
          <a:xfrm>
            <a:off x="4903963" y="5772758"/>
            <a:ext cx="4118627" cy="1177659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论文汇报：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杨</a:t>
            </a:r>
            <a:r>
              <a:rPr lang="zh-CN" altLang="en-US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大荣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noProof="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  <a:sym typeface="Century Gothic" panose="020B0502020202020204" pitchFamily="34" charset="0"/>
              </a:rPr>
              <a:t>指导老师：夏文教授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sym typeface="Century Gothic" panose="020B0502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5DA847-1530-4D00-B636-FB4AA0F15D59}"/>
              </a:ext>
            </a:extLst>
          </p:cNvPr>
          <p:cNvSpPr txBox="1"/>
          <p:nvPr/>
        </p:nvSpPr>
        <p:spPr>
          <a:xfrm>
            <a:off x="3472855" y="3612827"/>
            <a:ext cx="5121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CSAL</a:t>
            </a:r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：下一代云本地盘</a:t>
            </a:r>
          </a:p>
        </p:txBody>
      </p:sp>
    </p:spTree>
    <p:extLst>
      <p:ext uri="{BB962C8B-B14F-4D97-AF65-F5344CB8AC3E}">
        <p14:creationId xmlns:p14="http://schemas.microsoft.com/office/powerpoint/2010/main" val="1343628981"/>
      </p:ext>
    </p:extLst>
  </p:cSld>
  <p:clrMapOvr>
    <a:masterClrMapping/>
  </p:clrMapOvr>
  <p:transition spd="slow" advClick="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bldLvl="0"/>
      <p:bldP spid="8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  <p:tag name="ISPRING_PRESENTATION_TITLE" val="论文答辩"/>
</p:tagLst>
</file>

<file path=ppt/theme/theme1.xml><?xml version="1.0" encoding="utf-8"?>
<a:theme xmlns:a="http://schemas.openxmlformats.org/drawingml/2006/main" name="Office 主题">
  <a:themeElements>
    <a:clrScheme name="自定义 32-蓝黄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264B8C"/>
      </a:accent1>
      <a:accent2>
        <a:srgbClr val="FFC000"/>
      </a:accent2>
      <a:accent3>
        <a:srgbClr val="739A28"/>
      </a:accent3>
      <a:accent4>
        <a:srgbClr val="37A76F"/>
      </a:accent4>
      <a:accent5>
        <a:srgbClr val="4EB3CF"/>
      </a:accent5>
      <a:accent6>
        <a:srgbClr val="51C3F9"/>
      </a:accent6>
      <a:hlink>
        <a:srgbClr val="08A5EF"/>
      </a:hlink>
      <a:folHlink>
        <a:srgbClr val="977B2D"/>
      </a:folHlink>
    </a:clrScheme>
    <a:fontScheme name="中文学术论文字体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25950</TotalTime>
  <Words>2703</Words>
  <Application>Microsoft Office PowerPoint</Application>
  <PresentationFormat>宽屏</PresentationFormat>
  <Paragraphs>347</Paragraphs>
  <Slides>36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9" baseType="lpstr">
      <vt:lpstr>Arial Unicode MS</vt:lpstr>
      <vt:lpstr>OpenSans</vt:lpstr>
      <vt:lpstr>宋体</vt:lpstr>
      <vt:lpstr>微软雅黑</vt:lpstr>
      <vt:lpstr>微软雅黑 Light</vt:lpstr>
      <vt:lpstr>等线</vt:lpstr>
      <vt:lpstr>黑体</vt:lpstr>
      <vt:lpstr>Arial</vt:lpstr>
      <vt:lpstr>Calibri</vt:lpstr>
      <vt:lpstr>Century Gothic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风云办公</Manager>
  <Company>上海剑姬网络科技有限公司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大荣 杨</cp:lastModifiedBy>
  <cp:revision>3699</cp:revision>
  <dcterms:created xsi:type="dcterms:W3CDTF">2014-06-18T03:33:50Z</dcterms:created>
  <dcterms:modified xsi:type="dcterms:W3CDTF">2024-09-08T12:33:26Z</dcterms:modified>
</cp:coreProperties>
</file>